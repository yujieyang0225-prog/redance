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d5613913b624e38" /><Relationship Type="http://schemas.openxmlformats.org/officeDocument/2006/relationships/extended-properties" Target="/docProps/app.xml" Id="Rb8119732bc3c4b21" /><Relationship Type="http://schemas.openxmlformats.org/officeDocument/2006/relationships/officeDocument" Target="/ppt/presentation.xml" Id="Rc0042c8c4b8947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5c1753c81ac4f28"/>
  </p:sldMasterIdLst>
  <p:notesMasterIdLst>
    <p:notesMasterId xmlns:r="http://schemas.openxmlformats.org/officeDocument/2006/relationships" r:id="Ra6d7ded725b8430a"/>
  </p:notesMasterIdLst>
  <p:sldIdLst>
    <p:sldId xmlns:r="http://schemas.openxmlformats.org/officeDocument/2006/relationships" id="256" r:id="R90fdfb4025264aa9"/>
    <p:sldId xmlns:r="http://schemas.openxmlformats.org/officeDocument/2006/relationships" id="257" r:id="R0d9277457b444478"/>
    <p:sldId xmlns:r="http://schemas.openxmlformats.org/officeDocument/2006/relationships" id="258" r:id="R0a77039300224c69"/>
    <p:sldId xmlns:r="http://schemas.openxmlformats.org/officeDocument/2006/relationships" id="259" r:id="R2f58969079f54185"/>
    <p:sldId xmlns:r="http://schemas.openxmlformats.org/officeDocument/2006/relationships" id="260" r:id="Raa44625fa8ce4338"/>
    <p:sldId xmlns:r="http://schemas.openxmlformats.org/officeDocument/2006/relationships" id="261" r:id="R5d5d0464e0bb45a5"/>
    <p:sldId xmlns:r="http://schemas.openxmlformats.org/officeDocument/2006/relationships" id="262" r:id="R6395622bbb1a4952"/>
    <p:sldId xmlns:r="http://schemas.openxmlformats.org/officeDocument/2006/relationships" id="263" r:id="Rd3b9648d5df540c3"/>
    <p:sldId xmlns:r="http://schemas.openxmlformats.org/officeDocument/2006/relationships" id="264" r:id="R7bbf0206fa904d8d"/>
    <p:sldId xmlns:r="http://schemas.openxmlformats.org/officeDocument/2006/relationships" id="265" r:id="R1e6bd1e9250747b1"/>
    <p:sldId xmlns:r="http://schemas.openxmlformats.org/officeDocument/2006/relationships" id="266" r:id="Rcf7516d4202441c2"/>
    <p:sldId xmlns:r="http://schemas.openxmlformats.org/officeDocument/2006/relationships" id="267" r:id="Rae016709fbaf4a1c"/>
    <p:sldId xmlns:r="http://schemas.openxmlformats.org/officeDocument/2006/relationships" id="268" r:id="R6d7c952dc1664b3e"/>
    <p:sldId xmlns:r="http://schemas.openxmlformats.org/officeDocument/2006/relationships" id="269" r:id="R80a89a61ef89431c"/>
    <p:sldId xmlns:r="http://schemas.openxmlformats.org/officeDocument/2006/relationships" id="270" r:id="R849ea868ad4f46ad"/>
    <p:sldId xmlns:r="http://schemas.openxmlformats.org/officeDocument/2006/relationships" id="271" r:id="R779e451a12c94c3a"/>
    <p:sldId xmlns:r="http://schemas.openxmlformats.org/officeDocument/2006/relationships" id="272" r:id="R92ee90230348455c"/>
    <p:sldId xmlns:r="http://schemas.openxmlformats.org/officeDocument/2006/relationships" id="273" r:id="R8334a944db15422b"/>
    <p:sldId xmlns:r="http://schemas.openxmlformats.org/officeDocument/2006/relationships" id="274" r:id="Rd75628ca88f34e05"/>
    <p:sldId xmlns:r="http://schemas.openxmlformats.org/officeDocument/2006/relationships" id="275" r:id="R1a4eeb64985c4c4a"/>
    <p:sldId xmlns:r="http://schemas.openxmlformats.org/officeDocument/2006/relationships" id="276" r:id="R115ce24778c241cf"/>
    <p:sldId xmlns:r="http://schemas.openxmlformats.org/officeDocument/2006/relationships" id="277" r:id="R7bbada647c1c44c8"/>
    <p:sldId xmlns:r="http://schemas.openxmlformats.org/officeDocument/2006/relationships" id="278" r:id="R84e2daec0f094f2f"/>
    <p:sldId xmlns:r="http://schemas.openxmlformats.org/officeDocument/2006/relationships" id="279" r:id="Re20b1ff1ac7f46fd"/>
    <p:sldId xmlns:r="http://schemas.openxmlformats.org/officeDocument/2006/relationships" id="280" r:id="R56864f35d2744acd"/>
    <p:sldId xmlns:r="http://schemas.openxmlformats.org/officeDocument/2006/relationships" id="281" r:id="Rdd1d33cd7a9c4111"/>
  </p:sldIdLst>
  <p:sldSz cx="9144000" cy="5143500"/>
  <p:notesSz cx="6858000" cy="9144000"/>
  <p:embeddedFontLst>
    <p:embeddedFont>
      <p:font typeface="Roboto"/>
      <p:regular xmlns:r="http://schemas.openxmlformats.org/officeDocument/2006/relationships" r:id="R681d9f9ec1664e09"/>
      <p:bold xmlns:r="http://schemas.openxmlformats.org/officeDocument/2006/relationships" r:id="R3132b2f6685e4f18"/>
      <p:italic xmlns:r="http://schemas.openxmlformats.org/officeDocument/2006/relationships" r:id="R52f41ed03be74cf5"/>
      <p:boldItalic xmlns:r="http://schemas.openxmlformats.org/officeDocument/2006/relationships" r:id="R2a8480d74fcf46d0"/>
    </p:embeddedFont>
    <p:embeddedFont>
      <p:font typeface="Merriweather"/>
      <p:regular xmlns:r="http://schemas.openxmlformats.org/officeDocument/2006/relationships" r:id="R80e2afb082134ce5"/>
      <p:bold xmlns:r="http://schemas.openxmlformats.org/officeDocument/2006/relationships" r:id="R71c096a3d44e4022"/>
      <p:italic xmlns:r="http://schemas.openxmlformats.org/officeDocument/2006/relationships" r:id="Rc34d047025994af6"/>
      <p:boldItalic xmlns:r="http://schemas.openxmlformats.org/officeDocument/2006/relationships" r:id="Raf5aa511158c4786"/>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855F0A35-0313-404A-8E25-D703610F22B9}">
  <a:tblStyle styleId="{855F0A35-0313-404A-8E25-D703610F22B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7d3b7d0674ac4981" /><Relationship Type="http://schemas.openxmlformats.org/officeDocument/2006/relationships/slideMaster" Target="/ppt/slideMasters/slideMaster1.xml" Id="R65c1753c81ac4f28" /><Relationship Type="http://schemas.openxmlformats.org/officeDocument/2006/relationships/notesMaster" Target="/ppt/notesMasters/notesMaster1.xml" Id="Ra6d7ded725b8430a" /><Relationship Type="http://schemas.openxmlformats.org/officeDocument/2006/relationships/presProps" Target="/ppt/presProps.xml" Id="R6001487bcd9b4468" /><Relationship Type="http://schemas.openxmlformats.org/officeDocument/2006/relationships/viewProps" Target="/ppt/viewProps.xml" Id="R64b7b4294ffe42d1" /><Relationship Type="http://schemas.openxmlformats.org/officeDocument/2006/relationships/tableStyles" Target="/ppt/tableStyles.xml" Id="Rc4b70fdba371445e" /><Relationship Type="http://schemas.openxmlformats.org/officeDocument/2006/relationships/font" Target="/ppt/fonts/font.dat" Id="R681d9f9ec1664e09" /><Relationship Type="http://schemas.openxmlformats.org/officeDocument/2006/relationships/font" Target="/ppt/fonts/font2.dat" Id="R3132b2f6685e4f18" /><Relationship Type="http://schemas.openxmlformats.org/officeDocument/2006/relationships/font" Target="/ppt/fonts/font3.dat" Id="R52f41ed03be74cf5" /><Relationship Type="http://schemas.openxmlformats.org/officeDocument/2006/relationships/font" Target="/ppt/fonts/font4.dat" Id="R2a8480d74fcf46d0" /><Relationship Type="http://schemas.openxmlformats.org/officeDocument/2006/relationships/font" Target="/ppt/fonts/font5.dat" Id="R80e2afb082134ce5" /><Relationship Type="http://schemas.openxmlformats.org/officeDocument/2006/relationships/font" Target="/ppt/fonts/font6.dat" Id="R71c096a3d44e4022" /><Relationship Type="http://schemas.openxmlformats.org/officeDocument/2006/relationships/font" Target="/ppt/fonts/font7.dat" Id="Rc34d047025994af6" /><Relationship Type="http://schemas.openxmlformats.org/officeDocument/2006/relationships/font" Target="/ppt/fonts/font8.dat" Id="Raf5aa511158c4786" /><Relationship Type="http://schemas.openxmlformats.org/officeDocument/2006/relationships/slide" Target="/ppt/slides/slide1.xml" Id="R90fdfb4025264aa9" /><Relationship Type="http://schemas.openxmlformats.org/officeDocument/2006/relationships/slide" Target="/ppt/slides/slide2.xml" Id="R0d9277457b444478" /><Relationship Type="http://schemas.openxmlformats.org/officeDocument/2006/relationships/slide" Target="/ppt/slides/slide3.xml" Id="R0a77039300224c69" /><Relationship Type="http://schemas.openxmlformats.org/officeDocument/2006/relationships/slide" Target="/ppt/slides/slide4.xml" Id="R2f58969079f54185" /><Relationship Type="http://schemas.openxmlformats.org/officeDocument/2006/relationships/slide" Target="/ppt/slides/slide5.xml" Id="Raa44625fa8ce4338" /><Relationship Type="http://schemas.openxmlformats.org/officeDocument/2006/relationships/slide" Target="/ppt/slides/slide6.xml" Id="R5d5d0464e0bb45a5" /><Relationship Type="http://schemas.openxmlformats.org/officeDocument/2006/relationships/slide" Target="/ppt/slides/slide7.xml" Id="R6395622bbb1a4952" /><Relationship Type="http://schemas.openxmlformats.org/officeDocument/2006/relationships/slide" Target="/ppt/slides/slide8.xml" Id="Rd3b9648d5df540c3" /><Relationship Type="http://schemas.openxmlformats.org/officeDocument/2006/relationships/slide" Target="/ppt/slides/slide9.xml" Id="R7bbf0206fa904d8d" /><Relationship Type="http://schemas.openxmlformats.org/officeDocument/2006/relationships/slide" Target="/ppt/slides/slide10.xml" Id="R1e6bd1e9250747b1" /><Relationship Type="http://schemas.openxmlformats.org/officeDocument/2006/relationships/slide" Target="/ppt/slides/slide11.xml" Id="Rcf7516d4202441c2" /><Relationship Type="http://schemas.openxmlformats.org/officeDocument/2006/relationships/slide" Target="/ppt/slides/slide12.xml" Id="Rae016709fbaf4a1c" /><Relationship Type="http://schemas.openxmlformats.org/officeDocument/2006/relationships/slide" Target="/ppt/slides/slide13.xml" Id="R6d7c952dc1664b3e" /><Relationship Type="http://schemas.openxmlformats.org/officeDocument/2006/relationships/slide" Target="/ppt/slides/slide14.xml" Id="R80a89a61ef89431c" /><Relationship Type="http://schemas.openxmlformats.org/officeDocument/2006/relationships/slide" Target="/ppt/slides/slide15.xml" Id="R849ea868ad4f46ad" /><Relationship Type="http://schemas.openxmlformats.org/officeDocument/2006/relationships/slide" Target="/ppt/slides/slide16.xml" Id="R779e451a12c94c3a" /><Relationship Type="http://schemas.openxmlformats.org/officeDocument/2006/relationships/slide" Target="/ppt/slides/slide17.xml" Id="R92ee90230348455c" /><Relationship Type="http://schemas.openxmlformats.org/officeDocument/2006/relationships/slide" Target="/ppt/slides/slide18.xml" Id="R8334a944db15422b" /><Relationship Type="http://schemas.openxmlformats.org/officeDocument/2006/relationships/slide" Target="/ppt/slides/slide19.xml" Id="Rd75628ca88f34e05" /><Relationship Type="http://schemas.openxmlformats.org/officeDocument/2006/relationships/slide" Target="/ppt/slides/slide20.xml" Id="R1a4eeb64985c4c4a" /><Relationship Type="http://schemas.openxmlformats.org/officeDocument/2006/relationships/slide" Target="/ppt/slides/slide21.xml" Id="R115ce24778c241cf" /><Relationship Type="http://schemas.openxmlformats.org/officeDocument/2006/relationships/slide" Target="/ppt/slides/slide22.xml" Id="R7bbada647c1c44c8" /><Relationship Type="http://schemas.openxmlformats.org/officeDocument/2006/relationships/slide" Target="/ppt/slides/slide23.xml" Id="R84e2daec0f094f2f" /><Relationship Type="http://schemas.openxmlformats.org/officeDocument/2006/relationships/slide" Target="/ppt/slides/slide24.xml" Id="Re20b1ff1ac7f46fd" /><Relationship Type="http://schemas.openxmlformats.org/officeDocument/2006/relationships/slide" Target="/ppt/slides/slide25.xml" Id="R56864f35d2744acd" /><Relationship Type="http://schemas.openxmlformats.org/officeDocument/2006/relationships/slide" Target="/ppt/slides/slide26.xml" Id="Rdd1d33cd7a9c41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fb04621e1742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dig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3fb47b15724076" /><Relationship Type="http://schemas.openxmlformats.org/officeDocument/2006/relationships/notesMaster" Target="/ppt/notesMasters/notesMaster1.xml" Id="R340643db57e442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e86200648e4bb5" /><Relationship Type="http://schemas.openxmlformats.org/officeDocument/2006/relationships/notesMaster" Target="/ppt/notesMasters/notesMaster1.xml" Id="R0be4fa8b819448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c33e1e3ca846e3" /><Relationship Type="http://schemas.openxmlformats.org/officeDocument/2006/relationships/notesMaster" Target="/ppt/notesMasters/notesMaster1.xml" Id="R61c5f6448c1a44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86178b515c47bb" /><Relationship Type="http://schemas.openxmlformats.org/officeDocument/2006/relationships/notesMaster" Target="/ppt/notesMasters/notesMaster1.xml" Id="R8d83964ac9ad41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9c87cad9744a96" /><Relationship Type="http://schemas.openxmlformats.org/officeDocument/2006/relationships/notesMaster" Target="/ppt/notesMasters/notesMaster1.xml" Id="R8a6f6fb438cb4d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3101ca74114274" /><Relationship Type="http://schemas.openxmlformats.org/officeDocument/2006/relationships/notesMaster" Target="/ppt/notesMasters/notesMaster1.xml" Id="Rfdf1140ebeae4d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f1138c7bd94d51" /><Relationship Type="http://schemas.openxmlformats.org/officeDocument/2006/relationships/notesMaster" Target="/ppt/notesMasters/notesMaster1.xml" Id="R8af7619ab49e4f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5ee9c8080d41eb" /><Relationship Type="http://schemas.openxmlformats.org/officeDocument/2006/relationships/notesMaster" Target="/ppt/notesMasters/notesMaster1.xml" Id="R0d7bde45f1f54c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0ce6cf408f43b2" /><Relationship Type="http://schemas.openxmlformats.org/officeDocument/2006/relationships/notesMaster" Target="/ppt/notesMasters/notesMaster1.xml" Id="R81e06ddfb8bc4e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6092cac6fe4064" /><Relationship Type="http://schemas.openxmlformats.org/officeDocument/2006/relationships/notesMaster" Target="/ppt/notesMasters/notesMaster1.xml" Id="R97a900604c6c44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fa9db408934c9f" /><Relationship Type="http://schemas.openxmlformats.org/officeDocument/2006/relationships/notesMaster" Target="/ppt/notesMasters/notesMaster1.xml" Id="R766af02be33943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24d540669945dc" /><Relationship Type="http://schemas.openxmlformats.org/officeDocument/2006/relationships/notesMaster" Target="/ppt/notesMasters/notesMaster1.xml" Id="Rd876b865d65d49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6396b500744b7c" /><Relationship Type="http://schemas.openxmlformats.org/officeDocument/2006/relationships/notesMaster" Target="/ppt/notesMasters/notesMaster1.xml" Id="Re6185ffd82d545e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2092b8963d4d84" /><Relationship Type="http://schemas.openxmlformats.org/officeDocument/2006/relationships/notesMaster" Target="/ppt/notesMasters/notesMaster1.xml" Id="Rf8b0d64df5ca41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d9c987ad2fc4dd0" /><Relationship Type="http://schemas.openxmlformats.org/officeDocument/2006/relationships/notesMaster" Target="/ppt/notesMasters/notesMaster1.xml" Id="R15264729c9d040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cbf1a4494f74db0" /><Relationship Type="http://schemas.openxmlformats.org/officeDocument/2006/relationships/notesMaster" Target="/ppt/notesMasters/notesMaster1.xml" Id="R0c28c1b39ad54f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c3843c4401b43d9" /><Relationship Type="http://schemas.openxmlformats.org/officeDocument/2006/relationships/notesMaster" Target="/ppt/notesMasters/notesMaster1.xml" Id="R7c44e487a2ce4e9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532ab5843f42a0" /><Relationship Type="http://schemas.openxmlformats.org/officeDocument/2006/relationships/notesMaster" Target="/ppt/notesMasters/notesMaster1.xml" Id="R2bbc6e6a5c514e9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8fcc84edcc4ea9" /><Relationship Type="http://schemas.openxmlformats.org/officeDocument/2006/relationships/notesMaster" Target="/ppt/notesMasters/notesMaster1.xml" Id="R60afd17f58fa42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64e9caa32d448a1" /><Relationship Type="http://schemas.openxmlformats.org/officeDocument/2006/relationships/notesMaster" Target="/ppt/notesMasters/notesMaster1.xml" Id="R2c82a1776dcb4e3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cd26997885745b2" /><Relationship Type="http://schemas.openxmlformats.org/officeDocument/2006/relationships/notesMaster" Target="/ppt/notesMasters/notesMaster1.xml" Id="Rdee8bd5fc478419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6384b1bda524195" /><Relationship Type="http://schemas.openxmlformats.org/officeDocument/2006/relationships/notesMaster" Target="/ppt/notesMasters/notesMaster1.xml" Id="Rc87df78a243e4d3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9a3811dddad48ee" /><Relationship Type="http://schemas.openxmlformats.org/officeDocument/2006/relationships/notesMaster" Target="/ppt/notesMasters/notesMaster1.xml" Id="Rb721206cf4a74a4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bc365a15cc046f4" /><Relationship Type="http://schemas.openxmlformats.org/officeDocument/2006/relationships/notesMaster" Target="/ppt/notesMasters/notesMaster1.xml" Id="Rf4d59d1bcb22489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96cb6e99e354491" /><Relationship Type="http://schemas.openxmlformats.org/officeDocument/2006/relationships/notesMaster" Target="/ppt/notesMasters/notesMaster1.xml" Id="R5461242ff7b74f6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6ff2b913c224d1f" /><Relationship Type="http://schemas.openxmlformats.org/officeDocument/2006/relationships/notesMaster" Target="/ppt/notesMasters/notesMaster1.xml" Id="R193c0e411c3846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0"/>
              </a:spcBef>
              <a:spcAft>
                <a:spcPts val="0"/>
              </a:spcAft>
              <a:buClr>
                <a:schemeClr val="dk1"/>
              </a:buClr>
              <a:buSzPts val="1100"/>
              <a:buFont typeface="Arial"/>
              <a:buNone/>
            </a:pPr>
            <a:r>
              <a:rPr sz="1300" b="1">
                <a:solidFill>
                  <a:schemeClr val="dk1"/>
                </a:solidFill>
              </a:rPr>
              <a:t>1. Pelvic and Hip Shifting (The Most Common Cheat)</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The subject slides one knee forward or lifts one hip off the seat, rotating the pelvis in the transverse plane.</a:t>
            </a:r>
          </a:p>
          <a:p xmlns:a="http://schemas.openxmlformats.org/drawingml/2006/main">
            <a:pPr marL="0" indent="0" algn="l">
              <a:lnSpc>
                <a:spcPct val="115000"/>
              </a:lnSpc>
              <a:spcBef>
                <a:spcPts val="1200"/>
              </a:spcBef>
              <a:spcAft>
                <a:spcPts val="0"/>
              </a:spcAft>
              <a:buClr>
                <a:schemeClr val="dk1"/>
              </a:buClr>
              <a:buSzPts val="1100"/>
              <a:buFont typeface="Arial"/>
              <a:buNone/>
            </a:pPr>
            <a:r>
              <a:rPr sz="1300" b="1">
                <a:solidFill>
                  <a:schemeClr val="dk1"/>
                </a:solidFill>
              </a:rPr>
              <a:t>2. Shoulder Protraction and Retraction ("Girdle Cheating")</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If the bar across the shoulders is not locked down, or if arms are extended, the subject will reach forward with the contralateral shoulder (protraction) and pull back with the ipsilateral shoulder (retraction).</a:t>
            </a:r>
          </a:p>
          <a:p xmlns:a="http://schemas.openxmlformats.org/drawingml/2006/main">
            <a:pPr marL="457200" indent="-298450" algn="l">
              <a:lnSpc>
                <a:spcPct val="115000"/>
              </a:lnSpc>
              <a:spcBef>
                <a:spcPts val="0"/>
              </a:spcBef>
              <a:spcAft>
                <a:spcPts val="0"/>
              </a:spcAft>
              <a:buClr>
                <a:schemeClr val="dk1"/>
              </a:buClr>
              <a:buSzPts val="1100"/>
              <a:buChar char="●"/>
            </a:pPr>
            <a:r>
              <a:rPr b="1">
                <a:solidFill>
                  <a:schemeClr val="dk1"/>
                </a:solidFill>
              </a:rPr>
              <a:t>Detection:</a:t>
            </a:r>
            <a:r>
              <a:rPr>
                <a:solidFill>
                  <a:schemeClr val="dk1"/>
                </a:solidFill>
              </a:rPr>
              <a:t> The thoracic spine remains static, while the shoulder girdle moves independently. This is caught by tracking the T1 sensor relative to the acromion markers.</a:t>
            </a:r>
          </a:p>
          <a:p xmlns:a="http://schemas.openxmlformats.org/drawingml/2006/main">
            <a:pPr marL="0" indent="0" algn="l">
              <a:lnSpc>
                <a:spcPct val="115000"/>
              </a:lnSpc>
              <a:spcBef>
                <a:spcPts val="1200"/>
              </a:spcBef>
              <a:spcAft>
                <a:spcPts val="0"/>
              </a:spcAft>
              <a:buClr>
                <a:schemeClr val="dk1"/>
              </a:buClr>
              <a:buSzPts val="1100"/>
              <a:buFont typeface="Arial"/>
              <a:buNone/>
            </a:pPr>
            <a:r>
              <a:rPr sz="1300" b="1">
                <a:solidFill>
                  <a:schemeClr val="dk1"/>
                </a:solidFill>
              </a:rPr>
              <a:t>3. Lateral Spine Flexion (Coronal Plane Coupling)</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Instead of rotating purely along the vertical axis, the subject combines a partial rotation with a lateral tilt (side-bend) to the opposite side. This exploits the 3D coupling characteristics of the lumbar spine to squeeze out a few extra degrees.</a:t>
            </a:r>
          </a:p>
          <a:p xmlns:a="http://schemas.openxmlformats.org/drawingml/2006/main">
            <a:pPr marL="457200" indent="-298450" algn="l">
              <a:lnSpc>
                <a:spcPct val="115000"/>
              </a:lnSpc>
              <a:spcBef>
                <a:spcPts val="0"/>
              </a:spcBef>
              <a:spcAft>
                <a:spcPts val="0"/>
              </a:spcAft>
              <a:buClr>
                <a:schemeClr val="dk1"/>
              </a:buClr>
              <a:buSzPts val="1100"/>
              <a:buChar char="●"/>
            </a:pPr>
            <a:r>
              <a:rPr b="1">
                <a:solidFill>
                  <a:schemeClr val="dk1"/>
                </a:solidFill>
              </a:rPr>
              <a:t>Detection:</a:t>
            </a:r>
            <a:r>
              <a:rPr>
                <a:solidFill>
                  <a:schemeClr val="dk1"/>
                </a:solidFill>
              </a:rPr>
              <a:t> The tracking system will show a sudden deviation in the coronal plane ($Y$-axis angular velocity or roll).</a:t>
            </a:r>
          </a:p>
          <a:p xmlns:a="http://schemas.openxmlformats.org/drawingml/2006/main">
            <a:pPr marL="0" indent="0" algn="l">
              <a:spcBef>
                <a:spcPts val="120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0"/>
              </a:spcBef>
              <a:spcAft>
                <a:spcPts val="0"/>
              </a:spcAft>
              <a:buClr>
                <a:schemeClr val="dk1"/>
              </a:buClr>
              <a:buSzPts val="1100"/>
              <a:buFont typeface="Arial"/>
              <a:buNone/>
            </a:pPr>
            <a:r>
              <a:rPr sz="1300" b="1">
                <a:solidFill>
                  <a:schemeClr val="dk1"/>
                </a:solidFill>
              </a:rPr>
              <a:t>1. Pelvic and Hip Shifting (The Most Common Cheat)</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The subject slides one knee forward or lifts one hip off the seat, rotating the pelvis in the transverse plane.</a:t>
            </a:r>
          </a:p>
          <a:p xmlns:a="http://schemas.openxmlformats.org/drawingml/2006/main">
            <a:pPr marL="0" indent="0" algn="l">
              <a:lnSpc>
                <a:spcPct val="115000"/>
              </a:lnSpc>
              <a:spcBef>
                <a:spcPts val="1200"/>
              </a:spcBef>
              <a:spcAft>
                <a:spcPts val="0"/>
              </a:spcAft>
              <a:buClr>
                <a:schemeClr val="dk1"/>
              </a:buClr>
              <a:buSzPts val="1100"/>
              <a:buFont typeface="Arial"/>
              <a:buNone/>
            </a:pPr>
            <a:r>
              <a:rPr sz="1300" b="1">
                <a:solidFill>
                  <a:schemeClr val="dk1"/>
                </a:solidFill>
              </a:rPr>
              <a:t>2. Shoulder Protraction and Retraction ("Girdle Cheating")</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If the bar across the shoulders is not locked down, or if arms are extended, the subject will reach forward with the contralateral shoulder (protraction) and pull back with the ipsilateral shoulder (retraction).</a:t>
            </a:r>
          </a:p>
          <a:p xmlns:a="http://schemas.openxmlformats.org/drawingml/2006/main">
            <a:pPr marL="457200" indent="-298450" algn="l">
              <a:lnSpc>
                <a:spcPct val="115000"/>
              </a:lnSpc>
              <a:spcBef>
                <a:spcPts val="0"/>
              </a:spcBef>
              <a:spcAft>
                <a:spcPts val="0"/>
              </a:spcAft>
              <a:buClr>
                <a:schemeClr val="dk1"/>
              </a:buClr>
              <a:buSzPts val="1100"/>
              <a:buChar char="●"/>
            </a:pPr>
            <a:r>
              <a:rPr b="1">
                <a:solidFill>
                  <a:schemeClr val="dk1"/>
                </a:solidFill>
              </a:rPr>
              <a:t>Detection:</a:t>
            </a:r>
            <a:r>
              <a:rPr>
                <a:solidFill>
                  <a:schemeClr val="dk1"/>
                </a:solidFill>
              </a:rPr>
              <a:t> The thoracic spine remains static, while the shoulder girdle moves independently. This is caught by tracking the T1 sensor relative to the acromion markers.</a:t>
            </a:r>
          </a:p>
          <a:p xmlns:a="http://schemas.openxmlformats.org/drawingml/2006/main">
            <a:pPr marL="0" indent="0" algn="l">
              <a:lnSpc>
                <a:spcPct val="115000"/>
              </a:lnSpc>
              <a:spcBef>
                <a:spcPts val="1200"/>
              </a:spcBef>
              <a:spcAft>
                <a:spcPts val="0"/>
              </a:spcAft>
              <a:buClr>
                <a:schemeClr val="dk1"/>
              </a:buClr>
              <a:buSzPts val="1100"/>
              <a:buFont typeface="Arial"/>
              <a:buNone/>
            </a:pPr>
            <a:r>
              <a:rPr sz="1300" b="1">
                <a:solidFill>
                  <a:schemeClr val="dk1"/>
                </a:solidFill>
              </a:rPr>
              <a:t>3. Lateral Spine Flexion (Coronal Plane Coupling)</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Instead of rotating purely along the vertical axis, the subject combines a partial rotation with a lateral tilt (side-bend) to the opposite side. This exploits the 3D coupling characteristics of the lumbar spine to squeeze out a few extra degrees.</a:t>
            </a:r>
          </a:p>
          <a:p xmlns:a="http://schemas.openxmlformats.org/drawingml/2006/main">
            <a:pPr marL="457200" indent="-298450" algn="l">
              <a:lnSpc>
                <a:spcPct val="115000"/>
              </a:lnSpc>
              <a:spcBef>
                <a:spcPts val="0"/>
              </a:spcBef>
              <a:spcAft>
                <a:spcPts val="0"/>
              </a:spcAft>
              <a:buClr>
                <a:schemeClr val="dk1"/>
              </a:buClr>
              <a:buSzPts val="1100"/>
              <a:buChar char="●"/>
            </a:pPr>
            <a:r>
              <a:rPr b="1">
                <a:solidFill>
                  <a:schemeClr val="dk1"/>
                </a:solidFill>
              </a:rPr>
              <a:t>Detection:</a:t>
            </a:r>
            <a:r>
              <a:rPr>
                <a:solidFill>
                  <a:schemeClr val="dk1"/>
                </a:solidFill>
              </a:rPr>
              <a:t> The tracking system will show a sudden deviation in the coronal plane ($Y$-axis angular velocity or roll).</a:t>
            </a:r>
          </a:p>
          <a:p xmlns:a="http://schemas.openxmlformats.org/drawingml/2006/main">
            <a:pPr marL="0" indent="0" algn="l">
              <a:spcBef>
                <a:spcPts val="120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0"/>
              </a:spcBef>
              <a:spcAft>
                <a:spcPts val="0"/>
              </a:spcAft>
              <a:buClr>
                <a:schemeClr val="dk1"/>
              </a:buClr>
              <a:buSzPts val="1100"/>
              <a:buFont typeface="Arial"/>
              <a:buNone/>
            </a:pPr>
            <a:r>
              <a:rPr sz="1300" b="1">
                <a:solidFill>
                  <a:schemeClr val="dk1"/>
                </a:solidFill>
              </a:rPr>
              <a:t>1. Pelvic and Hip Shifting (The Most Common Cheat)</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The subject slides one knee forward or lifts one hip off the seat, rotating the pelvis in the transverse plane.</a:t>
            </a:r>
          </a:p>
          <a:p xmlns:a="http://schemas.openxmlformats.org/drawingml/2006/main">
            <a:pPr marL="0" indent="0" algn="l">
              <a:lnSpc>
                <a:spcPct val="115000"/>
              </a:lnSpc>
              <a:spcBef>
                <a:spcPts val="1200"/>
              </a:spcBef>
              <a:spcAft>
                <a:spcPts val="0"/>
              </a:spcAft>
              <a:buClr>
                <a:schemeClr val="dk1"/>
              </a:buClr>
              <a:buSzPts val="1100"/>
              <a:buFont typeface="Arial"/>
              <a:buNone/>
            </a:pPr>
            <a:r>
              <a:rPr sz="1300" b="1">
                <a:solidFill>
                  <a:schemeClr val="dk1"/>
                </a:solidFill>
              </a:rPr>
              <a:t>2. Shoulder Protraction and Retraction ("Girdle Cheating")</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If the bar across the shoulders is not locked down, or if arms are extended, the subject will reach forward with the contralateral shoulder (protraction) and pull back with the ipsilateral shoulder (retraction).</a:t>
            </a:r>
          </a:p>
          <a:p xmlns:a="http://schemas.openxmlformats.org/drawingml/2006/main">
            <a:pPr marL="457200" indent="-298450" algn="l">
              <a:lnSpc>
                <a:spcPct val="115000"/>
              </a:lnSpc>
              <a:spcBef>
                <a:spcPts val="0"/>
              </a:spcBef>
              <a:spcAft>
                <a:spcPts val="0"/>
              </a:spcAft>
              <a:buClr>
                <a:schemeClr val="dk1"/>
              </a:buClr>
              <a:buSzPts val="1100"/>
              <a:buChar char="●"/>
            </a:pPr>
            <a:r>
              <a:rPr b="1">
                <a:solidFill>
                  <a:schemeClr val="dk1"/>
                </a:solidFill>
              </a:rPr>
              <a:t>Detection:</a:t>
            </a:r>
            <a:r>
              <a:rPr>
                <a:solidFill>
                  <a:schemeClr val="dk1"/>
                </a:solidFill>
              </a:rPr>
              <a:t> The thoracic spine remains static, while the shoulder girdle moves independently. This is caught by tracking the T1 sensor relative to the acromion markers.</a:t>
            </a:r>
          </a:p>
          <a:p xmlns:a="http://schemas.openxmlformats.org/drawingml/2006/main">
            <a:pPr marL="0" indent="0" algn="l">
              <a:lnSpc>
                <a:spcPct val="115000"/>
              </a:lnSpc>
              <a:spcBef>
                <a:spcPts val="1200"/>
              </a:spcBef>
              <a:spcAft>
                <a:spcPts val="0"/>
              </a:spcAft>
              <a:buClr>
                <a:schemeClr val="dk1"/>
              </a:buClr>
              <a:buSzPts val="1100"/>
              <a:buFont typeface="Arial"/>
              <a:buNone/>
            </a:pPr>
            <a:r>
              <a:rPr sz="1300" b="1">
                <a:solidFill>
                  <a:schemeClr val="dk1"/>
                </a:solidFill>
              </a:rPr>
              <a:t>3. Lateral Spine Flexion (Coronal Plane Coupling)</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Instead of rotating purely along the vertical axis, the subject combines a partial rotation with a lateral tilt (side-bend) to the opposite side. This exploits the 3D coupling characteristics of the lumbar spine to squeeze out a few extra degrees.</a:t>
            </a:r>
          </a:p>
          <a:p xmlns:a="http://schemas.openxmlformats.org/drawingml/2006/main">
            <a:pPr marL="457200" indent="-298450" algn="l">
              <a:lnSpc>
                <a:spcPct val="115000"/>
              </a:lnSpc>
              <a:spcBef>
                <a:spcPts val="0"/>
              </a:spcBef>
              <a:spcAft>
                <a:spcPts val="0"/>
              </a:spcAft>
              <a:buClr>
                <a:schemeClr val="dk1"/>
              </a:buClr>
              <a:buSzPts val="1100"/>
              <a:buChar char="●"/>
            </a:pPr>
            <a:r>
              <a:rPr b="1">
                <a:solidFill>
                  <a:schemeClr val="dk1"/>
                </a:solidFill>
              </a:rPr>
              <a:t>Detection:</a:t>
            </a:r>
            <a:r>
              <a:rPr>
                <a:solidFill>
                  <a:schemeClr val="dk1"/>
                </a:solidFill>
              </a:rPr>
              <a:t> The tracking system will show a sudden deviation in the coronal plane ($Y$-axis angular velocity or roll).</a:t>
            </a:r>
          </a:p>
          <a:p xmlns:a="http://schemas.openxmlformats.org/drawingml/2006/main">
            <a:pPr marL="0" indent="0" algn="l">
              <a:spcBef>
                <a:spcPts val="120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0"/>
              </a:spcBef>
              <a:spcAft>
                <a:spcPts val="0"/>
              </a:spcAft>
              <a:buClr>
                <a:schemeClr val="dk1"/>
              </a:buClr>
              <a:buSzPts val="1100"/>
              <a:buFont typeface="Arial"/>
              <a:buNone/>
            </a:pPr>
            <a:r>
              <a:rPr sz="1300" b="1">
                <a:solidFill>
                  <a:schemeClr val="dk1"/>
                </a:solidFill>
              </a:rPr>
              <a:t>1. Pelvic and Hip Shifting (The Most Common Cheat)</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The subject slides one knee forward or lifts one hip off the seat, rotating the pelvis in the transverse plane.</a:t>
            </a:r>
          </a:p>
          <a:p xmlns:a="http://schemas.openxmlformats.org/drawingml/2006/main">
            <a:pPr marL="0" indent="0" algn="l">
              <a:lnSpc>
                <a:spcPct val="115000"/>
              </a:lnSpc>
              <a:spcBef>
                <a:spcPts val="1200"/>
              </a:spcBef>
              <a:spcAft>
                <a:spcPts val="0"/>
              </a:spcAft>
              <a:buClr>
                <a:schemeClr val="dk1"/>
              </a:buClr>
              <a:buSzPts val="1100"/>
              <a:buFont typeface="Arial"/>
              <a:buNone/>
            </a:pPr>
            <a:r>
              <a:rPr sz="1300" b="1">
                <a:solidFill>
                  <a:schemeClr val="dk1"/>
                </a:solidFill>
              </a:rPr>
              <a:t>2. Shoulder Protraction and Retraction ("Girdle Cheating")</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If the bar across the shoulders is not locked down, or if arms are extended, the subject will reach forward with the contralateral shoulder (protraction) and pull back with the ipsilateral shoulder (retraction).</a:t>
            </a:r>
          </a:p>
          <a:p xmlns:a="http://schemas.openxmlformats.org/drawingml/2006/main">
            <a:pPr marL="457200" indent="-298450" algn="l">
              <a:lnSpc>
                <a:spcPct val="115000"/>
              </a:lnSpc>
              <a:spcBef>
                <a:spcPts val="0"/>
              </a:spcBef>
              <a:spcAft>
                <a:spcPts val="0"/>
              </a:spcAft>
              <a:buClr>
                <a:schemeClr val="dk1"/>
              </a:buClr>
              <a:buSzPts val="1100"/>
              <a:buChar char="●"/>
            </a:pPr>
            <a:r>
              <a:rPr b="1">
                <a:solidFill>
                  <a:schemeClr val="dk1"/>
                </a:solidFill>
              </a:rPr>
              <a:t>Detection:</a:t>
            </a:r>
            <a:r>
              <a:rPr>
                <a:solidFill>
                  <a:schemeClr val="dk1"/>
                </a:solidFill>
              </a:rPr>
              <a:t> The thoracic spine remains static, while the shoulder girdle moves independently. This is caught by tracking the T1 sensor relative to the acromion markers.</a:t>
            </a:r>
          </a:p>
          <a:p xmlns:a="http://schemas.openxmlformats.org/drawingml/2006/main">
            <a:pPr marL="0" indent="0" algn="l">
              <a:lnSpc>
                <a:spcPct val="115000"/>
              </a:lnSpc>
              <a:spcBef>
                <a:spcPts val="1200"/>
              </a:spcBef>
              <a:spcAft>
                <a:spcPts val="0"/>
              </a:spcAft>
              <a:buClr>
                <a:schemeClr val="dk1"/>
              </a:buClr>
              <a:buSzPts val="1100"/>
              <a:buFont typeface="Arial"/>
              <a:buNone/>
            </a:pPr>
            <a:r>
              <a:rPr sz="1300" b="1">
                <a:solidFill>
                  <a:schemeClr val="dk1"/>
                </a:solidFill>
              </a:rPr>
              <a:t>3. Lateral Spine Flexion (Coronal Plane Coupling)</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Instead of rotating purely along the vertical axis, the subject combines a partial rotation with a lateral tilt (side-bend) to the opposite side. This exploits the 3D coupling characteristics of the lumbar spine to squeeze out a few extra degrees.</a:t>
            </a:r>
          </a:p>
          <a:p xmlns:a="http://schemas.openxmlformats.org/drawingml/2006/main">
            <a:pPr marL="457200" indent="-298450" algn="l">
              <a:lnSpc>
                <a:spcPct val="115000"/>
              </a:lnSpc>
              <a:spcBef>
                <a:spcPts val="0"/>
              </a:spcBef>
              <a:spcAft>
                <a:spcPts val="0"/>
              </a:spcAft>
              <a:buClr>
                <a:schemeClr val="dk1"/>
              </a:buClr>
              <a:buSzPts val="1100"/>
              <a:buChar char="●"/>
            </a:pPr>
            <a:r>
              <a:rPr b="1">
                <a:solidFill>
                  <a:schemeClr val="dk1"/>
                </a:solidFill>
              </a:rPr>
              <a:t>Detection:</a:t>
            </a:r>
            <a:r>
              <a:rPr>
                <a:solidFill>
                  <a:schemeClr val="dk1"/>
                </a:solidFill>
              </a:rPr>
              <a:t> The tracking system will show a sudden deviation in the coronal plane ($Y$-axis angular velocity or roll).</a:t>
            </a:r>
          </a:p>
          <a:p xmlns:a="http://schemas.openxmlformats.org/drawingml/2006/main">
            <a:pPr marL="0" indent="0" algn="l">
              <a:spcBef>
                <a:spcPts val="120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0"/>
              </a:spcBef>
              <a:spcAft>
                <a:spcPts val="0"/>
              </a:spcAft>
              <a:buClr>
                <a:schemeClr val="dk1"/>
              </a:buClr>
              <a:buSzPts val="1100"/>
              <a:buFont typeface="Arial"/>
              <a:buNone/>
            </a:pPr>
            <a:r>
              <a:rPr sz="1300" b="1">
                <a:solidFill>
                  <a:schemeClr val="dk1"/>
                </a:solidFill>
              </a:rPr>
              <a:t>1. Pelvic and Hip Shifting (The Most Common Cheat)</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The subject slides one knee forward or lifts one hip off the seat, rotating the pelvis in the transverse plane.</a:t>
            </a:r>
          </a:p>
          <a:p xmlns:a="http://schemas.openxmlformats.org/drawingml/2006/main">
            <a:pPr marL="0" indent="0" algn="l">
              <a:lnSpc>
                <a:spcPct val="115000"/>
              </a:lnSpc>
              <a:spcBef>
                <a:spcPts val="1200"/>
              </a:spcBef>
              <a:spcAft>
                <a:spcPts val="0"/>
              </a:spcAft>
              <a:buClr>
                <a:schemeClr val="dk1"/>
              </a:buClr>
              <a:buSzPts val="1100"/>
              <a:buFont typeface="Arial"/>
              <a:buNone/>
            </a:pPr>
            <a:r>
              <a:rPr sz="1300" b="1">
                <a:solidFill>
                  <a:schemeClr val="dk1"/>
                </a:solidFill>
              </a:rPr>
              <a:t>2. Shoulder Protraction and Retraction ("Girdle Cheating")</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If the bar across the shoulders is not locked down, or if arms are extended, the subject will reach forward with the contralateral shoulder (protraction) and pull back with the ipsilateral shoulder (retraction).</a:t>
            </a:r>
          </a:p>
          <a:p xmlns:a="http://schemas.openxmlformats.org/drawingml/2006/main">
            <a:pPr marL="457200" indent="-298450" algn="l">
              <a:lnSpc>
                <a:spcPct val="115000"/>
              </a:lnSpc>
              <a:spcBef>
                <a:spcPts val="0"/>
              </a:spcBef>
              <a:spcAft>
                <a:spcPts val="0"/>
              </a:spcAft>
              <a:buClr>
                <a:schemeClr val="dk1"/>
              </a:buClr>
              <a:buSzPts val="1100"/>
              <a:buChar char="●"/>
            </a:pPr>
            <a:r>
              <a:rPr b="1">
                <a:solidFill>
                  <a:schemeClr val="dk1"/>
                </a:solidFill>
              </a:rPr>
              <a:t>Detection:</a:t>
            </a:r>
            <a:r>
              <a:rPr>
                <a:solidFill>
                  <a:schemeClr val="dk1"/>
                </a:solidFill>
              </a:rPr>
              <a:t> The thoracic spine remains static, while the shoulder girdle moves independently. This is caught by tracking the T1 sensor relative to the acromion markers.</a:t>
            </a:r>
          </a:p>
          <a:p xmlns:a="http://schemas.openxmlformats.org/drawingml/2006/main">
            <a:pPr marL="0" indent="0" algn="l">
              <a:lnSpc>
                <a:spcPct val="115000"/>
              </a:lnSpc>
              <a:spcBef>
                <a:spcPts val="1200"/>
              </a:spcBef>
              <a:spcAft>
                <a:spcPts val="0"/>
              </a:spcAft>
              <a:buClr>
                <a:schemeClr val="dk1"/>
              </a:buClr>
              <a:buSzPts val="1100"/>
              <a:buFont typeface="Arial"/>
              <a:buNone/>
            </a:pPr>
            <a:r>
              <a:rPr sz="1300" b="1">
                <a:solidFill>
                  <a:schemeClr val="dk1"/>
                </a:solidFill>
              </a:rPr>
              <a:t>3. Lateral Spine Flexion (Coronal Plane Coupling)</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Instead of rotating purely along the vertical axis, the subject combines a partial rotation with a lateral tilt (side-bend) to the opposite side. This exploits the 3D coupling characteristics of the lumbar spine to squeeze out a few extra degrees.</a:t>
            </a:r>
          </a:p>
          <a:p xmlns:a="http://schemas.openxmlformats.org/drawingml/2006/main">
            <a:pPr marL="457200" indent="-298450" algn="l">
              <a:lnSpc>
                <a:spcPct val="115000"/>
              </a:lnSpc>
              <a:spcBef>
                <a:spcPts val="0"/>
              </a:spcBef>
              <a:spcAft>
                <a:spcPts val="0"/>
              </a:spcAft>
              <a:buClr>
                <a:schemeClr val="dk1"/>
              </a:buClr>
              <a:buSzPts val="1100"/>
              <a:buChar char="●"/>
            </a:pPr>
            <a:r>
              <a:rPr b="1">
                <a:solidFill>
                  <a:schemeClr val="dk1"/>
                </a:solidFill>
              </a:rPr>
              <a:t>Detection:</a:t>
            </a:r>
            <a:r>
              <a:rPr>
                <a:solidFill>
                  <a:schemeClr val="dk1"/>
                </a:solidFill>
              </a:rPr>
              <a:t> The tracking system will show a sudden deviation in the coronal plane ($Y$-axis angular velocity or roll).</a:t>
            </a:r>
          </a:p>
          <a:p xmlns:a="http://schemas.openxmlformats.org/drawingml/2006/main">
            <a:pPr marL="0" indent="0" algn="l">
              <a:spcBef>
                <a:spcPts val="120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Trunk rotation is a composite movement primarily driven by the thoracic spine (accounting for approximately 65-70% of the movement) and the lumbar spine (which only allows minimal rotation due to the sagittal orientation of its facet joints).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15000"/>
              </a:lnSpc>
              <a:spcBef>
                <a:spcPts val="0"/>
              </a:spcBef>
              <a:spcAft>
                <a:spcPts val="0"/>
              </a:spcAft>
              <a:buClr>
                <a:schemeClr val="dk1"/>
              </a:buClr>
              <a:buSzPts val="1100"/>
              <a:buFont typeface="Arial"/>
              <a:buNone/>
            </a:pPr>
            <a:r>
              <a:rPr sz="1300" b="1">
                <a:solidFill>
                  <a:schemeClr val="dk1"/>
                </a:solidFill>
              </a:rPr>
              <a:t>1. Pelvic and Hip Shifting (The Most Common Cheat)</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The subject slides one knee forward or lifts one hip off the seat, rotating the pelvis in the transverse plane.</a:t>
            </a:r>
          </a:p>
          <a:p xmlns:a="http://schemas.openxmlformats.org/drawingml/2006/main">
            <a:pPr marL="0" indent="0" algn="l">
              <a:lnSpc>
                <a:spcPct val="115000"/>
              </a:lnSpc>
              <a:spcBef>
                <a:spcPts val="1200"/>
              </a:spcBef>
              <a:spcAft>
                <a:spcPts val="0"/>
              </a:spcAft>
              <a:buClr>
                <a:schemeClr val="dk1"/>
              </a:buClr>
              <a:buSzPts val="1100"/>
              <a:buFont typeface="Arial"/>
              <a:buNone/>
            </a:pPr>
            <a:r>
              <a:rPr sz="1300" b="1">
                <a:solidFill>
                  <a:schemeClr val="dk1"/>
                </a:solidFill>
              </a:rPr>
              <a:t>2. Shoulder Protraction and Retraction ("Girdle Cheating")</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If the bar across the shoulders is not locked down, or if arms are extended, the subject will reach forward with the contralateral shoulder (protraction) and pull back with the ipsilateral shoulder (retraction).</a:t>
            </a:r>
          </a:p>
          <a:p xmlns:a="http://schemas.openxmlformats.org/drawingml/2006/main">
            <a:pPr marL="457200" indent="-298450" algn="l">
              <a:lnSpc>
                <a:spcPct val="115000"/>
              </a:lnSpc>
              <a:spcBef>
                <a:spcPts val="0"/>
              </a:spcBef>
              <a:spcAft>
                <a:spcPts val="0"/>
              </a:spcAft>
              <a:buClr>
                <a:schemeClr val="dk1"/>
              </a:buClr>
              <a:buSzPts val="1100"/>
              <a:buChar char="●"/>
            </a:pPr>
            <a:r>
              <a:rPr b="1">
                <a:solidFill>
                  <a:schemeClr val="dk1"/>
                </a:solidFill>
              </a:rPr>
              <a:t>Detection:</a:t>
            </a:r>
            <a:r>
              <a:rPr>
                <a:solidFill>
                  <a:schemeClr val="dk1"/>
                </a:solidFill>
              </a:rPr>
              <a:t> The thoracic spine remains static, while the shoulder girdle moves independently. This is caught by tracking the T1 sensor relative to the acromion markers.</a:t>
            </a:r>
          </a:p>
          <a:p xmlns:a="http://schemas.openxmlformats.org/drawingml/2006/main">
            <a:pPr marL="0" indent="0" algn="l">
              <a:lnSpc>
                <a:spcPct val="115000"/>
              </a:lnSpc>
              <a:spcBef>
                <a:spcPts val="1200"/>
              </a:spcBef>
              <a:spcAft>
                <a:spcPts val="0"/>
              </a:spcAft>
              <a:buClr>
                <a:schemeClr val="dk1"/>
              </a:buClr>
              <a:buSzPts val="1100"/>
              <a:buFont typeface="Arial"/>
              <a:buNone/>
            </a:pPr>
            <a:r>
              <a:rPr sz="1300" b="1">
                <a:solidFill>
                  <a:schemeClr val="dk1"/>
                </a:solidFill>
              </a:rPr>
              <a:t>3. Lateral Spine Flexion (Coronal Plane Coupling)</a:t>
            </a:r>
          </a:p>
          <a:p xmlns:a="http://schemas.openxmlformats.org/drawingml/2006/main">
            <a:pPr marL="457200" indent="-298450" algn="l">
              <a:lnSpc>
                <a:spcPct val="115000"/>
              </a:lnSpc>
              <a:spcBef>
                <a:spcPts val="400"/>
              </a:spcBef>
              <a:spcAft>
                <a:spcPts val="0"/>
              </a:spcAft>
              <a:buClr>
                <a:schemeClr val="dk1"/>
              </a:buClr>
              <a:buSzPts val="1100"/>
              <a:buChar char="●"/>
            </a:pPr>
            <a:r>
              <a:rPr b="1">
                <a:solidFill>
                  <a:schemeClr val="dk1"/>
                </a:solidFill>
              </a:rPr>
              <a:t>Mechanism:</a:t>
            </a:r>
            <a:r>
              <a:rPr>
                <a:solidFill>
                  <a:schemeClr val="dk1"/>
                </a:solidFill>
              </a:rPr>
              <a:t> Instead of rotating purely along the vertical axis, the subject combines a partial rotation with a lateral tilt (side-bend) to the opposite side. This exploits the 3D coupling characteristics of the lumbar spine to squeeze out a few extra degrees.</a:t>
            </a:r>
          </a:p>
          <a:p xmlns:a="http://schemas.openxmlformats.org/drawingml/2006/main">
            <a:pPr marL="457200" indent="-298450" algn="l">
              <a:lnSpc>
                <a:spcPct val="115000"/>
              </a:lnSpc>
              <a:spcBef>
                <a:spcPts val="0"/>
              </a:spcBef>
              <a:spcAft>
                <a:spcPts val="0"/>
              </a:spcAft>
              <a:buClr>
                <a:schemeClr val="dk1"/>
              </a:buClr>
              <a:buSzPts val="1100"/>
              <a:buChar char="●"/>
            </a:pPr>
            <a:r>
              <a:rPr b="1">
                <a:solidFill>
                  <a:schemeClr val="dk1"/>
                </a:solidFill>
              </a:rPr>
              <a:t>Detection:</a:t>
            </a:r>
            <a:r>
              <a:rPr>
                <a:solidFill>
                  <a:schemeClr val="dk1"/>
                </a:solidFill>
              </a:rPr>
              <a:t> The tracking system will show a sudden deviation in the coronal plane ($Y$-axis angular velocity or roll).</a:t>
            </a:r>
          </a:p>
          <a:p xmlns:a="http://schemas.openxmlformats.org/drawingml/2006/main">
            <a:pPr marL="0" indent="0" algn="l">
              <a:spcBef>
                <a:spcPts val="120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spcBef>
                <a:spcPts val="0"/>
              </a:spcBef>
              <a:spcAft>
                <a:spcPts val="0"/>
              </a:spcAft>
              <a:buClr>
                <a:schemeClr val="dk1"/>
              </a:buClr>
              <a:buSzPts val="1100"/>
              <a:buFont typeface="Arial"/>
              <a:buNone/>
            </a:pPr>
            <a:r>
              <a:rPr u="sng">
                <a:solidFill>
                  <a:srgbClr val="009384"/>
                </a:solidFill>
              </a:rPr>
              <a:t>https://pmc.ncbi.nlm.nih.gov/articles/PMC4567248/#S3</a:t>
            </a:r>
          </a:p>
          <a:p xmlns:a="http://schemas.openxmlformats.org/drawingml/2006/main">
            <a:pPr marL="0" indent="0" algn="l">
              <a:spcBef>
                <a:spcPts val="0"/>
              </a:spcBef>
              <a:spcAft>
                <a:spcPts val="0"/>
              </a:spcAft>
              <a:buNone/>
            </a:pPr>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1608bcf6954a5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28111dafdf4c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c681ad5ccb48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69cfb8882140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bf42677b6f4b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2925656a494ae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6a96e873897493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a4ddf32db024c0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693705262b343f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5210ef00ffe458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c4ec7b7cbfb418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970a636d155447a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bd1879cd9ed94c32"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8282e0001c024d0d"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f6ccf143394245bb"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e9d194e6a2e84d02"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2347c53368e54b26"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dk1"/>
        </a:solidFill>
      </p:bgPr>
    </p:bg>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699C8D00-CB36-4EE1-804A-27B0EF612715}"/>
              </a:ext>
            </a:extLst>
          </p:cNvPr>
          <p:cNvSpPr>
            <a:spLocks xmlns:a="http://schemas.openxmlformats.org/drawingml/2006/main" noGrp="1"/>
          </p:cNvSpPr>
          <p:nvPr/>
        </p:nvSpPr>
        <p:spPr>
          <a:xfrm xmlns:a="http://schemas.openxmlformats.org/drawingml/2006/main">
            <a:off x="-125" y="0"/>
            <a:ext cx="9144250" cy="4398100"/>
          </a:xfrm>
          <a:custGeom xmlns:a="http://schemas.openxmlformats.org/drawingml/2006/main">
            <a:rect l="l" t="t" r="r" b="b"/>
            <a:pathLst>
              <a:path w="365770" h="175924">
                <a:moveTo>
                  <a:pt x="0" y="0"/>
                </a:moveTo>
                <a:lnTo>
                  <a:pt x="365770" y="0"/>
                </a:lnTo>
                <a:lnTo>
                  <a:pt x="365760" y="70914"/>
                </a:lnTo>
                <a:lnTo>
                  <a:pt x="0" y="175924"/>
                </a:lnTo>
                <a:close/>
              </a:path>
            </a:pathLst>
          </a:custGeom>
          <a:solidFill xmlns:a="http://schemas.openxmlformats.org/drawingml/2006/main">
            <a:schemeClr val="lt1"/>
          </a:solidFill>
          <a:ln xmlns:a="http://schemas.openxmlformats.org/drawingml/2006/main">
            <a:noFill/>
          </a:ln>
        </p:spPr>
      </p:sp>
      <p:sp>
        <p:nvSpPr>
          <p:cNvPr id="11" name="Google Shape;11;p2">
            <a:extLst xmlns:a="http://schemas.openxmlformats.org/drawingml/2006/main">
              <a:ext uri="{FF2B5EF4-FFF2-40B4-BE49-F238E27FC236}">
                <a16:creationId xmlns:a16="http://schemas.microsoft.com/office/drawing/2014/main" id="{5739109C-2B2E-4139-85C8-51DA3AA24CAF}"/>
              </a:ext>
            </a:extLst>
          </p:cNvPr>
          <p:cNvSpPr>
            <a:spLocks xmlns:a="http://schemas.openxmlformats.org/drawingml/2006/main" noGrp="1"/>
          </p:cNvSpPr>
          <p:nvPr>
            <p:ph type="ctrTitle" idx="0"/>
          </p:nvPr>
        </p:nvSpPr>
        <p:spPr>
          <a:xfrm xmlns:a="http://schemas.openxmlformats.org/drawingml/2006/main">
            <a:off x="311700" y="539725"/>
            <a:ext cx="8520600" cy="12825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3600"/>
              <a:buNone/>
              <a:defRPr sz="36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BADBA9D6-D4AB-48C2-ABC3-77F1FA1E564E}"/>
              </a:ext>
            </a:extLst>
          </p:cNvPr>
          <p:cNvSpPr>
            <a:spLocks xmlns:a="http://schemas.openxmlformats.org/drawingml/2006/main" noGrp="1"/>
          </p:cNvSpPr>
          <p:nvPr>
            <p:ph type="subTitle" idx="1"/>
          </p:nvPr>
        </p:nvSpPr>
        <p:spPr>
          <a:xfrm xmlns:a="http://schemas.openxmlformats.org/drawingml/2006/main">
            <a:off x="311700" y="1878560"/>
            <a:ext cx="4242600" cy="7383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Clr>
                <a:schemeClr val="lt2"/>
              </a:buClr>
              <a:buSzPts val="1600"/>
              <a:buNone/>
              <a:defRPr sz="1600">
                <a:solidFill>
                  <a:schemeClr val="lt2"/>
                </a:solidFill>
              </a:defRPr>
            </a:lvl1pPr>
            <a:lvl2pPr>
              <a:lnSpc>
                <a:spcPct val="100000"/>
              </a:lnSpc>
              <a:spcBef>
                <a:spcPts val="0"/>
              </a:spcBef>
              <a:spcAft>
                <a:spcPts val="0"/>
              </a:spcAft>
              <a:buClr>
                <a:schemeClr val="lt2"/>
              </a:buClr>
              <a:buSzPts val="1600"/>
              <a:buNone/>
              <a:defRPr sz="1600">
                <a:solidFill>
                  <a:schemeClr val="lt2"/>
                </a:solidFill>
              </a:defRPr>
            </a:lvl2pPr>
            <a:lvl3pPr>
              <a:lnSpc>
                <a:spcPct val="100000"/>
              </a:lnSpc>
              <a:spcBef>
                <a:spcPts val="0"/>
              </a:spcBef>
              <a:spcAft>
                <a:spcPts val="0"/>
              </a:spcAft>
              <a:buClr>
                <a:schemeClr val="lt2"/>
              </a:buClr>
              <a:buSzPts val="1600"/>
              <a:buNone/>
              <a:defRPr sz="1600">
                <a:solidFill>
                  <a:schemeClr val="lt2"/>
                </a:solidFill>
              </a:defRPr>
            </a:lvl3pPr>
            <a:lvl4pPr>
              <a:lnSpc>
                <a:spcPct val="100000"/>
              </a:lnSpc>
              <a:spcBef>
                <a:spcPts val="0"/>
              </a:spcBef>
              <a:spcAft>
                <a:spcPts val="0"/>
              </a:spcAft>
              <a:buClr>
                <a:schemeClr val="lt2"/>
              </a:buClr>
              <a:buSzPts val="1600"/>
              <a:buNone/>
              <a:defRPr sz="1600">
                <a:solidFill>
                  <a:schemeClr val="lt2"/>
                </a:solidFill>
              </a:defRPr>
            </a:lvl4pPr>
            <a:lvl5pPr>
              <a:lnSpc>
                <a:spcPct val="100000"/>
              </a:lnSpc>
              <a:spcBef>
                <a:spcPts val="0"/>
              </a:spcBef>
              <a:spcAft>
                <a:spcPts val="0"/>
              </a:spcAft>
              <a:buClr>
                <a:schemeClr val="lt2"/>
              </a:buClr>
              <a:buSzPts val="1600"/>
              <a:buNone/>
              <a:defRPr sz="1600">
                <a:solidFill>
                  <a:schemeClr val="lt2"/>
                </a:solidFill>
              </a:defRPr>
            </a:lvl5pPr>
            <a:lvl6pPr>
              <a:lnSpc>
                <a:spcPct val="100000"/>
              </a:lnSpc>
              <a:spcBef>
                <a:spcPts val="0"/>
              </a:spcBef>
              <a:spcAft>
                <a:spcPts val="0"/>
              </a:spcAft>
              <a:buClr>
                <a:schemeClr val="lt2"/>
              </a:buClr>
              <a:buSzPts val="1600"/>
              <a:buNone/>
              <a:defRPr sz="1600">
                <a:solidFill>
                  <a:schemeClr val="lt2"/>
                </a:solidFill>
              </a:defRPr>
            </a:lvl6pPr>
            <a:lvl7pPr>
              <a:lnSpc>
                <a:spcPct val="100000"/>
              </a:lnSpc>
              <a:spcBef>
                <a:spcPts val="0"/>
              </a:spcBef>
              <a:spcAft>
                <a:spcPts val="0"/>
              </a:spcAft>
              <a:buClr>
                <a:schemeClr val="lt2"/>
              </a:buClr>
              <a:buSzPts val="1600"/>
              <a:buNone/>
              <a:defRPr sz="1600">
                <a:solidFill>
                  <a:schemeClr val="lt2"/>
                </a:solidFill>
              </a:defRPr>
            </a:lvl7pPr>
            <a:lvl8pPr>
              <a:lnSpc>
                <a:spcPct val="100000"/>
              </a:lnSpc>
              <a:spcBef>
                <a:spcPts val="0"/>
              </a:spcBef>
              <a:spcAft>
                <a:spcPts val="0"/>
              </a:spcAft>
              <a:buClr>
                <a:schemeClr val="lt2"/>
              </a:buClr>
              <a:buSzPts val="1600"/>
              <a:buNone/>
              <a:defRPr sz="1600">
                <a:solidFill>
                  <a:schemeClr val="lt2"/>
                </a:solidFill>
              </a:defRPr>
            </a:lvl8pPr>
            <a:lvl9pPr>
              <a:lnSpc>
                <a:spcPct val="100000"/>
              </a:lnSpc>
              <a:spcBef>
                <a:spcPts val="0"/>
              </a:spcBef>
              <a:spcAft>
                <a:spcPts val="0"/>
              </a:spcAft>
              <a:buClr>
                <a:schemeClr val="lt2"/>
              </a:buClr>
              <a:buSzPts val="1600"/>
              <a:buNone/>
              <a:defRPr sz="1600">
                <a:solidFill>
                  <a:schemeClr val="lt2"/>
                </a:solidFill>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00780C0-2624-463B-8B0E-CBD125C8F9E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2.xml><?xml version="1.0" encoding="utf-8"?>
<p:sldLayout xmlns:p="http://schemas.openxmlformats.org/presentationml/2006/main" matchingName="Section header" type="secHead">
  <p:cSld name="SECTION_HEADER">
    <p:bg>
      <p:bgPr>
        <a:solidFill xmlns:a="http://schemas.openxmlformats.org/drawingml/2006/main">
          <a:schemeClr val="accent3"/>
        </a:solidFill>
      </p:bgPr>
    </p:bg>
    <p:spTree>
      <p:nvGrpSpPr>
        <p:cNvPr id="1" name=""/>
        <p:cNvGrpSpPr/>
        <p:nvPr/>
      </p:nvGrpSpPr>
      <p:grpSpPr>
        <a:xfrm xmlns:a="http://schemas.openxmlformats.org/drawingml/2006/main"/>
      </p:grpSpPr>
      <p:sp>
        <p:nvSpPr>
          <p:cNvPr id="15" name="Google Shape;15;p3">
            <a:extLst xmlns:a="http://schemas.openxmlformats.org/drawingml/2006/main">
              <a:ext uri="{FF2B5EF4-FFF2-40B4-BE49-F238E27FC236}">
                <a16:creationId xmlns:a16="http://schemas.microsoft.com/office/drawing/2014/main" id="{1870AF40-2E85-4C54-91EF-CC31CB571AAA}"/>
              </a:ext>
            </a:extLst>
          </p:cNvPr>
          <p:cNvSpPr>
            <a:spLocks xmlns:a="http://schemas.openxmlformats.org/drawingml/2006/main" noGrp="1"/>
          </p:cNvSpPr>
          <p:nvPr/>
        </p:nvSpPr>
        <p:spPr>
          <a:xfrm xmlns:a="http://schemas.openxmlformats.org/drawingml/2006/main">
            <a:off x="0" y="48099"/>
            <a:ext cx="9144250" cy="4398100"/>
          </a:xfrm>
          <a:custGeom xmlns:a="http://schemas.openxmlformats.org/drawingml/2006/main">
            <a:rect l="l" t="t" r="r" b="b"/>
            <a:pathLst>
              <a:path w="365770" h="175924">
                <a:moveTo>
                  <a:pt x="0" y="0"/>
                </a:moveTo>
                <a:lnTo>
                  <a:pt x="365770" y="0"/>
                </a:lnTo>
                <a:lnTo>
                  <a:pt x="365760" y="70914"/>
                </a:lnTo>
                <a:lnTo>
                  <a:pt x="0" y="175924"/>
                </a:lnTo>
                <a:close/>
              </a:path>
            </a:pathLst>
          </a:custGeom>
          <a:solidFill xmlns:a="http://schemas.openxmlformats.org/drawingml/2006/main">
            <a:schemeClr val="lt1"/>
          </a:solidFill>
          <a:ln xmlns:a="http://schemas.openxmlformats.org/drawingml/2006/main">
            <a:noFill/>
          </a:ln>
        </p:spPr>
      </p:sp>
      <p:sp>
        <p:nvSpPr>
          <p:cNvPr id="16" name="Google Shape;16;p3">
            <a:extLst xmlns:a="http://schemas.openxmlformats.org/drawingml/2006/main">
              <a:ext uri="{FF2B5EF4-FFF2-40B4-BE49-F238E27FC236}">
                <a16:creationId xmlns:a16="http://schemas.microsoft.com/office/drawing/2014/main" id="{C4538BE0-C9B1-4027-8288-A816D46DAEB9}"/>
              </a:ext>
            </a:extLst>
          </p:cNvPr>
          <p:cNvSpPr>
            <a:spLocks xmlns:a="http://schemas.openxmlformats.org/drawingml/2006/main" noGrp="1"/>
          </p:cNvSpPr>
          <p:nvPr/>
        </p:nvSpPr>
        <p:spPr>
          <a:xfrm xmlns:a="http://schemas.openxmlformats.org/drawingml/2006/main">
            <a:off x="0" y="0"/>
            <a:ext cx="9144250" cy="4398100"/>
          </a:xfrm>
          <a:custGeom xmlns:a="http://schemas.openxmlformats.org/drawingml/2006/main">
            <a:rect l="l" t="t" r="r" b="b"/>
            <a:pathLst>
              <a:path w="365770" h="175924">
                <a:moveTo>
                  <a:pt x="0" y="0"/>
                </a:moveTo>
                <a:lnTo>
                  <a:pt x="365770" y="0"/>
                </a:lnTo>
                <a:lnTo>
                  <a:pt x="365760" y="70914"/>
                </a:lnTo>
                <a:lnTo>
                  <a:pt x="0" y="175924"/>
                </a:lnTo>
                <a:close/>
              </a:path>
            </a:pathLst>
          </a:custGeom>
          <a:solidFill xmlns:a="http://schemas.openxmlformats.org/drawingml/2006/main">
            <a:schemeClr val="accent3"/>
          </a:solidFill>
          <a:ln xmlns:a="http://schemas.openxmlformats.org/drawingml/2006/main">
            <a:noFill/>
          </a:ln>
        </p:spPr>
      </p:sp>
      <p:sp>
        <p:nvSpPr>
          <p:cNvPr id="17" name="Google Shape;17;p3">
            <a:extLst xmlns:a="http://schemas.openxmlformats.org/drawingml/2006/main">
              <a:ext uri="{FF2B5EF4-FFF2-40B4-BE49-F238E27FC236}">
                <a16:creationId xmlns:a16="http://schemas.microsoft.com/office/drawing/2014/main" id="{113779BC-39F5-4C4F-8DAB-6A152CDC8A85}"/>
              </a:ext>
            </a:extLst>
          </p:cNvPr>
          <p:cNvSpPr>
            <a:spLocks xmlns:a="http://schemas.openxmlformats.org/drawingml/2006/main" noGrp="1"/>
          </p:cNvSpPr>
          <p:nvPr>
            <p:ph type="title" idx="0"/>
          </p:nvPr>
        </p:nvSpPr>
        <p:spPr>
          <a:xfrm xmlns:a="http://schemas.openxmlformats.org/drawingml/2006/main">
            <a:off x="311700" y="539725"/>
            <a:ext cx="8520600" cy="12825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3600"/>
              <a:buNone/>
              <a:defRPr sz="36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73BA03D9-615E-4578-A5E0-A86F912B900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accent1"/>
                </a:solidFill>
              </a:defRPr>
            </a:lvl1pPr>
            <a:lvl2pPr>
              <a:buNone/>
              <a:defRPr>
                <a:solidFill>
                  <a:schemeClr val="accent1"/>
                </a:solidFill>
              </a:defRPr>
            </a:lvl2pPr>
            <a:lvl3pPr>
              <a:buNone/>
              <a:defRPr>
                <a:solidFill>
                  <a:schemeClr val="accent1"/>
                </a:solidFill>
              </a:defRPr>
            </a:lvl3pPr>
            <a:lvl4pPr>
              <a:buNone/>
              <a:defRPr>
                <a:solidFill>
                  <a:schemeClr val="accent1"/>
                </a:solidFill>
              </a:defRPr>
            </a:lvl4pPr>
            <a:lvl5pPr>
              <a:buNone/>
              <a:defRPr>
                <a:solidFill>
                  <a:schemeClr val="accent1"/>
                </a:solidFill>
              </a:defRPr>
            </a:lvl5pPr>
            <a:lvl6pPr>
              <a:buNone/>
              <a:defRPr>
                <a:solidFill>
                  <a:schemeClr val="accent1"/>
                </a:solidFill>
              </a:defRPr>
            </a:lvl6pPr>
            <a:lvl7pPr>
              <a:buNone/>
              <a:defRPr>
                <a:solidFill>
                  <a:schemeClr val="accent1"/>
                </a:solidFill>
              </a:defRPr>
            </a:lvl7pPr>
            <a:lvl8pPr>
              <a:buNone/>
              <a:defRPr>
                <a:solidFill>
                  <a:schemeClr val="accent1"/>
                </a:solidFill>
              </a:defRPr>
            </a:lvl8pPr>
            <a:lvl9pPr>
              <a:buNone/>
              <a:defRPr>
                <a:solidFill>
                  <a:schemeClr val="accen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20" name="Google Shape;20;p4">
            <a:extLst xmlns:a="http://schemas.openxmlformats.org/drawingml/2006/main">
              <a:ext uri="{FF2B5EF4-FFF2-40B4-BE49-F238E27FC236}">
                <a16:creationId xmlns:a16="http://schemas.microsoft.com/office/drawing/2014/main" id="{C615B7EE-0851-41AA-880E-F075FF0CA761}"/>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 name="Google Shape;21;p4">
            <a:extLst xmlns:a="http://schemas.openxmlformats.org/drawingml/2006/main">
              <a:ext uri="{FF2B5EF4-FFF2-40B4-BE49-F238E27FC236}">
                <a16:creationId xmlns:a16="http://schemas.microsoft.com/office/drawing/2014/main" id="{44D37B01-E0D6-4C2E-AE4C-E85217E039EF}"/>
              </a:ext>
            </a:extLst>
          </p:cNvPr>
          <p:cNvSpPr>
            <a:spLocks xmlns:a="http://schemas.openxmlformats.org/drawingml/2006/main" noGrp="1"/>
          </p:cNvSpPr>
          <p:nvPr/>
        </p:nvSpPr>
        <p:spPr>
          <a:xfrm xmlns:a="http://schemas.openxmlformats.org/drawingml/2006/main">
            <a:off x="0" y="44125"/>
            <a:ext cx="4313625" cy="4399375"/>
          </a:xfrm>
          <a:custGeom xmlns:a="http://schemas.openxmlformats.org/drawingml/2006/main">
            <a:rect l="l" t="t" r="r" b="b"/>
            <a:pathLst>
              <a:path w="172545" h="175975">
                <a:moveTo>
                  <a:pt x="0" y="157"/>
                </a:moveTo>
                <a:lnTo>
                  <a:pt x="172419" y="0"/>
                </a:lnTo>
                <a:lnTo>
                  <a:pt x="172545" y="126541"/>
                </a:lnTo>
                <a:lnTo>
                  <a:pt x="0" y="175975"/>
                </a:lnTo>
                <a:close/>
              </a:path>
            </a:pathLst>
          </a:custGeom>
          <a:solidFill xmlns:a="http://schemas.openxmlformats.org/drawingml/2006/main">
            <a:schemeClr val="accent2"/>
          </a:solidFill>
          <a:ln xmlns:a="http://schemas.openxmlformats.org/drawingml/2006/main">
            <a:noFill/>
          </a:ln>
        </p:spPr>
      </p:sp>
      <p:sp>
        <p:nvSpPr>
          <p:cNvPr id="22" name="Google Shape;22;p4">
            <a:extLst xmlns:a="http://schemas.openxmlformats.org/drawingml/2006/main">
              <a:ext uri="{FF2B5EF4-FFF2-40B4-BE49-F238E27FC236}">
                <a16:creationId xmlns:a16="http://schemas.microsoft.com/office/drawing/2014/main" id="{1673F550-1F03-4807-ADF7-0CCA86BB07DD}"/>
              </a:ext>
            </a:extLst>
          </p:cNvPr>
          <p:cNvSpPr>
            <a:spLocks xmlns:a="http://schemas.openxmlformats.org/drawingml/2006/main" noGrp="1"/>
          </p:cNvSpPr>
          <p:nvPr/>
        </p:nvSpPr>
        <p:spPr>
          <a:xfrm xmlns:a="http://schemas.openxmlformats.org/drawingml/2006/main">
            <a:off x="-125" y="0"/>
            <a:ext cx="4316900" cy="4395600"/>
          </a:xfrm>
          <a:custGeom xmlns:a="http://schemas.openxmlformats.org/drawingml/2006/main">
            <a:rect l="l" t="t" r="r" b="b"/>
            <a:pathLst>
              <a:path w="172676" h="175824">
                <a:moveTo>
                  <a:pt x="0" y="6"/>
                </a:moveTo>
                <a:lnTo>
                  <a:pt x="172676" y="0"/>
                </a:lnTo>
                <a:lnTo>
                  <a:pt x="172562" y="126442"/>
                </a:lnTo>
                <a:lnTo>
                  <a:pt x="0" y="175824"/>
                </a:lnTo>
                <a:close/>
              </a:path>
            </a:pathLst>
          </a:custGeom>
          <a:solidFill xmlns:a="http://schemas.openxmlformats.org/drawingml/2006/main">
            <a:schemeClr val="dk1"/>
          </a:solidFill>
          <a:ln xmlns:a="http://schemas.openxmlformats.org/drawingml/2006/main">
            <a:noFill/>
          </a:ln>
        </p:spPr>
      </p:sp>
      <p:sp>
        <p:nvSpPr>
          <p:cNvPr id="23" name="Google Shape;23;p4">
            <a:extLst xmlns:a="http://schemas.openxmlformats.org/drawingml/2006/main">
              <a:ext uri="{FF2B5EF4-FFF2-40B4-BE49-F238E27FC236}">
                <a16:creationId xmlns:a16="http://schemas.microsoft.com/office/drawing/2014/main" id="{06CE664B-7E37-4F91-8A8F-48BFA1520C06}"/>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673CE5B4-C45C-427A-B215-581B8E3BCB4E}"/>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D0531111-884A-4D53-96EB-3B9F22D55BA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7" name="Google Shape;27;p5">
            <a:extLst xmlns:a="http://schemas.openxmlformats.org/drawingml/2006/main">
              <a:ext uri="{FF2B5EF4-FFF2-40B4-BE49-F238E27FC236}">
                <a16:creationId xmlns:a16="http://schemas.microsoft.com/office/drawing/2014/main" id="{370CC1DA-3A05-40F1-B710-5F8F675E6A28}"/>
              </a:ext>
            </a:extLst>
          </p:cNvPr>
          <p:cNvSpPr>
            <a:spLocks xmlns:a="http://schemas.openxmlformats.org/drawingml/2006/main" noGrp="1"/>
          </p:cNvSpPr>
          <p:nvPr/>
        </p:nvSpPr>
        <p:spPr>
          <a:xfrm xmlns:a="http://schemas.openxmlformats.org/drawingml/2006/main">
            <a:off x="0" y="0"/>
            <a:ext cx="9144000" cy="12771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 name="Google Shape;28;p5">
            <a:extLst xmlns:a="http://schemas.openxmlformats.org/drawingml/2006/main">
              <a:ext uri="{FF2B5EF4-FFF2-40B4-BE49-F238E27FC236}">
                <a16:creationId xmlns:a16="http://schemas.microsoft.com/office/drawing/2014/main" id="{9157C7DB-1B66-421E-A699-163449034552}"/>
              </a:ext>
            </a:extLst>
          </p:cNvPr>
          <p:cNvSpPr>
            <a:spLocks xmlns:a="http://schemas.openxmlformats.org/drawingml/2006/main" noGrp="1"/>
          </p:cNvSpPr>
          <p:nvPr>
            <p:ph type="title" idx="0"/>
          </p:nvPr>
        </p:nvSpPr>
        <p:spPr>
          <a:xfrm xmlns:a="http://schemas.openxmlformats.org/drawingml/2006/main">
            <a:off x="311725" y="500925"/>
            <a:ext cx="8520600" cy="623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94E1E672-2E0F-4A2D-9BB4-CD04E2F95BD0}"/>
              </a:ext>
            </a:extLst>
          </p:cNvPr>
          <p:cNvSpPr>
            <a:spLocks xmlns:a="http://schemas.openxmlformats.org/drawingml/2006/main" noGrp="1"/>
          </p:cNvSpPr>
          <p:nvPr>
            <p:ph type="body" idx="1"/>
          </p:nvPr>
        </p:nvSpPr>
        <p:spPr>
          <a:xfrm xmlns:a="http://schemas.openxmlformats.org/drawingml/2006/main">
            <a:off x="311700" y="1505700"/>
            <a:ext cx="3999900" cy="3076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DEBA30DA-8145-4A6B-9838-33A6B3A8FD70}"/>
              </a:ext>
            </a:extLst>
          </p:cNvPr>
          <p:cNvSpPr>
            <a:spLocks xmlns:a="http://schemas.openxmlformats.org/drawingml/2006/main" noGrp="1"/>
          </p:cNvSpPr>
          <p:nvPr>
            <p:ph type="body" idx="2"/>
          </p:nvPr>
        </p:nvSpPr>
        <p:spPr>
          <a:xfrm xmlns:a="http://schemas.openxmlformats.org/drawingml/2006/main">
            <a:off x="4832400" y="1505700"/>
            <a:ext cx="3999900" cy="3076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40E45058-ED05-449B-BEA8-8DBDB445CCB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3" name="Google Shape;33;p6">
            <a:extLst xmlns:a="http://schemas.openxmlformats.org/drawingml/2006/main">
              <a:ext uri="{FF2B5EF4-FFF2-40B4-BE49-F238E27FC236}">
                <a16:creationId xmlns:a16="http://schemas.microsoft.com/office/drawing/2014/main" id="{6F586253-313C-4ACA-A23F-99CBB3D57E53}"/>
              </a:ext>
            </a:extLst>
          </p:cNvPr>
          <p:cNvSpPr>
            <a:spLocks xmlns:a="http://schemas.openxmlformats.org/drawingml/2006/main" noGrp="1"/>
          </p:cNvSpPr>
          <p:nvPr/>
        </p:nvSpPr>
        <p:spPr>
          <a:xfrm xmlns:a="http://schemas.openxmlformats.org/drawingml/2006/main">
            <a:off x="0" y="0"/>
            <a:ext cx="9144000" cy="12771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4" name="Google Shape;34;p6">
            <a:extLst xmlns:a="http://schemas.openxmlformats.org/drawingml/2006/main">
              <a:ext uri="{FF2B5EF4-FFF2-40B4-BE49-F238E27FC236}">
                <a16:creationId xmlns:a16="http://schemas.microsoft.com/office/drawing/2014/main" id="{913AC106-3B3A-4BC2-B4C9-2AACA0AE4FF4}"/>
              </a:ext>
            </a:extLst>
          </p:cNvPr>
          <p:cNvSpPr>
            <a:spLocks xmlns:a="http://schemas.openxmlformats.org/drawingml/2006/main" noGrp="1"/>
          </p:cNvSpPr>
          <p:nvPr>
            <p:ph type="title" idx="0"/>
          </p:nvPr>
        </p:nvSpPr>
        <p:spPr>
          <a:xfrm xmlns:a="http://schemas.openxmlformats.org/drawingml/2006/main">
            <a:off x="311725" y="500925"/>
            <a:ext cx="8520600" cy="623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B30DE031-2642-46E3-B1AE-2C38CC49ED2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37" name="Google Shape;37;p7">
            <a:extLst xmlns:a="http://schemas.openxmlformats.org/drawingml/2006/main">
              <a:ext uri="{FF2B5EF4-FFF2-40B4-BE49-F238E27FC236}">
                <a16:creationId xmlns:a16="http://schemas.microsoft.com/office/drawing/2014/main" id="{8E712578-9B21-4D2D-B5F2-1084DC8A3495}"/>
              </a:ext>
            </a:extLst>
          </p:cNvPr>
          <p:cNvSpPr>
            <a:spLocks xmlns:a="http://schemas.openxmlformats.org/drawingml/2006/main" noGrp="1"/>
          </p:cNvSpPr>
          <p:nvPr/>
        </p:nvSpPr>
        <p:spPr>
          <a:xfrm xmlns:a="http://schemas.openxmlformats.org/drawingml/2006/main">
            <a:off x="0" y="0"/>
            <a:ext cx="3764400" cy="51435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38" name="Google Shape;38;p7">
            <a:extLst xmlns:a="http://schemas.openxmlformats.org/drawingml/2006/main">
              <a:ext uri="{FF2B5EF4-FFF2-40B4-BE49-F238E27FC236}">
                <a16:creationId xmlns:a16="http://schemas.microsoft.com/office/drawing/2014/main" id="{D9B67DAE-FC14-4922-A52A-356877CC65E1}"/>
              </a:ext>
            </a:extLst>
          </p:cNvPr>
          <p:cNvSpPr>
            <a:spLocks xmlns:a="http://schemas.openxmlformats.org/drawingml/2006/main" noGrp="1"/>
          </p:cNvSpPr>
          <p:nvPr>
            <p:ph type="title" idx="0"/>
          </p:nvPr>
        </p:nvSpPr>
        <p:spPr>
          <a:xfrm xmlns:a="http://schemas.openxmlformats.org/drawingml/2006/main">
            <a:off x="311725" y="500925"/>
            <a:ext cx="3127500" cy="1829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39" name="Google Shape;39;p7">
            <a:extLst xmlns:a="http://schemas.openxmlformats.org/drawingml/2006/main">
              <a:ext uri="{FF2B5EF4-FFF2-40B4-BE49-F238E27FC236}">
                <a16:creationId xmlns:a16="http://schemas.microsoft.com/office/drawing/2014/main" id="{E0E5665E-9984-4498-A7F1-D8C4968F6EA4}"/>
              </a:ext>
            </a:extLst>
          </p:cNvPr>
          <p:cNvSpPr>
            <a:spLocks xmlns:a="http://schemas.openxmlformats.org/drawingml/2006/main" noGrp="1"/>
          </p:cNvSpPr>
          <p:nvPr>
            <p:ph type="body" idx="1"/>
          </p:nvPr>
        </p:nvSpPr>
        <p:spPr>
          <a:xfrm xmlns:a="http://schemas.openxmlformats.org/drawingml/2006/main">
            <a:off x="311700" y="2390650"/>
            <a:ext cx="3127500" cy="22980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Clr>
                <a:schemeClr val="accent2"/>
              </a:buClr>
              <a:buSzPts val="1300"/>
              <a:buChar char="●"/>
              <a:defRPr>
                <a:solidFill>
                  <a:schemeClr val="accent2"/>
                </a:solidFill>
              </a:defRPr>
            </a:lvl1pPr>
            <a:lvl2pPr marL="914400" indent="-298450">
              <a:spcBef>
                <a:spcPts val="0"/>
              </a:spcBef>
              <a:spcAft>
                <a:spcPts val="0"/>
              </a:spcAft>
              <a:buClr>
                <a:schemeClr val="accent2"/>
              </a:buClr>
              <a:buSzPts val="1100"/>
              <a:buChar char="○"/>
              <a:defRPr>
                <a:solidFill>
                  <a:schemeClr val="accent2"/>
                </a:solidFill>
              </a:defRPr>
            </a:lvl2pPr>
            <a:lvl3pPr marL="1371600" indent="-298450">
              <a:spcBef>
                <a:spcPts val="0"/>
              </a:spcBef>
              <a:spcAft>
                <a:spcPts val="0"/>
              </a:spcAft>
              <a:buClr>
                <a:schemeClr val="accent2"/>
              </a:buClr>
              <a:buSzPts val="1100"/>
              <a:buChar char="■"/>
              <a:defRPr>
                <a:solidFill>
                  <a:schemeClr val="accent2"/>
                </a:solidFill>
              </a:defRPr>
            </a:lvl3pPr>
            <a:lvl4pPr marL="1828800" indent="-298450">
              <a:spcBef>
                <a:spcPts val="0"/>
              </a:spcBef>
              <a:spcAft>
                <a:spcPts val="0"/>
              </a:spcAft>
              <a:buClr>
                <a:schemeClr val="accent2"/>
              </a:buClr>
              <a:buSzPts val="1100"/>
              <a:buChar char="●"/>
              <a:defRPr>
                <a:solidFill>
                  <a:schemeClr val="accent2"/>
                </a:solidFill>
              </a:defRPr>
            </a:lvl4pPr>
            <a:lvl5pPr marL="2286000" indent="-298450">
              <a:spcBef>
                <a:spcPts val="0"/>
              </a:spcBef>
              <a:spcAft>
                <a:spcPts val="0"/>
              </a:spcAft>
              <a:buClr>
                <a:schemeClr val="accent2"/>
              </a:buClr>
              <a:buSzPts val="1100"/>
              <a:buChar char="○"/>
              <a:defRPr>
                <a:solidFill>
                  <a:schemeClr val="accent2"/>
                </a:solidFill>
              </a:defRPr>
            </a:lvl5pPr>
            <a:lvl6pPr marL="2743200" indent="-298450">
              <a:spcBef>
                <a:spcPts val="0"/>
              </a:spcBef>
              <a:spcAft>
                <a:spcPts val="0"/>
              </a:spcAft>
              <a:buClr>
                <a:schemeClr val="accent2"/>
              </a:buClr>
              <a:buSzPts val="1100"/>
              <a:buChar char="■"/>
              <a:defRPr>
                <a:solidFill>
                  <a:schemeClr val="accent2"/>
                </a:solidFill>
              </a:defRPr>
            </a:lvl6pPr>
            <a:lvl7pPr marL="3200400" indent="-298450">
              <a:spcBef>
                <a:spcPts val="0"/>
              </a:spcBef>
              <a:spcAft>
                <a:spcPts val="0"/>
              </a:spcAft>
              <a:buClr>
                <a:schemeClr val="accent2"/>
              </a:buClr>
              <a:buSzPts val="1100"/>
              <a:buChar char="●"/>
              <a:defRPr>
                <a:solidFill>
                  <a:schemeClr val="accent2"/>
                </a:solidFill>
              </a:defRPr>
            </a:lvl7pPr>
            <a:lvl8pPr marL="3657600" indent="-298450">
              <a:spcBef>
                <a:spcPts val="0"/>
              </a:spcBef>
              <a:spcAft>
                <a:spcPts val="0"/>
              </a:spcAft>
              <a:buClr>
                <a:schemeClr val="accent2"/>
              </a:buClr>
              <a:buSzPts val="1100"/>
              <a:buChar char="○"/>
              <a:defRPr>
                <a:solidFill>
                  <a:schemeClr val="accent2"/>
                </a:solidFill>
              </a:defRPr>
            </a:lvl8pPr>
            <a:lvl9pPr marL="4114800" indent="-298450">
              <a:spcBef>
                <a:spcPts val="0"/>
              </a:spcBef>
              <a:spcAft>
                <a:spcPts val="0"/>
              </a:spcAft>
              <a:buClr>
                <a:schemeClr val="accent2"/>
              </a:buClr>
              <a:buSzPts val="1100"/>
              <a:buChar char="■"/>
              <a:defRPr>
                <a:solidFill>
                  <a:schemeClr val="accent2"/>
                </a:solidFill>
              </a:defRPr>
            </a:lvl9pPr>
          </a:lstStyle>
          <a:p xmlns:a="http://schemas.openxmlformats.org/drawingml/2006/main"/>
        </p:txBody>
      </p:sp>
      <p:sp>
        <p:nvSpPr>
          <p:cNvPr id="40" name="Google Shape;40;p7">
            <a:extLst xmlns:a="http://schemas.openxmlformats.org/drawingml/2006/main">
              <a:ext uri="{FF2B5EF4-FFF2-40B4-BE49-F238E27FC236}">
                <a16:creationId xmlns:a16="http://schemas.microsoft.com/office/drawing/2014/main" id="{A6C8BEE5-B71D-4082-BBBF-BBD609A1E95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7.xml><?xml version="1.0" encoding="utf-8"?>
<p:sldLayout xmlns:p="http://schemas.openxmlformats.org/presentationml/2006/main" matchingName="Main point">
  <p:cSld name="MAIN_POINT">
    <p:bg>
      <p:bgPr>
        <a:solidFill xmlns:a="http://schemas.openxmlformats.org/drawingml/2006/main">
          <a:schemeClr val="accent3"/>
        </a:solidFill>
      </p:bgPr>
    </p:bg>
    <p:spTree>
      <p:nvGrpSpPr>
        <p:cNvPr id="1" name=""/>
        <p:cNvGrpSpPr/>
        <p:nvPr/>
      </p:nvGrpSpPr>
      <p:grpSpPr>
        <a:xfrm xmlns:a="http://schemas.openxmlformats.org/drawingml/2006/main"/>
      </p:grpSpPr>
      <p:sp>
        <p:nvSpPr>
          <p:cNvPr id="42" name="Google Shape;42;p8">
            <a:extLst xmlns:a="http://schemas.openxmlformats.org/drawingml/2006/main">
              <a:ext uri="{FF2B5EF4-FFF2-40B4-BE49-F238E27FC236}">
                <a16:creationId xmlns:a16="http://schemas.microsoft.com/office/drawing/2014/main" id="{1A02BF4B-A0E4-4F72-ACE6-960D0E949A04}"/>
              </a:ext>
            </a:extLst>
          </p:cNvPr>
          <p:cNvSpPr>
            <a:spLocks xmlns:a="http://schemas.openxmlformats.org/drawingml/2006/main" noGrp="1"/>
          </p:cNvSpPr>
          <p:nvPr>
            <p:ph type="title" idx="0"/>
          </p:nvPr>
        </p:nvSpPr>
        <p:spPr>
          <a:xfrm xmlns:a="http://schemas.openxmlformats.org/drawingml/2006/main">
            <a:off x="311675" y="798600"/>
            <a:ext cx="6247800" cy="35463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3600"/>
              <a:buNone/>
              <a:defRPr sz="36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xmlns:a="http://schemas.openxmlformats.org/drawingml/2006/main"/>
        </p:txBody>
      </p:sp>
      <p:sp>
        <p:nvSpPr>
          <p:cNvPr id="43" name="Google Shape;43;p8">
            <a:extLst xmlns:a="http://schemas.openxmlformats.org/drawingml/2006/main">
              <a:ext uri="{FF2B5EF4-FFF2-40B4-BE49-F238E27FC236}">
                <a16:creationId xmlns:a16="http://schemas.microsoft.com/office/drawing/2014/main" id="{768F68C5-17E0-439F-BBE4-22FEE9448B6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accent1"/>
                </a:solidFill>
              </a:defRPr>
            </a:lvl1pPr>
            <a:lvl2pPr>
              <a:buNone/>
              <a:defRPr>
                <a:solidFill>
                  <a:schemeClr val="accent1"/>
                </a:solidFill>
              </a:defRPr>
            </a:lvl2pPr>
            <a:lvl3pPr>
              <a:buNone/>
              <a:defRPr>
                <a:solidFill>
                  <a:schemeClr val="accent1"/>
                </a:solidFill>
              </a:defRPr>
            </a:lvl3pPr>
            <a:lvl4pPr>
              <a:buNone/>
              <a:defRPr>
                <a:solidFill>
                  <a:schemeClr val="accent1"/>
                </a:solidFill>
              </a:defRPr>
            </a:lvl4pPr>
            <a:lvl5pPr>
              <a:buNone/>
              <a:defRPr>
                <a:solidFill>
                  <a:schemeClr val="accent1"/>
                </a:solidFill>
              </a:defRPr>
            </a:lvl5pPr>
            <a:lvl6pPr>
              <a:buNone/>
              <a:defRPr>
                <a:solidFill>
                  <a:schemeClr val="accent1"/>
                </a:solidFill>
              </a:defRPr>
            </a:lvl6pPr>
            <a:lvl7pPr>
              <a:buNone/>
              <a:defRPr>
                <a:solidFill>
                  <a:schemeClr val="accent1"/>
                </a:solidFill>
              </a:defRPr>
            </a:lvl7pPr>
            <a:lvl8pPr>
              <a:buNone/>
              <a:defRPr>
                <a:solidFill>
                  <a:schemeClr val="accent1"/>
                </a:solidFill>
              </a:defRPr>
            </a:lvl8pPr>
            <a:lvl9pPr>
              <a:buNone/>
              <a:defRPr>
                <a:solidFill>
                  <a:schemeClr val="accen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45" name="Google Shape;45;p9">
            <a:extLst xmlns:a="http://schemas.openxmlformats.org/drawingml/2006/main">
              <a:ext uri="{FF2B5EF4-FFF2-40B4-BE49-F238E27FC236}">
                <a16:creationId xmlns:a16="http://schemas.microsoft.com/office/drawing/2014/main" id="{7CA98EAB-DB43-4C53-A966-B0769831163C}"/>
              </a:ext>
            </a:extLst>
          </p:cNvPr>
          <p:cNvSpPr>
            <a:spLocks xmlns:a="http://schemas.openxmlformats.org/drawingml/2006/main" noGrp="1"/>
          </p:cNvSpPr>
          <p:nvPr/>
        </p:nvSpPr>
        <p:spPr>
          <a:xfrm xmlns:a="http://schemas.openxmlformats.org/drawingml/2006/main">
            <a:off x="0" y="0"/>
            <a:ext cx="4572000" cy="51435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46" name="Google Shape;46;p9">
            <a:extLst xmlns:a="http://schemas.openxmlformats.org/drawingml/2006/main">
              <a:ext uri="{FF2B5EF4-FFF2-40B4-BE49-F238E27FC236}">
                <a16:creationId xmlns:a16="http://schemas.microsoft.com/office/drawing/2014/main" id="{4C3E8FDD-481E-4C7D-AFF1-743F841F589B}"/>
              </a:ext>
            </a:extLst>
          </p:cNvPr>
          <p:cNvSpPr>
            <a:spLocks xmlns:a="http://schemas.openxmlformats.org/drawingml/2006/main" noGrp="1"/>
          </p:cNvSpPr>
          <p:nvPr>
            <p:ph type="title" idx="0"/>
          </p:nvPr>
        </p:nvSpPr>
        <p:spPr>
          <a:xfrm xmlns:a="http://schemas.openxmlformats.org/drawingml/2006/main">
            <a:off x="311300" y="500925"/>
            <a:ext cx="3704400" cy="2049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47" name="Google Shape;47;p9">
            <a:extLst xmlns:a="http://schemas.openxmlformats.org/drawingml/2006/main">
              <a:ext uri="{FF2B5EF4-FFF2-40B4-BE49-F238E27FC236}">
                <a16:creationId xmlns:a16="http://schemas.microsoft.com/office/drawing/2014/main" id="{80E34C1A-DC3E-4844-A717-7B6F5375FE89}"/>
              </a:ext>
            </a:extLst>
          </p:cNvPr>
          <p:cNvSpPr>
            <a:spLocks xmlns:a="http://schemas.openxmlformats.org/drawingml/2006/main" noGrp="1"/>
          </p:cNvSpPr>
          <p:nvPr>
            <p:ph type="subTitle" idx="1"/>
          </p:nvPr>
        </p:nvSpPr>
        <p:spPr>
          <a:xfrm xmlns:a="http://schemas.openxmlformats.org/drawingml/2006/main">
            <a:off x="304800" y="2626725"/>
            <a:ext cx="3704400" cy="926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nSpc>
                <a:spcPct val="100000"/>
              </a:lnSpc>
              <a:spcBef>
                <a:spcPts val="0"/>
              </a:spcBef>
              <a:spcAft>
                <a:spcPts val="0"/>
              </a:spcAft>
              <a:buClr>
                <a:schemeClr val="accent2"/>
              </a:buClr>
              <a:buSzPts val="1600"/>
              <a:buNone/>
              <a:defRPr sz="1600">
                <a:solidFill>
                  <a:schemeClr val="accent2"/>
                </a:solidFill>
              </a:defRPr>
            </a:lvl1pPr>
            <a:lvl2pPr>
              <a:lnSpc>
                <a:spcPct val="100000"/>
              </a:lnSpc>
              <a:spcBef>
                <a:spcPts val="0"/>
              </a:spcBef>
              <a:spcAft>
                <a:spcPts val="0"/>
              </a:spcAft>
              <a:buClr>
                <a:schemeClr val="accent2"/>
              </a:buClr>
              <a:buSzPts val="1600"/>
              <a:buNone/>
              <a:defRPr sz="1600">
                <a:solidFill>
                  <a:schemeClr val="accent2"/>
                </a:solidFill>
              </a:defRPr>
            </a:lvl2pPr>
            <a:lvl3pPr>
              <a:lnSpc>
                <a:spcPct val="100000"/>
              </a:lnSpc>
              <a:spcBef>
                <a:spcPts val="0"/>
              </a:spcBef>
              <a:spcAft>
                <a:spcPts val="0"/>
              </a:spcAft>
              <a:buClr>
                <a:schemeClr val="accent2"/>
              </a:buClr>
              <a:buSzPts val="1600"/>
              <a:buNone/>
              <a:defRPr sz="1600">
                <a:solidFill>
                  <a:schemeClr val="accent2"/>
                </a:solidFill>
              </a:defRPr>
            </a:lvl3pPr>
            <a:lvl4pPr>
              <a:lnSpc>
                <a:spcPct val="100000"/>
              </a:lnSpc>
              <a:spcBef>
                <a:spcPts val="0"/>
              </a:spcBef>
              <a:spcAft>
                <a:spcPts val="0"/>
              </a:spcAft>
              <a:buClr>
                <a:schemeClr val="accent2"/>
              </a:buClr>
              <a:buSzPts val="1600"/>
              <a:buNone/>
              <a:defRPr sz="1600">
                <a:solidFill>
                  <a:schemeClr val="accent2"/>
                </a:solidFill>
              </a:defRPr>
            </a:lvl4pPr>
            <a:lvl5pPr>
              <a:lnSpc>
                <a:spcPct val="100000"/>
              </a:lnSpc>
              <a:spcBef>
                <a:spcPts val="0"/>
              </a:spcBef>
              <a:spcAft>
                <a:spcPts val="0"/>
              </a:spcAft>
              <a:buClr>
                <a:schemeClr val="accent2"/>
              </a:buClr>
              <a:buSzPts val="1600"/>
              <a:buNone/>
              <a:defRPr sz="1600">
                <a:solidFill>
                  <a:schemeClr val="accent2"/>
                </a:solidFill>
              </a:defRPr>
            </a:lvl5pPr>
            <a:lvl6pPr>
              <a:lnSpc>
                <a:spcPct val="100000"/>
              </a:lnSpc>
              <a:spcBef>
                <a:spcPts val="0"/>
              </a:spcBef>
              <a:spcAft>
                <a:spcPts val="0"/>
              </a:spcAft>
              <a:buClr>
                <a:schemeClr val="accent2"/>
              </a:buClr>
              <a:buSzPts val="1600"/>
              <a:buNone/>
              <a:defRPr sz="1600">
                <a:solidFill>
                  <a:schemeClr val="accent2"/>
                </a:solidFill>
              </a:defRPr>
            </a:lvl6pPr>
            <a:lvl7pPr>
              <a:lnSpc>
                <a:spcPct val="100000"/>
              </a:lnSpc>
              <a:spcBef>
                <a:spcPts val="0"/>
              </a:spcBef>
              <a:spcAft>
                <a:spcPts val="0"/>
              </a:spcAft>
              <a:buClr>
                <a:schemeClr val="accent2"/>
              </a:buClr>
              <a:buSzPts val="1600"/>
              <a:buNone/>
              <a:defRPr sz="1600">
                <a:solidFill>
                  <a:schemeClr val="accent2"/>
                </a:solidFill>
              </a:defRPr>
            </a:lvl7pPr>
            <a:lvl8pPr>
              <a:lnSpc>
                <a:spcPct val="100000"/>
              </a:lnSpc>
              <a:spcBef>
                <a:spcPts val="0"/>
              </a:spcBef>
              <a:spcAft>
                <a:spcPts val="0"/>
              </a:spcAft>
              <a:buClr>
                <a:schemeClr val="accent2"/>
              </a:buClr>
              <a:buSzPts val="1600"/>
              <a:buNone/>
              <a:defRPr sz="1600">
                <a:solidFill>
                  <a:schemeClr val="accent2"/>
                </a:solidFill>
              </a:defRPr>
            </a:lvl8pPr>
            <a:lvl9pPr>
              <a:lnSpc>
                <a:spcPct val="100000"/>
              </a:lnSpc>
              <a:spcBef>
                <a:spcPts val="0"/>
              </a:spcBef>
              <a:spcAft>
                <a:spcPts val="0"/>
              </a:spcAft>
              <a:buClr>
                <a:schemeClr val="accent2"/>
              </a:buClr>
              <a:buSzPts val="1600"/>
              <a:buNone/>
              <a:defRPr sz="1600">
                <a:solidFill>
                  <a:schemeClr val="accent2"/>
                </a:solidFill>
              </a:defRPr>
            </a:lvl9pPr>
          </a:lstStyle>
          <a:p xmlns:a="http://schemas.openxmlformats.org/drawingml/2006/main"/>
        </p:txBody>
      </p:sp>
      <p:sp>
        <p:nvSpPr>
          <p:cNvPr id="48" name="Google Shape;48;p9">
            <a:extLst xmlns:a="http://schemas.openxmlformats.org/drawingml/2006/main">
              <a:ext uri="{FF2B5EF4-FFF2-40B4-BE49-F238E27FC236}">
                <a16:creationId xmlns:a16="http://schemas.microsoft.com/office/drawing/2014/main" id="{51582F3B-EBB2-4DD5-859B-312249C4173F}"/>
              </a:ext>
            </a:extLst>
          </p:cNvPr>
          <p:cNvSpPr>
            <a:spLocks xmlns:a="http://schemas.openxmlformats.org/drawingml/2006/main" noGrp="1"/>
          </p:cNvSpPr>
          <p:nvPr>
            <p:ph type="body" idx="2"/>
          </p:nvPr>
        </p:nvSpPr>
        <p:spPr>
          <a:xfrm xmlns:a="http://schemas.openxmlformats.org/drawingml/2006/main">
            <a:off x="4879025" y="500925"/>
            <a:ext cx="3954000" cy="41115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49" name="Google Shape;49;p9">
            <a:extLst xmlns:a="http://schemas.openxmlformats.org/drawingml/2006/main">
              <a:ext uri="{FF2B5EF4-FFF2-40B4-BE49-F238E27FC236}">
                <a16:creationId xmlns:a16="http://schemas.microsoft.com/office/drawing/2014/main" id="{DE2F9BFC-1AD3-4255-9DCE-0667D0A9DE8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51" name="Google Shape;51;p10">
            <a:extLst xmlns:a="http://schemas.openxmlformats.org/drawingml/2006/main">
              <a:ext uri="{FF2B5EF4-FFF2-40B4-BE49-F238E27FC236}">
                <a16:creationId xmlns:a16="http://schemas.microsoft.com/office/drawing/2014/main" id="{4FBF91C9-AF3A-4CF5-80EF-65957F7F161C}"/>
              </a:ext>
            </a:extLst>
          </p:cNvPr>
          <p:cNvSpPr>
            <a:spLocks xmlns:a="http://schemas.openxmlformats.org/drawingml/2006/main" noGrp="1"/>
          </p:cNvSpPr>
          <p:nvPr/>
        </p:nvSpPr>
        <p:spPr>
          <a:xfrm xmlns:a="http://schemas.openxmlformats.org/drawingml/2006/main">
            <a:off x="0" y="4369000"/>
            <a:ext cx="9144000" cy="7743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52" name="Google Shape;52;p10">
            <a:extLst xmlns:a="http://schemas.openxmlformats.org/drawingml/2006/main">
              <a:ext uri="{FF2B5EF4-FFF2-40B4-BE49-F238E27FC236}">
                <a16:creationId xmlns:a16="http://schemas.microsoft.com/office/drawing/2014/main" id="{AC8BB711-FF42-47C9-9ACF-E1F05AACB36C}"/>
              </a:ext>
            </a:extLst>
          </p:cNvPr>
          <p:cNvSpPr>
            <a:spLocks xmlns:a="http://schemas.openxmlformats.org/drawingml/2006/main" noGrp="1"/>
          </p:cNvSpPr>
          <p:nvPr>
            <p:ph type="body" idx="1"/>
          </p:nvPr>
        </p:nvSpPr>
        <p:spPr>
          <a:xfrm xmlns:a="http://schemas.openxmlformats.org/drawingml/2006/main">
            <a:off x="311700" y="4521400"/>
            <a:ext cx="7979400" cy="4605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defRPr>
            </a:lvl1pPr>
          </a:lstStyle>
          <a:p xmlns:a="http://schemas.openxmlformats.org/drawingml/2006/main"/>
        </p:txBody>
      </p:sp>
      <p:sp>
        <p:nvSpPr>
          <p:cNvPr id="53" name="Google Shape;53;p10">
            <a:extLst xmlns:a="http://schemas.openxmlformats.org/drawingml/2006/main">
              <a:ext uri="{FF2B5EF4-FFF2-40B4-BE49-F238E27FC236}">
                <a16:creationId xmlns:a16="http://schemas.microsoft.com/office/drawing/2014/main" id="{78F9EE19-07F2-49F9-A091-80DAD066576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0.xml><?xml version="1.0" encoding="utf-8"?>
<p:sldLayout xmlns:p="http://schemas.openxmlformats.org/presentationml/2006/main" matchingName="Big number">
  <p:cSld name="BIG_NUMBER">
    <p:bg>
      <p:bgPr>
        <a:solidFill xmlns:a="http://schemas.openxmlformats.org/drawingml/2006/main">
          <a:schemeClr val="dk1"/>
        </a:solidFill>
      </p:bgPr>
    </p:bg>
    <p:spTree>
      <p:nvGrpSpPr>
        <p:cNvPr id="1" name=""/>
        <p:cNvGrpSpPr/>
        <p:nvPr/>
      </p:nvGrpSpPr>
      <p:grpSpPr>
        <a:xfrm xmlns:a="http://schemas.openxmlformats.org/drawingml/2006/main"/>
      </p:grpSpPr>
      <p:sp>
        <p:nvSpPr>
          <p:cNvPr id="55" name="Google Shape;55;p11">
            <a:extLst xmlns:a="http://schemas.openxmlformats.org/drawingml/2006/main">
              <a:ext uri="{FF2B5EF4-FFF2-40B4-BE49-F238E27FC236}">
                <a16:creationId xmlns:a16="http://schemas.microsoft.com/office/drawing/2014/main" id="{010AA15C-5720-4A89-A57C-3786CDE5D91A}"/>
              </a:ext>
            </a:extLst>
          </p:cNvPr>
          <p:cNvSpPr>
            <a:spLocks xmlns:a="http://schemas.openxmlformats.org/drawingml/2006/main" noGrp="1"/>
          </p:cNvSpPr>
          <p:nvPr>
            <p:ph type="title" idx="0" hasCustomPrompt="1"/>
          </p:nvPr>
        </p:nvSpPr>
        <p:spPr>
          <a:xfrm xmlns:a="http://schemas.openxmlformats.org/drawingml/2006/main">
            <a:off x="311750" y="831175"/>
            <a:ext cx="5334900" cy="1244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Clr>
                <a:schemeClr val="lt1"/>
              </a:buClr>
              <a:buSzPts val="10000"/>
              <a:buNone/>
              <a:defRPr sz="10000">
                <a:solidFill>
                  <a:schemeClr val="lt1"/>
                </a:solidFill>
              </a:defRPr>
            </a:lvl1pPr>
            <a:lvl2pPr>
              <a:spcBef>
                <a:spcPts val="0"/>
              </a:spcBef>
              <a:spcAft>
                <a:spcPts val="0"/>
              </a:spcAft>
              <a:buClr>
                <a:schemeClr val="lt1"/>
              </a:buClr>
              <a:buSzPts val="10000"/>
              <a:buNone/>
              <a:defRPr sz="10000">
                <a:solidFill>
                  <a:schemeClr val="lt1"/>
                </a:solidFill>
              </a:defRPr>
            </a:lvl2pPr>
            <a:lvl3pPr>
              <a:spcBef>
                <a:spcPts val="0"/>
              </a:spcBef>
              <a:spcAft>
                <a:spcPts val="0"/>
              </a:spcAft>
              <a:buClr>
                <a:schemeClr val="lt1"/>
              </a:buClr>
              <a:buSzPts val="10000"/>
              <a:buNone/>
              <a:defRPr sz="10000">
                <a:solidFill>
                  <a:schemeClr val="lt1"/>
                </a:solidFill>
              </a:defRPr>
            </a:lvl3pPr>
            <a:lvl4pPr>
              <a:spcBef>
                <a:spcPts val="0"/>
              </a:spcBef>
              <a:spcAft>
                <a:spcPts val="0"/>
              </a:spcAft>
              <a:buClr>
                <a:schemeClr val="lt1"/>
              </a:buClr>
              <a:buSzPts val="10000"/>
              <a:buNone/>
              <a:defRPr sz="10000">
                <a:solidFill>
                  <a:schemeClr val="lt1"/>
                </a:solidFill>
              </a:defRPr>
            </a:lvl4pPr>
            <a:lvl5pPr>
              <a:spcBef>
                <a:spcPts val="0"/>
              </a:spcBef>
              <a:spcAft>
                <a:spcPts val="0"/>
              </a:spcAft>
              <a:buClr>
                <a:schemeClr val="lt1"/>
              </a:buClr>
              <a:buSzPts val="10000"/>
              <a:buNone/>
              <a:defRPr sz="10000">
                <a:solidFill>
                  <a:schemeClr val="lt1"/>
                </a:solidFill>
              </a:defRPr>
            </a:lvl5pPr>
            <a:lvl6pPr>
              <a:spcBef>
                <a:spcPts val="0"/>
              </a:spcBef>
              <a:spcAft>
                <a:spcPts val="0"/>
              </a:spcAft>
              <a:buClr>
                <a:schemeClr val="lt1"/>
              </a:buClr>
              <a:buSzPts val="10000"/>
              <a:buNone/>
              <a:defRPr sz="10000">
                <a:solidFill>
                  <a:schemeClr val="lt1"/>
                </a:solidFill>
              </a:defRPr>
            </a:lvl6pPr>
            <a:lvl7pPr>
              <a:spcBef>
                <a:spcPts val="0"/>
              </a:spcBef>
              <a:spcAft>
                <a:spcPts val="0"/>
              </a:spcAft>
              <a:buClr>
                <a:schemeClr val="lt1"/>
              </a:buClr>
              <a:buSzPts val="10000"/>
              <a:buNone/>
              <a:defRPr sz="10000">
                <a:solidFill>
                  <a:schemeClr val="lt1"/>
                </a:solidFill>
              </a:defRPr>
            </a:lvl7pPr>
            <a:lvl8pPr>
              <a:spcBef>
                <a:spcPts val="0"/>
              </a:spcBef>
              <a:spcAft>
                <a:spcPts val="0"/>
              </a:spcAft>
              <a:buClr>
                <a:schemeClr val="lt1"/>
              </a:buClr>
              <a:buSzPts val="10000"/>
              <a:buNone/>
              <a:defRPr sz="10000">
                <a:solidFill>
                  <a:schemeClr val="lt1"/>
                </a:solidFill>
              </a:defRPr>
            </a:lvl8pPr>
            <a:lvl9pPr>
              <a:spcBef>
                <a:spcPts val="0"/>
              </a:spcBef>
              <a:spcAft>
                <a:spcPts val="0"/>
              </a:spcAft>
              <a:buClr>
                <a:schemeClr val="lt1"/>
              </a:buClr>
              <a:buSzPts val="10000"/>
              <a:buNone/>
              <a:defRPr sz="10000">
                <a:solidFill>
                  <a:schemeClr val="lt1"/>
                </a:solidFill>
              </a:defRPr>
            </a:lvl9pPr>
          </a:lstStyle>
          <a:p xmlns:a="http://schemas.openxmlformats.org/drawingml/2006/main">
            <a:r>
              <a:t>xx%</a:t>
            </a:r>
          </a:p>
        </p:txBody>
      </p:sp>
      <p:sp>
        <p:nvSpPr>
          <p:cNvPr id="56" name="Google Shape;56;p11">
            <a:extLst xmlns:a="http://schemas.openxmlformats.org/drawingml/2006/main">
              <a:ext uri="{FF2B5EF4-FFF2-40B4-BE49-F238E27FC236}">
                <a16:creationId xmlns:a16="http://schemas.microsoft.com/office/drawing/2014/main" id="{C7786C51-BFE1-446C-8E45-C375B58696D0}"/>
              </a:ext>
            </a:extLst>
          </p:cNvPr>
          <p:cNvSpPr>
            <a:spLocks xmlns:a="http://schemas.openxmlformats.org/drawingml/2006/main" noGrp="1"/>
          </p:cNvSpPr>
          <p:nvPr>
            <p:ph type="body" idx="1"/>
          </p:nvPr>
        </p:nvSpPr>
        <p:spPr>
          <a:xfrm xmlns:a="http://schemas.openxmlformats.org/drawingml/2006/main">
            <a:off x="311700" y="2121425"/>
            <a:ext cx="5334900" cy="94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Clr>
                <a:schemeClr val="accent2"/>
              </a:buClr>
              <a:buSzPts val="1300"/>
              <a:buChar char="●"/>
              <a:defRPr>
                <a:solidFill>
                  <a:schemeClr val="accent2"/>
                </a:solidFill>
              </a:defRPr>
            </a:lvl1pPr>
            <a:lvl2pPr marL="914400" indent="-298450">
              <a:spcBef>
                <a:spcPts val="0"/>
              </a:spcBef>
              <a:spcAft>
                <a:spcPts val="0"/>
              </a:spcAft>
              <a:buClr>
                <a:schemeClr val="accent2"/>
              </a:buClr>
              <a:buSzPts val="1100"/>
              <a:buChar char="○"/>
              <a:defRPr>
                <a:solidFill>
                  <a:schemeClr val="accent2"/>
                </a:solidFill>
              </a:defRPr>
            </a:lvl2pPr>
            <a:lvl3pPr marL="1371600" indent="-298450">
              <a:spcBef>
                <a:spcPts val="0"/>
              </a:spcBef>
              <a:spcAft>
                <a:spcPts val="0"/>
              </a:spcAft>
              <a:buClr>
                <a:schemeClr val="accent2"/>
              </a:buClr>
              <a:buSzPts val="1100"/>
              <a:buChar char="■"/>
              <a:defRPr>
                <a:solidFill>
                  <a:schemeClr val="accent2"/>
                </a:solidFill>
              </a:defRPr>
            </a:lvl3pPr>
            <a:lvl4pPr marL="1828800" indent="-298450">
              <a:spcBef>
                <a:spcPts val="0"/>
              </a:spcBef>
              <a:spcAft>
                <a:spcPts val="0"/>
              </a:spcAft>
              <a:buClr>
                <a:schemeClr val="accent2"/>
              </a:buClr>
              <a:buSzPts val="1100"/>
              <a:buChar char="●"/>
              <a:defRPr>
                <a:solidFill>
                  <a:schemeClr val="accent2"/>
                </a:solidFill>
              </a:defRPr>
            </a:lvl4pPr>
            <a:lvl5pPr marL="2286000" indent="-298450">
              <a:spcBef>
                <a:spcPts val="0"/>
              </a:spcBef>
              <a:spcAft>
                <a:spcPts val="0"/>
              </a:spcAft>
              <a:buClr>
                <a:schemeClr val="accent2"/>
              </a:buClr>
              <a:buSzPts val="1100"/>
              <a:buChar char="○"/>
              <a:defRPr>
                <a:solidFill>
                  <a:schemeClr val="accent2"/>
                </a:solidFill>
              </a:defRPr>
            </a:lvl5pPr>
            <a:lvl6pPr marL="2743200" indent="-298450">
              <a:spcBef>
                <a:spcPts val="0"/>
              </a:spcBef>
              <a:spcAft>
                <a:spcPts val="0"/>
              </a:spcAft>
              <a:buClr>
                <a:schemeClr val="accent2"/>
              </a:buClr>
              <a:buSzPts val="1100"/>
              <a:buChar char="■"/>
              <a:defRPr>
                <a:solidFill>
                  <a:schemeClr val="accent2"/>
                </a:solidFill>
              </a:defRPr>
            </a:lvl6pPr>
            <a:lvl7pPr marL="3200400" indent="-298450">
              <a:spcBef>
                <a:spcPts val="0"/>
              </a:spcBef>
              <a:spcAft>
                <a:spcPts val="0"/>
              </a:spcAft>
              <a:buClr>
                <a:schemeClr val="accent2"/>
              </a:buClr>
              <a:buSzPts val="1100"/>
              <a:buChar char="●"/>
              <a:defRPr>
                <a:solidFill>
                  <a:schemeClr val="accent2"/>
                </a:solidFill>
              </a:defRPr>
            </a:lvl7pPr>
            <a:lvl8pPr marL="3657600" indent="-298450">
              <a:spcBef>
                <a:spcPts val="0"/>
              </a:spcBef>
              <a:spcAft>
                <a:spcPts val="0"/>
              </a:spcAft>
              <a:buClr>
                <a:schemeClr val="accent2"/>
              </a:buClr>
              <a:buSzPts val="1100"/>
              <a:buChar char="○"/>
              <a:defRPr>
                <a:solidFill>
                  <a:schemeClr val="accent2"/>
                </a:solidFill>
              </a:defRPr>
            </a:lvl8pPr>
            <a:lvl9pPr marL="4114800" indent="-298450">
              <a:spcBef>
                <a:spcPts val="0"/>
              </a:spcBef>
              <a:spcAft>
                <a:spcPts val="0"/>
              </a:spcAft>
              <a:buClr>
                <a:schemeClr val="accent2"/>
              </a:buClr>
              <a:buSzPts val="1100"/>
              <a:buChar char="■"/>
              <a:defRPr>
                <a:solidFill>
                  <a:schemeClr val="accent2"/>
                </a:solidFill>
              </a:defRPr>
            </a:lvl9pPr>
          </a:lstStyle>
          <a:p xmlns:a="http://schemas.openxmlformats.org/drawingml/2006/main"/>
        </p:txBody>
      </p:sp>
      <p:sp>
        <p:nvSpPr>
          <p:cNvPr id="57" name="Google Shape;57;p11">
            <a:extLst xmlns:a="http://schemas.openxmlformats.org/drawingml/2006/main">
              <a:ext uri="{FF2B5EF4-FFF2-40B4-BE49-F238E27FC236}">
                <a16:creationId xmlns:a16="http://schemas.microsoft.com/office/drawing/2014/main" id="{0042EE66-8EFA-4EEF-9FA0-FA14E629774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9" name="Google Shape;59;p12">
            <a:extLst xmlns:a="http://schemas.openxmlformats.org/drawingml/2006/main">
              <a:ext uri="{FF2B5EF4-FFF2-40B4-BE49-F238E27FC236}">
                <a16:creationId xmlns:a16="http://schemas.microsoft.com/office/drawing/2014/main" id="{00B7860E-8EA7-4AFA-88C3-F6531A40733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2.xml><?xml version="1.0" encoding="utf-8"?>
<p:sldLayout xmlns:p="http://schemas.openxmlformats.org/presentationml/2006/main" matchingName="Title and body (g3e7543dd64f_7_0)">
  <p:cSld name="Title and body (g3e7543dd64f_7_0)">
    <p:spTree>
      <p:nvGrpSpPr>
        <p:cNvPr id="1" name=""/>
        <p:cNvGrpSpPr/>
        <p:nvPr/>
      </p:nvGrpSpPr>
      <p:grpSpPr>
        <a:xfrm xmlns:a="http://schemas.openxmlformats.org/drawingml/2006/main"/>
      </p:grpSpPr>
      <p:sp>
        <p:nvSpPr>
          <p:cNvPr id="61" name="Google Shape;61;p13">
            <a:extLst xmlns:a="http://schemas.openxmlformats.org/drawingml/2006/main">
              <a:ext uri="{FF2B5EF4-FFF2-40B4-BE49-F238E27FC236}">
                <a16:creationId xmlns:a16="http://schemas.microsoft.com/office/drawing/2014/main" id="{18184127-6ABC-478D-859D-72D1714BD0D4}"/>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62" name="Google Shape;62;p13">
            <a:extLst xmlns:a="http://schemas.openxmlformats.org/drawingml/2006/main">
              <a:ext uri="{FF2B5EF4-FFF2-40B4-BE49-F238E27FC236}">
                <a16:creationId xmlns:a16="http://schemas.microsoft.com/office/drawing/2014/main" id="{C74E7235-DDD8-4878-B28C-ABDAC33941F2}"/>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63" name="Google Shape;63;p13">
            <a:extLst xmlns:a="http://schemas.openxmlformats.org/drawingml/2006/main">
              <a:ext uri="{FF2B5EF4-FFF2-40B4-BE49-F238E27FC236}">
                <a16:creationId xmlns:a16="http://schemas.microsoft.com/office/drawing/2014/main" id="{0309D3C7-25C8-48E4-AF33-14403B611CD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3.xml><?xml version="1.0" encoding="utf-8"?>
<p:sldLayout xmlns:p="http://schemas.openxmlformats.org/presentationml/2006/main" matchingName="Title and body (g3e7543dd64f_31_0)">
  <p:cSld name="Title and body (g3e7543dd64f_31_0)">
    <p:spTree>
      <p:nvGrpSpPr>
        <p:cNvPr id="1" name=""/>
        <p:cNvGrpSpPr/>
        <p:nvPr/>
      </p:nvGrpSpPr>
      <p:grpSpPr>
        <a:xfrm xmlns:a="http://schemas.openxmlformats.org/drawingml/2006/main"/>
      </p:grpSpPr>
      <p:sp>
        <p:nvSpPr>
          <p:cNvPr id="65" name="Google Shape;65;p14">
            <a:extLst xmlns:a="http://schemas.openxmlformats.org/drawingml/2006/main">
              <a:ext uri="{FF2B5EF4-FFF2-40B4-BE49-F238E27FC236}">
                <a16:creationId xmlns:a16="http://schemas.microsoft.com/office/drawing/2014/main" id="{A54BBF7A-066B-4C9F-96A6-CE043879970F}"/>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66" name="Google Shape;66;p14">
            <a:extLst xmlns:a="http://schemas.openxmlformats.org/drawingml/2006/main">
              <a:ext uri="{FF2B5EF4-FFF2-40B4-BE49-F238E27FC236}">
                <a16:creationId xmlns:a16="http://schemas.microsoft.com/office/drawing/2014/main" id="{DC4E43AF-CCD7-4886-9D5C-BC802AFBED84}"/>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67" name="Google Shape;67;p14">
            <a:extLst xmlns:a="http://schemas.openxmlformats.org/drawingml/2006/main">
              <a:ext uri="{FF2B5EF4-FFF2-40B4-BE49-F238E27FC236}">
                <a16:creationId xmlns:a16="http://schemas.microsoft.com/office/drawing/2014/main" id="{78E8D3D1-AD19-4434-8DA6-B24A604E123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4.xml><?xml version="1.0" encoding="utf-8"?>
<p:sldLayout xmlns:p="http://schemas.openxmlformats.org/presentationml/2006/main" matchingName="Title and body (g3e7543dd64f_45_0)">
  <p:cSld name="Title and body (g3e7543dd64f_45_0)">
    <p:spTree>
      <p:nvGrpSpPr>
        <p:cNvPr id="1" name=""/>
        <p:cNvGrpSpPr/>
        <p:nvPr/>
      </p:nvGrpSpPr>
      <p:grpSpPr>
        <a:xfrm xmlns:a="http://schemas.openxmlformats.org/drawingml/2006/main"/>
      </p:grpSpPr>
      <p:sp>
        <p:nvSpPr>
          <p:cNvPr id="69" name="Google Shape;69;p15">
            <a:extLst xmlns:a="http://schemas.openxmlformats.org/drawingml/2006/main">
              <a:ext uri="{FF2B5EF4-FFF2-40B4-BE49-F238E27FC236}">
                <a16:creationId xmlns:a16="http://schemas.microsoft.com/office/drawing/2014/main" id="{385B7A9F-5C51-433E-8864-A726800378CF}"/>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70" name="Google Shape;70;p15">
            <a:extLst xmlns:a="http://schemas.openxmlformats.org/drawingml/2006/main">
              <a:ext uri="{FF2B5EF4-FFF2-40B4-BE49-F238E27FC236}">
                <a16:creationId xmlns:a16="http://schemas.microsoft.com/office/drawing/2014/main" id="{5782EF2D-CDB1-4E14-BB91-2F09D9113C01}"/>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71" name="Google Shape;71;p15">
            <a:extLst xmlns:a="http://schemas.openxmlformats.org/drawingml/2006/main">
              <a:ext uri="{FF2B5EF4-FFF2-40B4-BE49-F238E27FC236}">
                <a16:creationId xmlns:a16="http://schemas.microsoft.com/office/drawing/2014/main" id="{34A18FB3-58BA-4F4A-9A32-80E8DE8907C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5.xml><?xml version="1.0" encoding="utf-8"?>
<p:sldLayout xmlns:p="http://schemas.openxmlformats.org/presentationml/2006/main" matchingName="Title and body (g3e7543dd64f_60_0)">
  <p:cSld name="Title and body (g3e7543dd64f_60_0)">
    <p:spTree>
      <p:nvGrpSpPr>
        <p:cNvPr id="1" name=""/>
        <p:cNvGrpSpPr/>
        <p:nvPr/>
      </p:nvGrpSpPr>
      <p:grpSpPr>
        <a:xfrm xmlns:a="http://schemas.openxmlformats.org/drawingml/2006/main"/>
      </p:grpSpPr>
      <p:sp>
        <p:nvSpPr>
          <p:cNvPr id="73" name="Google Shape;73;p16">
            <a:extLst xmlns:a="http://schemas.openxmlformats.org/drawingml/2006/main">
              <a:ext uri="{FF2B5EF4-FFF2-40B4-BE49-F238E27FC236}">
                <a16:creationId xmlns:a16="http://schemas.microsoft.com/office/drawing/2014/main" id="{BB4D1C56-A78C-492D-9101-719A8672D5AD}"/>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74" name="Google Shape;74;p16">
            <a:extLst xmlns:a="http://schemas.openxmlformats.org/drawingml/2006/main">
              <a:ext uri="{FF2B5EF4-FFF2-40B4-BE49-F238E27FC236}">
                <a16:creationId xmlns:a16="http://schemas.microsoft.com/office/drawing/2014/main" id="{3AB75602-E5B0-4815-AAA4-43DBBD53D3DE}"/>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75" name="Google Shape;75;p16">
            <a:extLst xmlns:a="http://schemas.openxmlformats.org/drawingml/2006/main">
              <a:ext uri="{FF2B5EF4-FFF2-40B4-BE49-F238E27FC236}">
                <a16:creationId xmlns:a16="http://schemas.microsoft.com/office/drawing/2014/main" id="{9B9B4F7C-ECE5-4564-9A22-A97266E0B56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6.xml><?xml version="1.0" encoding="utf-8"?>
<p:sldLayout xmlns:p="http://schemas.openxmlformats.org/presentationml/2006/main" matchingName="Title and body (g3e7543dd64f_67_0)">
  <p:cSld name="Title and body (g3e7543dd64f_67_0)">
    <p:spTree>
      <p:nvGrpSpPr>
        <p:cNvPr id="1" name=""/>
        <p:cNvGrpSpPr/>
        <p:nvPr/>
      </p:nvGrpSpPr>
      <p:grpSpPr>
        <a:xfrm xmlns:a="http://schemas.openxmlformats.org/drawingml/2006/main"/>
      </p:grpSpPr>
      <p:sp>
        <p:nvSpPr>
          <p:cNvPr id="77" name="Google Shape;77;p17">
            <a:extLst xmlns:a="http://schemas.openxmlformats.org/drawingml/2006/main">
              <a:ext uri="{FF2B5EF4-FFF2-40B4-BE49-F238E27FC236}">
                <a16:creationId xmlns:a16="http://schemas.microsoft.com/office/drawing/2014/main" id="{972DA334-2D2D-4067-9189-9A600F53E2A1}"/>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78" name="Google Shape;78;p17">
            <a:extLst xmlns:a="http://schemas.openxmlformats.org/drawingml/2006/main">
              <a:ext uri="{FF2B5EF4-FFF2-40B4-BE49-F238E27FC236}">
                <a16:creationId xmlns:a16="http://schemas.microsoft.com/office/drawing/2014/main" id="{50B4524F-E1A8-4BFB-B246-3A003E9B31D8}"/>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79" name="Google Shape;79;p17">
            <a:extLst xmlns:a="http://schemas.openxmlformats.org/drawingml/2006/main">
              <a:ext uri="{FF2B5EF4-FFF2-40B4-BE49-F238E27FC236}">
                <a16:creationId xmlns:a16="http://schemas.microsoft.com/office/drawing/2014/main" id="{5B8E616D-90C1-4F25-BCD8-E6B4CB3A233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Layouts/slideLayout17.xml><?xml version="1.0" encoding="utf-8"?>
<p:sldLayout xmlns:p="http://schemas.openxmlformats.org/presentationml/2006/main" matchingName="Title and two columns (g3e7543dd64f_75_0)">
  <p:cSld name="Title and two columns (g3e7543dd64f_75_0)">
    <p:spTree>
      <p:nvGrpSpPr>
        <p:cNvPr id="1" name=""/>
        <p:cNvGrpSpPr/>
        <p:nvPr/>
      </p:nvGrpSpPr>
      <p:grpSpPr>
        <a:xfrm xmlns:a="http://schemas.openxmlformats.org/drawingml/2006/main"/>
      </p:grpSpPr>
      <p:sp>
        <p:nvSpPr>
          <p:cNvPr id="81" name="Google Shape;81;p18">
            <a:extLst xmlns:a="http://schemas.openxmlformats.org/drawingml/2006/main">
              <a:ext uri="{FF2B5EF4-FFF2-40B4-BE49-F238E27FC236}">
                <a16:creationId xmlns:a16="http://schemas.microsoft.com/office/drawing/2014/main" id="{CF962E8A-ACC9-4643-A93E-8A1BB32C0AC8}"/>
              </a:ext>
            </a:extLst>
          </p:cNvPr>
          <p:cNvSpPr>
            <a:spLocks xmlns:a="http://schemas.openxmlformats.org/drawingml/2006/main" noGrp="1"/>
          </p:cNvSpPr>
          <p:nvPr>
            <p:ph type="title" idx="0"/>
          </p:nvPr>
        </p:nvSpPr>
        <p:spPr>
          <a:xfrm xmlns:a="http://schemas.openxmlformats.org/drawingml/2006/main">
            <a:off x="311725" y="500925"/>
            <a:ext cx="8520600" cy="623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lt1"/>
              </a:buClr>
              <a:buSzPts val="2800"/>
              <a:buNone/>
              <a:defRPr>
                <a:solidFill>
                  <a:schemeClr val="lt1"/>
                </a:solidFill>
              </a:defRPr>
            </a:lvl1pPr>
            <a:lvl2pPr>
              <a:spcBef>
                <a:spcPts val="0"/>
              </a:spcBef>
              <a:spcAft>
                <a:spcPts val="0"/>
              </a:spcAft>
              <a:buClr>
                <a:schemeClr val="lt1"/>
              </a:buClr>
              <a:buSzPts val="2800"/>
              <a:buNone/>
              <a:defRPr>
                <a:solidFill>
                  <a:schemeClr val="lt1"/>
                </a:solidFill>
              </a:defRPr>
            </a:lvl2pPr>
            <a:lvl3pPr>
              <a:spcBef>
                <a:spcPts val="0"/>
              </a:spcBef>
              <a:spcAft>
                <a:spcPts val="0"/>
              </a:spcAft>
              <a:buClr>
                <a:schemeClr val="lt1"/>
              </a:buClr>
              <a:buSzPts val="2800"/>
              <a:buNone/>
              <a:defRPr>
                <a:solidFill>
                  <a:schemeClr val="lt1"/>
                </a:solidFill>
              </a:defRPr>
            </a:lvl3pPr>
            <a:lvl4pPr>
              <a:spcBef>
                <a:spcPts val="0"/>
              </a:spcBef>
              <a:spcAft>
                <a:spcPts val="0"/>
              </a:spcAft>
              <a:buClr>
                <a:schemeClr val="lt1"/>
              </a:buClr>
              <a:buSzPts val="2800"/>
              <a:buNone/>
              <a:defRPr>
                <a:solidFill>
                  <a:schemeClr val="lt1"/>
                </a:solidFill>
              </a:defRPr>
            </a:lvl4pPr>
            <a:lvl5pPr>
              <a:spcBef>
                <a:spcPts val="0"/>
              </a:spcBef>
              <a:spcAft>
                <a:spcPts val="0"/>
              </a:spcAft>
              <a:buClr>
                <a:schemeClr val="lt1"/>
              </a:buClr>
              <a:buSzPts val="2800"/>
              <a:buNone/>
              <a:defRPr>
                <a:solidFill>
                  <a:schemeClr val="lt1"/>
                </a:solidFill>
              </a:defRPr>
            </a:lvl5pPr>
            <a:lvl6pPr>
              <a:spcBef>
                <a:spcPts val="0"/>
              </a:spcBef>
              <a:spcAft>
                <a:spcPts val="0"/>
              </a:spcAft>
              <a:buClr>
                <a:schemeClr val="lt1"/>
              </a:buClr>
              <a:buSzPts val="2800"/>
              <a:buNone/>
              <a:defRPr>
                <a:solidFill>
                  <a:schemeClr val="lt1"/>
                </a:solidFill>
              </a:defRPr>
            </a:lvl6pPr>
            <a:lvl7pPr>
              <a:spcBef>
                <a:spcPts val="0"/>
              </a:spcBef>
              <a:spcAft>
                <a:spcPts val="0"/>
              </a:spcAft>
              <a:buClr>
                <a:schemeClr val="lt1"/>
              </a:buClr>
              <a:buSzPts val="2800"/>
              <a:buNone/>
              <a:defRPr>
                <a:solidFill>
                  <a:schemeClr val="lt1"/>
                </a:solidFill>
              </a:defRPr>
            </a:lvl7pPr>
            <a:lvl8pPr>
              <a:spcBef>
                <a:spcPts val="0"/>
              </a:spcBef>
              <a:spcAft>
                <a:spcPts val="0"/>
              </a:spcAft>
              <a:buClr>
                <a:schemeClr val="lt1"/>
              </a:buClr>
              <a:buSzPts val="2800"/>
              <a:buNone/>
              <a:defRPr>
                <a:solidFill>
                  <a:schemeClr val="lt1"/>
                </a:solidFill>
              </a:defRPr>
            </a:lvl8pPr>
            <a:lvl9pPr>
              <a:spcBef>
                <a:spcPts val="0"/>
              </a:spcBef>
              <a:spcAft>
                <a:spcPts val="0"/>
              </a:spcAft>
              <a:buClr>
                <a:schemeClr val="lt1"/>
              </a:buClr>
              <a:buSzPts val="2800"/>
              <a:buNone/>
              <a:defRPr>
                <a:solidFill>
                  <a:schemeClr val="lt1"/>
                </a:solidFill>
              </a:defRPr>
            </a:lvl9pPr>
          </a:lstStyle>
          <a:p xmlns:a="http://schemas.openxmlformats.org/drawingml/2006/main"/>
        </p:txBody>
      </p:sp>
      <p:sp>
        <p:nvSpPr>
          <p:cNvPr id="82" name="Google Shape;82;p18">
            <a:extLst xmlns:a="http://schemas.openxmlformats.org/drawingml/2006/main">
              <a:ext uri="{FF2B5EF4-FFF2-40B4-BE49-F238E27FC236}">
                <a16:creationId xmlns:a16="http://schemas.microsoft.com/office/drawing/2014/main" id="{348573EA-4C68-4CE4-A74C-030AB647F3F3}"/>
              </a:ext>
            </a:extLst>
          </p:cNvPr>
          <p:cNvSpPr>
            <a:spLocks xmlns:a="http://schemas.openxmlformats.org/drawingml/2006/main" noGrp="1"/>
          </p:cNvSpPr>
          <p:nvPr>
            <p:ph type="body" idx="1"/>
          </p:nvPr>
        </p:nvSpPr>
        <p:spPr>
          <a:xfrm xmlns:a="http://schemas.openxmlformats.org/drawingml/2006/main">
            <a:off x="311700" y="1505700"/>
            <a:ext cx="3999900" cy="3076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83" name="Google Shape;83;p18">
            <a:extLst xmlns:a="http://schemas.openxmlformats.org/drawingml/2006/main">
              <a:ext uri="{FF2B5EF4-FFF2-40B4-BE49-F238E27FC236}">
                <a16:creationId xmlns:a16="http://schemas.microsoft.com/office/drawing/2014/main" id="{7A6D027A-5413-4CC4-A31B-75ABE8E5555B}"/>
              </a:ext>
            </a:extLst>
          </p:cNvPr>
          <p:cNvSpPr>
            <a:spLocks xmlns:a="http://schemas.openxmlformats.org/drawingml/2006/main" noGrp="1"/>
          </p:cNvSpPr>
          <p:nvPr>
            <p:ph type="body" idx="2"/>
          </p:nvPr>
        </p:nvSpPr>
        <p:spPr>
          <a:xfrm xmlns:a="http://schemas.openxmlformats.org/drawingml/2006/main">
            <a:off x="4832400" y="1505700"/>
            <a:ext cx="3999900" cy="30762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1150">
              <a:spcBef>
                <a:spcPts val="0"/>
              </a:spcBef>
              <a:spcAft>
                <a:spcPts val="0"/>
              </a:spcAft>
              <a:buSzPts val="1300"/>
              <a:buChar char="●"/>
              <a:defRPr/>
            </a:lvl1pPr>
            <a:lvl2pPr marL="914400" indent="-298450">
              <a:spcBef>
                <a:spcPts val="0"/>
              </a:spcBef>
              <a:spcAft>
                <a:spcPts val="0"/>
              </a:spcAft>
              <a:buSzPts val="1100"/>
              <a:buChar char="○"/>
              <a:defRPr/>
            </a:lvl2pPr>
            <a:lvl3pPr marL="1371600" indent="-298450">
              <a:spcBef>
                <a:spcPts val="0"/>
              </a:spcBef>
              <a:spcAft>
                <a:spcPts val="0"/>
              </a:spcAft>
              <a:buSzPts val="1100"/>
              <a:buChar char="■"/>
              <a:defRPr/>
            </a:lvl3pPr>
            <a:lvl4pPr marL="1828800" indent="-298450">
              <a:spcBef>
                <a:spcPts val="0"/>
              </a:spcBef>
              <a:spcAft>
                <a:spcPts val="0"/>
              </a:spcAft>
              <a:buSzPts val="1100"/>
              <a:buChar char="●"/>
              <a:defRPr/>
            </a:lvl4pPr>
            <a:lvl5pPr marL="2286000" indent="-298450">
              <a:spcBef>
                <a:spcPts val="0"/>
              </a:spcBef>
              <a:spcAft>
                <a:spcPts val="0"/>
              </a:spcAft>
              <a:buSzPts val="1100"/>
              <a:buChar char="○"/>
              <a:defRPr/>
            </a:lvl5pPr>
            <a:lvl6pPr marL="2743200" indent="-298450">
              <a:spcBef>
                <a:spcPts val="0"/>
              </a:spcBef>
              <a:spcAft>
                <a:spcPts val="0"/>
              </a:spcAft>
              <a:buSzPts val="1100"/>
              <a:buChar char="■"/>
              <a:defRPr/>
            </a:lvl6pPr>
            <a:lvl7pPr marL="3200400" indent="-298450">
              <a:spcBef>
                <a:spcPts val="0"/>
              </a:spcBef>
              <a:spcAft>
                <a:spcPts val="0"/>
              </a:spcAft>
              <a:buSzPts val="1100"/>
              <a:buChar char="●"/>
              <a:defRPr/>
            </a:lvl7pPr>
            <a:lvl8pPr marL="3657600" indent="-298450">
              <a:spcBef>
                <a:spcPts val="0"/>
              </a:spcBef>
              <a:spcAft>
                <a:spcPts val="0"/>
              </a:spcAft>
              <a:buSzPts val="1100"/>
              <a:buChar char="○"/>
              <a:defRPr/>
            </a:lvl8pPr>
            <a:lvl9pPr marL="4114800" indent="-298450">
              <a:spcBef>
                <a:spcPts val="0"/>
              </a:spcBef>
              <a:spcAft>
                <a:spcPts val="0"/>
              </a:spcAft>
              <a:buSzPts val="1100"/>
              <a:buChar char="■"/>
              <a:defRPr/>
            </a:lvl9pPr>
          </a:lstStyle>
          <a:p xmlns:a="http://schemas.openxmlformats.org/drawingml/2006/main"/>
        </p:txBody>
      </p:sp>
      <p:sp>
        <p:nvSpPr>
          <p:cNvPr id="84" name="Google Shape;84;p18">
            <a:extLst xmlns:a="http://schemas.openxmlformats.org/drawingml/2006/main">
              <a:ext uri="{FF2B5EF4-FFF2-40B4-BE49-F238E27FC236}">
                <a16:creationId xmlns:a16="http://schemas.microsoft.com/office/drawing/2014/main" id="{894A056B-4B74-4FC8-8FDE-9FFAD525251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indent="0" algn="r">
              <a:spcBef>
                <a:spcPts val="0"/>
              </a:spcBef>
              <a:spcAft>
                <a:spcPts val="0"/>
              </a:spcAft>
              <a:buNone/>
            </a:pPr>
            <a:fld id="{00000000-1234-1234-1234-123412341234}"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4578f2bdca4224" /><Relationship Type="http://schemas.openxmlformats.org/officeDocument/2006/relationships/slideLayout" Target="/ppt/slideLayouts/slideLayout1.xml" Id="R824d228049c04178" /><Relationship Type="http://schemas.openxmlformats.org/officeDocument/2006/relationships/slideLayout" Target="/ppt/slideLayouts/slideLayout2.xml" Id="Rd46aa7f82d524e01" /><Relationship Type="http://schemas.openxmlformats.org/officeDocument/2006/relationships/slideLayout" Target="/ppt/slideLayouts/slideLayout3.xml" Id="R7c1a9c1b7e3d4194" /><Relationship Type="http://schemas.openxmlformats.org/officeDocument/2006/relationships/slideLayout" Target="/ppt/slideLayouts/slideLayout4.xml" Id="Re44eb42994a543e6" /><Relationship Type="http://schemas.openxmlformats.org/officeDocument/2006/relationships/slideLayout" Target="/ppt/slideLayouts/slideLayout5.xml" Id="R4e2ebd71b5e44a0e" /><Relationship Type="http://schemas.openxmlformats.org/officeDocument/2006/relationships/slideLayout" Target="/ppt/slideLayouts/slideLayout6.xml" Id="Rb911f96125724dea" /><Relationship Type="http://schemas.openxmlformats.org/officeDocument/2006/relationships/slideLayout" Target="/ppt/slideLayouts/slideLayout7.xml" Id="R2245b83e9b0a4b19" /><Relationship Type="http://schemas.openxmlformats.org/officeDocument/2006/relationships/slideLayout" Target="/ppt/slideLayouts/slideLayout8.xml" Id="Rb211ea7c88b74e4f" /><Relationship Type="http://schemas.openxmlformats.org/officeDocument/2006/relationships/slideLayout" Target="/ppt/slideLayouts/slideLayout9.xml" Id="R557c5587d6cc41e9" /><Relationship Type="http://schemas.openxmlformats.org/officeDocument/2006/relationships/slideLayout" Target="/ppt/slideLayouts/slideLayout10.xml" Id="R3ae939d14abe4558" /><Relationship Type="http://schemas.openxmlformats.org/officeDocument/2006/relationships/slideLayout" Target="/ppt/slideLayouts/slideLayout11.xml" Id="Ra9a1bcaac783424f" /><Relationship Type="http://schemas.openxmlformats.org/officeDocument/2006/relationships/slideLayout" Target="/ppt/slideLayouts/slideLayout12.xml" Id="R5113eb22bd3c45fc" /><Relationship Type="http://schemas.openxmlformats.org/officeDocument/2006/relationships/slideLayout" Target="/ppt/slideLayouts/slideLayout13.xml" Id="R56752aa46438485c" /><Relationship Type="http://schemas.openxmlformats.org/officeDocument/2006/relationships/slideLayout" Target="/ppt/slideLayouts/slideLayout14.xml" Id="Reddcfc265e2c4aa3" /><Relationship Type="http://schemas.openxmlformats.org/officeDocument/2006/relationships/slideLayout" Target="/ppt/slideLayouts/slideLayout15.xml" Id="R07be64cf40de4639" /><Relationship Type="http://schemas.openxmlformats.org/officeDocument/2006/relationships/slideLayout" Target="/ppt/slideLayouts/slideLayout16.xml" Id="Re8680b82c4ff4ba8" /><Relationship Type="http://schemas.openxmlformats.org/officeDocument/2006/relationships/slideLayout" Target="/ppt/slideLayouts/slideLayout17.xml" Id="Rf0a5131729354ee4" /></Relationships>
</file>

<file path=ppt/slideMasters/slideMaster1.xml><?xml version="1.0" encoding="utf-8"?>
<p:sldMaster xmlns:p="http://schemas.openxmlformats.org/presentationml/2006/main">
  <p:cSld name="paradigm">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27BD2317-2D66-4095-888B-23A401F18246}"/>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1pPr>
            <a:lvl2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2pPr>
            <a:lvl3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3pPr>
            <a:lvl4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4pPr>
            <a:lvl5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5pPr>
            <a:lvl6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6pPr>
            <a:lvl7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7pPr>
            <a:lvl8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8pPr>
            <a:lvl9pPr>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07961D01-7A5D-43B3-BF63-4E51450F1AB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defRPr>
            </a:lvl1pPr>
            <a:lvl2pPr marL="9144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2pPr>
            <a:lvl3pPr marL="13716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3pPr>
            <a:lvl4pPr marL="18288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4pPr>
            <a:lvl5pPr marL="22860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5pPr>
            <a:lvl6pPr marL="27432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6pPr>
            <a:lvl7pPr marL="32004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7pPr>
            <a:lvl8pPr marL="36576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8pPr>
            <a:lvl9pPr marL="4114800"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3FF917DF-BD60-4DB7-960C-5396F4626CE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latin typeface="Roboto"/>
                <a:ea typeface="Roboto"/>
                <a:cs typeface="Roboto"/>
              </a:defRPr>
            </a:lvl1pPr>
            <a:lvl2pPr algn="r">
              <a:buNone/>
              <a:defRPr sz="1000">
                <a:solidFill>
                  <a:schemeClr val="dk2"/>
                </a:solidFill>
                <a:latin typeface="Roboto"/>
                <a:ea typeface="Roboto"/>
                <a:cs typeface="Roboto"/>
              </a:defRPr>
            </a:lvl2pPr>
            <a:lvl3pPr algn="r">
              <a:buNone/>
              <a:defRPr sz="1000">
                <a:solidFill>
                  <a:schemeClr val="dk2"/>
                </a:solidFill>
                <a:latin typeface="Roboto"/>
                <a:ea typeface="Roboto"/>
                <a:cs typeface="Roboto"/>
              </a:defRPr>
            </a:lvl3pPr>
            <a:lvl4pPr algn="r">
              <a:buNone/>
              <a:defRPr sz="1000">
                <a:solidFill>
                  <a:schemeClr val="dk2"/>
                </a:solidFill>
                <a:latin typeface="Roboto"/>
                <a:ea typeface="Roboto"/>
                <a:cs typeface="Roboto"/>
              </a:defRPr>
            </a:lvl4pPr>
            <a:lvl5pPr algn="r">
              <a:buNone/>
              <a:defRPr sz="1000">
                <a:solidFill>
                  <a:schemeClr val="dk2"/>
                </a:solidFill>
                <a:latin typeface="Roboto"/>
                <a:ea typeface="Roboto"/>
                <a:cs typeface="Roboto"/>
              </a:defRPr>
            </a:lvl5pPr>
            <a:lvl6pPr algn="r">
              <a:buNone/>
              <a:defRPr sz="1000">
                <a:solidFill>
                  <a:schemeClr val="dk2"/>
                </a:solidFill>
                <a:latin typeface="Roboto"/>
                <a:ea typeface="Roboto"/>
                <a:cs typeface="Roboto"/>
              </a:defRPr>
            </a:lvl6pPr>
            <a:lvl7pPr algn="r">
              <a:buNone/>
              <a:defRPr sz="1000">
                <a:solidFill>
                  <a:schemeClr val="dk2"/>
                </a:solidFill>
                <a:latin typeface="Roboto"/>
                <a:ea typeface="Roboto"/>
                <a:cs typeface="Roboto"/>
              </a:defRPr>
            </a:lvl7pPr>
            <a:lvl8pPr algn="r">
              <a:buNone/>
              <a:defRPr sz="1000">
                <a:solidFill>
                  <a:schemeClr val="dk2"/>
                </a:solidFill>
                <a:latin typeface="Roboto"/>
                <a:ea typeface="Roboto"/>
                <a:cs typeface="Roboto"/>
              </a:defRPr>
            </a:lvl8pPr>
            <a:lvl9pPr algn="r">
              <a:buNone/>
              <a:defRPr sz="1000">
                <a:solidFill>
                  <a:schemeClr val="dk2"/>
                </a:solidFill>
                <a:latin typeface="Roboto"/>
                <a:ea typeface="Roboto"/>
                <a:cs typeface="Roboto"/>
              </a:defRPr>
            </a:lvl9pPr>
          </a:lstStyle>
          <a:p xmlns:a="http://schemas.openxmlformats.org/drawingml/2006/main">
            <a:pPr marL="0" indent="0" algn="r">
              <a:spcBef>
                <a:spcPts val="0"/>
              </a:spcBef>
              <a:spcAft>
                <a:spcPts val="0"/>
              </a:spcAft>
              <a:buNone/>
            </a:pPr>
            <a:fld id="{00000000-1234-1234-1234-123412341234}" type="slidenum">
              <a:t>‹#›</a:t>
            </a:fld>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824d228049c04178"/>
    <p:sldLayoutId xmlns:r="http://schemas.openxmlformats.org/officeDocument/2006/relationships" id="2147483650" r:id="Rd46aa7f82d524e01"/>
    <p:sldLayoutId xmlns:r="http://schemas.openxmlformats.org/officeDocument/2006/relationships" id="2147483651" r:id="R7c1a9c1b7e3d4194"/>
    <p:sldLayoutId xmlns:r="http://schemas.openxmlformats.org/officeDocument/2006/relationships" id="2147483652" r:id="Re44eb42994a543e6"/>
    <p:sldLayoutId xmlns:r="http://schemas.openxmlformats.org/officeDocument/2006/relationships" id="2147483653" r:id="R4e2ebd71b5e44a0e"/>
    <p:sldLayoutId xmlns:r="http://schemas.openxmlformats.org/officeDocument/2006/relationships" id="2147483654" r:id="Rb911f96125724dea"/>
    <p:sldLayoutId xmlns:r="http://schemas.openxmlformats.org/officeDocument/2006/relationships" id="2147483655" r:id="R2245b83e9b0a4b19"/>
    <p:sldLayoutId xmlns:r="http://schemas.openxmlformats.org/officeDocument/2006/relationships" id="2147483656" r:id="Rb211ea7c88b74e4f"/>
    <p:sldLayoutId xmlns:r="http://schemas.openxmlformats.org/officeDocument/2006/relationships" id="2147483657" r:id="R557c5587d6cc41e9"/>
    <p:sldLayoutId xmlns:r="http://schemas.openxmlformats.org/officeDocument/2006/relationships" id="2147483658" r:id="R3ae939d14abe4558"/>
    <p:sldLayoutId xmlns:r="http://schemas.openxmlformats.org/officeDocument/2006/relationships" id="2147483659" r:id="Ra9a1bcaac783424f"/>
    <p:sldLayoutId xmlns:r="http://schemas.openxmlformats.org/officeDocument/2006/relationships" id="2147483660" r:id="R5113eb22bd3c45fc"/>
    <p:sldLayoutId xmlns:r="http://schemas.openxmlformats.org/officeDocument/2006/relationships" id="2147483661" r:id="R56752aa46438485c"/>
    <p:sldLayoutId xmlns:r="http://schemas.openxmlformats.org/officeDocument/2006/relationships" id="2147483662" r:id="Reddcfc265e2c4aa3"/>
    <p:sldLayoutId xmlns:r="http://schemas.openxmlformats.org/officeDocument/2006/relationships" id="2147483663" r:id="R07be64cf40de4639"/>
    <p:sldLayoutId xmlns:r="http://schemas.openxmlformats.org/officeDocument/2006/relationships" id="2147483664" r:id="Re8680b82c4ff4ba8"/>
    <p:sldLayoutId xmlns:r="http://schemas.openxmlformats.org/officeDocument/2006/relationships" id="2147483665" r:id="Rf0a5131729354ee4"/>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dig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ff4d17f2604fe0" /><Relationship Type="http://schemas.openxmlformats.org/officeDocument/2006/relationships/notesSlide" Target="/ppt/notesSlides/notesSlide1.xml" Id="Rbf41c3b3fdab445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4.xml" Id="Raf05bb65b4bf4bdb" /><Relationship Type="http://schemas.openxmlformats.org/officeDocument/2006/relationships/image" Target="/ppt/media/image.png" Id="R7000dd043d2846dc" /><Relationship Type="http://schemas.openxmlformats.org/officeDocument/2006/relationships/notesSlide" Target="/ppt/notesSlides/notesSlide2.xml" Id="R195811cc632441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7.xml" Id="R09a1eb7cec1d4dd5" /><Relationship Type="http://schemas.openxmlformats.org/officeDocument/2006/relationships/notesSlide" Target="/ppt/notesSlides/notesSlide3.xml" Id="Rb645fe671f3945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24ec0edb90a744cc" /><Relationship Type="http://schemas.openxmlformats.org/officeDocument/2006/relationships/image" Target="/ppt/media/image2.png" Id="Ra83013a73135475f" /><Relationship Type="http://schemas.openxmlformats.org/officeDocument/2006/relationships/notesSlide" Target="/ppt/notesSlides/notesSlide4.xml" Id="Rcc27b2765f2f44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3.xml" Id="Rfcf818b42c264053" /><Relationship Type="http://schemas.openxmlformats.org/officeDocument/2006/relationships/image" Target="/ppt/media/image.png" Id="R9ad93cda27a44813" /><Relationship Type="http://schemas.openxmlformats.org/officeDocument/2006/relationships/image" Target="/ppt/media/image3.png" Id="R074b1166022140f2" /><Relationship Type="http://schemas.openxmlformats.org/officeDocument/2006/relationships/notesSlide" Target="/ppt/notesSlides/notesSlide5.xml" Id="R32eeabd2623542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3.xml" Id="R0e5256e205004380" /><Relationship Type="http://schemas.openxmlformats.org/officeDocument/2006/relationships/image" Target="/ppt/media/image.png" Id="Rcb118a11a4264122" /><Relationship Type="http://schemas.openxmlformats.org/officeDocument/2006/relationships/image" Target="/ppt/media/image3.png" Id="Re52d57ba7d6b4653" /><Relationship Type="http://schemas.openxmlformats.org/officeDocument/2006/relationships/notesSlide" Target="/ppt/notesSlides/notesSlide6.xml" Id="R1f121f9601fb4e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0eba1303486a46be" /><Relationship Type="http://schemas.openxmlformats.org/officeDocument/2006/relationships/image" Target="/ppt/media/image4.png" Id="Rca167ab141e54570" /><Relationship Type="http://schemas.openxmlformats.org/officeDocument/2006/relationships/notesSlide" Target="/ppt/notesSlides/notesSlide7.xml" Id="R43d281f5c4d446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6.xml" Id="Rc1e96d43337745a5" /><Relationship Type="http://schemas.openxmlformats.org/officeDocument/2006/relationships/image" Target="/ppt/media/image.png" Id="R70579347676f4ec2" /><Relationship Type="http://schemas.openxmlformats.org/officeDocument/2006/relationships/notesSlide" Target="/ppt/notesSlides/notesSlide8.xml" Id="Rb04a5f0d5bef4e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6.xml" Id="Re43657938a344121" /><Relationship Type="http://schemas.openxmlformats.org/officeDocument/2006/relationships/image" Target="/ppt/media/image.png" Id="Ref34c3568bee4a17" /><Relationship Type="http://schemas.openxmlformats.org/officeDocument/2006/relationships/notesSlide" Target="/ppt/notesSlides/notesSlide9.xml" Id="R425a546071014b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3.xml" Id="R67928742530342bc" /><Relationship Type="http://schemas.openxmlformats.org/officeDocument/2006/relationships/image" Target="/ppt/media/image.png" Id="R8df629795855471c" /><Relationship Type="http://schemas.openxmlformats.org/officeDocument/2006/relationships/image" Target="/ppt/media/image5.png" Id="R57b0148552b74016" /><Relationship Type="http://schemas.openxmlformats.org/officeDocument/2006/relationships/notesSlide" Target="/ppt/notesSlides/notesSlide10.xml" Id="R49c7e40124aa4e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9.xml" Id="R8f69d0e436a44bdc" /><Relationship Type="http://schemas.openxmlformats.org/officeDocument/2006/relationships/image" Target="/ppt/media/image6.png" Id="R698c38f04c6c4cdf" /><Relationship Type="http://schemas.openxmlformats.org/officeDocument/2006/relationships/notesSlide" Target="/ppt/notesSlides/notesSlide11.xml" Id="R8162643aa6f149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99a9a0cd3c9c4409" /><Relationship Type="http://schemas.openxmlformats.org/officeDocument/2006/relationships/notesSlide" Target="/ppt/notesSlides/notesSlide12.xml" Id="Rdd98e26cb9eb42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5.xml" Id="Rd3387886f41749b9" /><Relationship Type="http://schemas.openxmlformats.org/officeDocument/2006/relationships/notesSlide" Target="/ppt/notesSlides/notesSlide13.xml" Id="R9bfc6cca07494b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95797773f5404edc" /><Relationship Type="http://schemas.openxmlformats.org/officeDocument/2006/relationships/notesSlide" Target="/ppt/notesSlides/notesSlide14.xml" Id="R29f8826b5aa141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c38ffdaf42e4795" /><Relationship Type="http://schemas.openxmlformats.org/officeDocument/2006/relationships/image" Target="/ppt/media/image.jpeg" Id="Rab1ee229ef824f30" /><Relationship Type="http://schemas.openxmlformats.org/officeDocument/2006/relationships/image" Target="/ppt/media/image7.png" Id="R50d95b6189114e94" /><Relationship Type="http://schemas.openxmlformats.org/officeDocument/2006/relationships/notesSlide" Target="/ppt/notesSlides/notesSlide15.xml" Id="R40ec605d505a46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28bf5ee80ca4526" /><Relationship Type="http://schemas.openxmlformats.org/officeDocument/2006/relationships/image" Target="/ppt/media/image.jpeg" Id="R81e03a8a65e64be6" /><Relationship Type="http://schemas.openxmlformats.org/officeDocument/2006/relationships/image" Target="/ppt/media/image7.png" Id="R14dd8b54766d44bc" /><Relationship Type="http://schemas.openxmlformats.org/officeDocument/2006/relationships/notesSlide" Target="/ppt/notesSlides/notesSlide16.xml" Id="Rfedad1247ba34b7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3e65d612f4f47b5" /><Relationship Type="http://schemas.openxmlformats.org/officeDocument/2006/relationships/image" Target="/ppt/media/image.jpeg" Id="R494c7872cc874beb" /><Relationship Type="http://schemas.openxmlformats.org/officeDocument/2006/relationships/image" Target="/ppt/media/image7.png" Id="R5ffda17cb02e4ab8" /><Relationship Type="http://schemas.openxmlformats.org/officeDocument/2006/relationships/notesSlide" Target="/ppt/notesSlides/notesSlide17.xml" Id="R51bed7b4be224f8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8d6b37ed88b14dd0" /><Relationship Type="http://schemas.openxmlformats.org/officeDocument/2006/relationships/notesSlide" Target="/ppt/notesSlides/notesSlide18.xml" Id="R3a72451bde364e6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6.xml" Id="R65d58330962741c2" /><Relationship Type="http://schemas.openxmlformats.org/officeDocument/2006/relationships/image" Target="/ppt/media/image.png" Id="Ra1e9e30764fa44fd" /><Relationship Type="http://schemas.openxmlformats.org/officeDocument/2006/relationships/notesSlide" Target="/ppt/notesSlides/notesSlide19.xml" Id="R592579e3c4fe44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6.xml" Id="R99472c94dd544ef0" /><Relationship Type="http://schemas.openxmlformats.org/officeDocument/2006/relationships/image" Target="/ppt/media/image.png" Id="Rac68c2cea9a14294" /><Relationship Type="http://schemas.openxmlformats.org/officeDocument/2006/relationships/image" Target="/ppt/media/image8.png" Id="R0db3c14f03d24ff7" /><Relationship Type="http://schemas.openxmlformats.org/officeDocument/2006/relationships/image" Target="/ppt/media/image9.png" Id="R1221ed624a9d4b13" /><Relationship Type="http://schemas.openxmlformats.org/officeDocument/2006/relationships/notesSlide" Target="/ppt/notesSlides/notesSlide20.xml" Id="Rb1409696585b4b0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6.xml" Id="R928a40ed1a3b4e6c" /><Relationship Type="http://schemas.openxmlformats.org/officeDocument/2006/relationships/image" Target="/ppt/media/image.png" Id="Rb632ac371af34ad5" /><Relationship Type="http://schemas.openxmlformats.org/officeDocument/2006/relationships/notesSlide" Target="/ppt/notesSlides/notesSlide21.xml" Id="R3c5d6af02334458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6.xml" Id="Re6ef482f6bb2401e" /><Relationship Type="http://schemas.openxmlformats.org/officeDocument/2006/relationships/image" Target="/ppt/media/image.png" Id="R2b22e5b3ef0c4bf0" /><Relationship Type="http://schemas.openxmlformats.org/officeDocument/2006/relationships/notesSlide" Target="/ppt/notesSlides/notesSlide22.xml" Id="Rc681256c700645c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7.xml" Id="R8237270910cf4147" /><Relationship Type="http://schemas.openxmlformats.org/officeDocument/2006/relationships/image" Target="/ppt/media/image10.png" Id="Ra3678a1656814f98" /><Relationship Type="http://schemas.openxmlformats.org/officeDocument/2006/relationships/notesSlide" Target="/ppt/notesSlides/notesSlide23.xml" Id="Rf83bd8d0d50b4bb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6.xml" Id="Re71f6d99bf114a2f" /><Relationship Type="http://schemas.openxmlformats.org/officeDocument/2006/relationships/image" Target="/ppt/media/image.png" Id="R3f13daeb04e64689" /><Relationship Type="http://schemas.openxmlformats.org/officeDocument/2006/relationships/notesSlide" Target="/ppt/notesSlides/notesSlide24.xml" Id="Rea3d29fe4c9a426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f5ac3ae23dfb41d0" /><Relationship Type="http://schemas.openxmlformats.org/officeDocument/2006/relationships/notesSlide" Target="/ppt/notesSlides/notesSlide25.xml" Id="R6e19b2e609fa4c9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9.xml" Id="Rb5d014c0a05049ed" /><Relationship Type="http://schemas.openxmlformats.org/officeDocument/2006/relationships/hyperlink" Target="https://doi.org/10.1038/s41598-021-84789-3" TargetMode="External" Id="R9c95350ae90849fa" /><Relationship Type="http://schemas.openxmlformats.org/officeDocument/2006/relationships/hyperlink" Target="https://doi.org/10.1038/s41598-021-84789-3" TargetMode="External" Id="R759d4ff73b5c44d5" /><Relationship Type="http://schemas.openxmlformats.org/officeDocument/2006/relationships/hyperlink" Target="https://doi.org/10.1016/j.apmr.2025.07.004" TargetMode="External" Id="R4af68ca42ee34855" /><Relationship Type="http://schemas.openxmlformats.org/officeDocument/2006/relationships/hyperlink" Target="https://doi.org/10.1016/j.apmr.2025.07.004" TargetMode="External" Id="R4d71c8e2667642ef" /><Relationship Type="http://schemas.openxmlformats.org/officeDocument/2006/relationships/hyperlink" Target="https://doi.org/10.1016/S1474-4422(18)30499-X" TargetMode="External" Id="R8533a898713441b2" /><Relationship Type="http://schemas.openxmlformats.org/officeDocument/2006/relationships/hyperlink" Target="https://doi.org/10.1016/S1474-4422(18)30499-X" TargetMode="External" Id="R1c6beeeb33b546fc" /><Relationship Type="http://schemas.openxmlformats.org/officeDocument/2006/relationships/hyperlink" Target="https://doi.org/10.1186/s13643-022-01966-9" TargetMode="External" Id="R791c2b3781de4014" /><Relationship Type="http://schemas.openxmlformats.org/officeDocument/2006/relationships/hyperlink" Target="https://doi.org/10.1186/s13643-022-01966-9" TargetMode="External" Id="R10d645a02e974283" /><Relationship Type="http://schemas.openxmlformats.org/officeDocument/2006/relationships/hyperlink" Target="https://doi.org/10.1044/1092-4388(2008/018)" TargetMode="External" Id="Rc1bfd55b45b140ee" /><Relationship Type="http://schemas.openxmlformats.org/officeDocument/2006/relationships/hyperlink" Target="https://doi.org/10.1044/1092-4388(2008/018)" TargetMode="External" Id="Rd14d3e984ff14b5d" /><Relationship Type="http://schemas.openxmlformats.org/officeDocument/2006/relationships/hyperlink" Target="https://doi.org/10.1080/10749357.2016.1192361" TargetMode="External" Id="Rc606f54b7a0748f5" /><Relationship Type="http://schemas.openxmlformats.org/officeDocument/2006/relationships/hyperlink" Target="https://doi.org/10.1080/10749357.2016.1192361" TargetMode="External" Id="R001d2dba83ac4a58" /><Relationship Type="http://schemas.openxmlformats.org/officeDocument/2006/relationships/notesSlide" Target="/ppt/notesSlides/notesSlide26.xml" Id="Rf0b00dee71434bc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9" name="Google Shape;89;p19">
            <a:extLst xmlns:a="http://schemas.openxmlformats.org/drawingml/2006/main">
              <a:ext uri="{FF2B5EF4-FFF2-40B4-BE49-F238E27FC236}">
                <a16:creationId xmlns:a16="http://schemas.microsoft.com/office/drawing/2014/main" id="{E443128E-19B4-457B-A569-3B1F1487037E}"/>
              </a:ext>
            </a:extLst>
          </p:cNvPr>
          <p:cNvSpPr>
            <a:spLocks xmlns:a="http://schemas.openxmlformats.org/drawingml/2006/main" noGrp="1"/>
          </p:cNvSpPr>
          <p:nvPr>
            <p:ph type="ctrTitle" idx="0"/>
          </p:nvPr>
        </p:nvSpPr>
        <p:spPr>
          <a:xfrm xmlns:a="http://schemas.openxmlformats.org/drawingml/2006/main">
            <a:off x="311700" y="539725"/>
            <a:ext cx="8520600" cy="12825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indent="0" algn="l">
              <a:spcBef>
                <a:spcPts val="0"/>
              </a:spcBef>
              <a:spcAft>
                <a:spcPts val="0"/>
              </a:spcAft>
              <a:buNone/>
            </a:pPr>
            <a:r>
              <a:t>ReDance</a:t>
            </a:r>
          </a:p>
          <a:p xmlns:a="http://schemas.openxmlformats.org/drawingml/2006/main">
            <a:pPr marL="0" indent="0" algn="l">
              <a:spcBef>
                <a:spcPts val="0"/>
              </a:spcBef>
              <a:spcAft>
                <a:spcPts val="0"/>
              </a:spcAft>
              <a:buNone/>
            </a:pPr>
            <a:r>
              <a:t>Sensor-driven neurorehabilitation</a:t>
            </a:r>
          </a:p>
        </p:txBody>
      </p:sp>
      <p:sp>
        <p:nvSpPr>
          <p:cNvPr id="90" name="Google Shape;90;p19">
            <a:extLst xmlns:a="http://schemas.openxmlformats.org/drawingml/2006/main">
              <a:ext uri="{FF2B5EF4-FFF2-40B4-BE49-F238E27FC236}">
                <a16:creationId xmlns:a16="http://schemas.microsoft.com/office/drawing/2014/main" id="{45EAF1E7-F636-479F-AAF3-1B85E24034F8}"/>
              </a:ext>
            </a:extLst>
          </p:cNvPr>
          <p:cNvSpPr>
            <a:spLocks xmlns:a="http://schemas.openxmlformats.org/drawingml/2006/main" noGrp="1"/>
          </p:cNvSpPr>
          <p:nvPr>
            <p:ph type="subTitle" idx="1"/>
          </p:nvPr>
        </p:nvSpPr>
        <p:spPr>
          <a:xfrm xmlns:a="http://schemas.openxmlformats.org/drawingml/2006/main">
            <a:off x="311700" y="1878550"/>
            <a:ext cx="7023600" cy="11760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indent="0" algn="l">
              <a:spcBef>
                <a:spcPts val="0"/>
              </a:spcBef>
              <a:spcAft>
                <a:spcPts val="0"/>
              </a:spcAft>
              <a:buNone/>
            </a:pPr>
            <a:r>
              <a:t>Simon Appoltshauser, Emily Joyce, Eraraya Morenzo Muten, Maysa Ouaja, and Yujie Yang</a:t>
            </a:r>
          </a:p>
          <a:p xmlns:a="http://schemas.openxmlformats.org/drawingml/2006/main">
            <a:pPr marL="0" indent="0" algn="l">
              <a:spcBef>
                <a:spcPts val="0"/>
              </a:spcBef>
              <a:spcAft>
                <a:spcPts val="0"/>
              </a:spcAft>
              <a:buNone/>
            </a:pPr>
            <a:r>
              <a:t/>
            </a:r>
          </a:p>
        </p:txBody>
      </p:sp>
    </p:spTree>
    <p:extLst>
      <p:ext uri="{BB962C8B-B14F-4D97-AF65-F5344CB8AC3E}">
        <p14:creationId xmlns:p14="http://schemas.microsoft.com/office/powerpoint/2010/main" val="1280974868"/>
      </p:ext>
    </p:extLst>
  </p:cSld>
</p:sld>
</file>

<file path=ppt/slides/slide2.xml><?xml version="1.0" encoding="utf-8"?>
<p:sld xmlns:p="http://schemas.openxmlformats.org/presentationml/2006/main">
  <p:cSld>
    <p:bg>
      <p:bgPr>
        <a:blipFill xmlns:a="http://schemas.openxmlformats.org/drawingml/2006/main">
          <a:blip xmlns:r="http://schemas.openxmlformats.org/officeDocument/2006/relationships" r:embed="R7000dd043d2846dc">
            <a:alphaModFix/>
          </a:blip>
          <a:stretch>
            <a:fillRect l="0" t="0" r="0" b="0"/>
          </a:stretch>
        </a:blipFill>
      </p:bgPr>
    </p:bg>
    <p:spTree>
      <p:nvGrpSpPr>
        <p:cNvPr id="1" name=""/>
        <p:cNvGrpSpPr/>
        <p:nvPr/>
      </p:nvGrpSpPr>
      <p:grpSpPr>
        <a:xfrm xmlns:a="http://schemas.openxmlformats.org/drawingml/2006/main"/>
      </p:grpSpPr>
      <p:sp>
        <p:nvSpPr>
          <p:cNvPr id="95" name="Google Shape;95;p20">
            <a:extLst xmlns:a="http://schemas.openxmlformats.org/drawingml/2006/main">
              <a:ext uri="{FF2B5EF4-FFF2-40B4-BE49-F238E27FC236}">
                <a16:creationId xmlns:a16="http://schemas.microsoft.com/office/drawing/2014/main" id="{239ED590-D1C8-4416-8F6E-5B24BB0F7332}"/>
              </a:ext>
            </a:extLst>
          </p:cNvPr>
          <p:cNvSpPr>
            <a:spLocks xmlns:a="http://schemas.openxmlformats.org/drawingml/2006/main" noGrp="1"/>
          </p:cNvSpPr>
          <p:nvPr/>
        </p:nvSpPr>
        <p:spPr>
          <a:xfrm xmlns:a="http://schemas.openxmlformats.org/drawingml/2006/main">
            <a:off x="0" y="0"/>
            <a:ext cx="40005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6" name="Google Shape;96;p20">
            <a:extLst xmlns:a="http://schemas.openxmlformats.org/drawingml/2006/main">
              <a:ext uri="{FF2B5EF4-FFF2-40B4-BE49-F238E27FC236}">
                <a16:creationId xmlns:a16="http://schemas.microsoft.com/office/drawing/2014/main" id="{BB2E9C81-986D-42E3-A4DE-6245605FC2FF}"/>
              </a:ext>
            </a:extLst>
          </p:cNvPr>
          <p:cNvSpPr>
            <a:spLocks xmlns:a="http://schemas.openxmlformats.org/drawingml/2006/main" noGrp="1"/>
          </p:cNvSpPr>
          <p:nvPr/>
        </p:nvSpPr>
        <p:spPr>
          <a:xfrm xmlns:a="http://schemas.openxmlformats.org/drawingml/2006/main">
            <a:off x="0" y="44125"/>
            <a:ext cx="4000456" cy="4399375"/>
          </a:xfrm>
          <a:custGeom xmlns:a="http://schemas.openxmlformats.org/drawingml/2006/main">
            <a:rect l="l" t="t" r="r" b="b"/>
            <a:pathLst>
              <a:path w="172545" h="175975">
                <a:moveTo>
                  <a:pt x="0" y="157"/>
                </a:moveTo>
                <a:lnTo>
                  <a:pt x="172419" y="0"/>
                </a:lnTo>
                <a:lnTo>
                  <a:pt x="172545" y="126541"/>
                </a:lnTo>
                <a:lnTo>
                  <a:pt x="0" y="175975"/>
                </a:lnTo>
                <a:close/>
              </a:path>
            </a:pathLst>
          </a:custGeom>
          <a:solidFill xmlns:a="http://schemas.openxmlformats.org/drawingml/2006/main">
            <a:schemeClr val="accent2"/>
          </a:solidFill>
          <a:ln xmlns:a="http://schemas.openxmlformats.org/drawingml/2006/main">
            <a:noFill/>
          </a:ln>
        </p:spPr>
      </p:sp>
      <p:sp>
        <p:nvSpPr>
          <p:cNvPr id="97" name="Google Shape;97;p20">
            <a:extLst xmlns:a="http://schemas.openxmlformats.org/drawingml/2006/main">
              <a:ext uri="{FF2B5EF4-FFF2-40B4-BE49-F238E27FC236}">
                <a16:creationId xmlns:a16="http://schemas.microsoft.com/office/drawing/2014/main" id="{E905FA88-34D4-414F-8D9B-C8343C9B0CCC}"/>
              </a:ext>
            </a:extLst>
          </p:cNvPr>
          <p:cNvSpPr>
            <a:spLocks xmlns:a="http://schemas.openxmlformats.org/drawingml/2006/main" noGrp="1"/>
          </p:cNvSpPr>
          <p:nvPr/>
        </p:nvSpPr>
        <p:spPr>
          <a:xfrm xmlns:a="http://schemas.openxmlformats.org/drawingml/2006/main">
            <a:off x="381000" y="1524000"/>
            <a:ext cx="571500" cy="38100"/>
          </a:xfrm>
          <a:prstGeom xmlns:a="http://schemas.openxmlformats.org/drawingml/2006/main" prst="roundRect">
            <a:avLst>
              <a:gd name="adj" fmla="val 50000"/>
            </a:avLst>
          </a:prstGeom>
          <a:solidFill xmlns:a="http://schemas.openxmlformats.org/drawingml/2006/main">
            <a:srgbClr val="6366F1"/>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98" name="Google Shape;98;p20">
            <a:extLst xmlns:a="http://schemas.openxmlformats.org/drawingml/2006/main">
              <a:ext uri="{FF2B5EF4-FFF2-40B4-BE49-F238E27FC236}">
                <a16:creationId xmlns:a16="http://schemas.microsoft.com/office/drawing/2014/main" id="{B3F10E57-D774-43AB-8710-B4E527C9F089}"/>
              </a:ext>
            </a:extLst>
          </p:cNvPr>
          <p:cNvSpPr>
            <a:spLocks xmlns:a="http://schemas.openxmlformats.org/drawingml/2006/main" noGrp="1"/>
          </p:cNvSpPr>
          <p:nvPr/>
        </p:nvSpPr>
        <p:spPr>
          <a:xfrm xmlns:a="http://schemas.openxmlformats.org/drawingml/2006/main">
            <a:off x="-125" y="0"/>
            <a:ext cx="4000471" cy="4395600"/>
          </a:xfrm>
          <a:custGeom xmlns:a="http://schemas.openxmlformats.org/drawingml/2006/main">
            <a:rect l="l" t="t" r="r" b="b"/>
            <a:pathLst>
              <a:path w="172676" h="175824">
                <a:moveTo>
                  <a:pt x="0" y="6"/>
                </a:moveTo>
                <a:lnTo>
                  <a:pt x="172676" y="0"/>
                </a:lnTo>
                <a:lnTo>
                  <a:pt x="172562" y="126442"/>
                </a:lnTo>
                <a:lnTo>
                  <a:pt x="0" y="175824"/>
                </a:lnTo>
                <a:close/>
              </a:path>
            </a:pathLst>
          </a:custGeom>
          <a:solidFill xmlns:a="http://schemas.openxmlformats.org/drawingml/2006/main">
            <a:schemeClr val="dk1"/>
          </a:solidFill>
          <a:ln xmlns:a="http://schemas.openxmlformats.org/drawingml/2006/main">
            <a:noFill/>
          </a:ln>
        </p:spPr>
      </p:sp>
      <p:sp>
        <p:nvSpPr>
          <p:cNvPr id="99" name="Google Shape;99;p20">
            <a:extLst xmlns:a="http://schemas.openxmlformats.org/drawingml/2006/main">
              <a:ext uri="{FF2B5EF4-FFF2-40B4-BE49-F238E27FC236}">
                <a16:creationId xmlns:a16="http://schemas.microsoft.com/office/drawing/2014/main" id="{D108D102-BE6E-4333-966C-74238D69FE3A}"/>
              </a:ext>
            </a:extLst>
          </p:cNvPr>
          <p:cNvSpPr>
            <a:spLocks xmlns:a="http://schemas.openxmlformats.org/drawingml/2006/main" noGrp="1"/>
          </p:cNvSpPr>
          <p:nvPr>
            <p:ph type="title" idx="0"/>
          </p:nvPr>
        </p:nvSpPr>
        <p:spPr>
          <a:xfrm xmlns:a="http://schemas.openxmlformats.org/drawingml/2006/main">
            <a:off x="381000" y="571500"/>
            <a:ext cx="3429000" cy="4170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indent="0" algn="l">
              <a:spcBef>
                <a:spcPts val="0"/>
              </a:spcBef>
              <a:spcAft>
                <a:spcPts val="0"/>
              </a:spcAft>
              <a:buNone/>
            </a:pPr>
            <a:r>
              <a:rPr sz="3200" b="1">
                <a:solidFill>
                  <a:srgbClr val="FFFFFF"/>
                </a:solidFill>
                <a:latin typeface="Merriweather"/>
                <a:ea typeface="Merriweather"/>
                <a:cs typeface="Merriweather"/>
              </a:rPr>
              <a:t>Patient Case</a:t>
            </a:r>
          </a:p>
          <a:p xmlns:a="http://schemas.openxmlformats.org/drawingml/2006/main">
            <a:pPr marL="0" indent="0" algn="l">
              <a:spcBef>
                <a:spcPts val="3000"/>
              </a:spcBef>
              <a:spcAft>
                <a:spcPts val="0"/>
              </a:spcAft>
              <a:buNone/>
            </a:pPr>
            <a:r>
              <a:rPr sz="1600" b="1">
                <a:solidFill>
                  <a:srgbClr val="FFFFFF"/>
                </a:solidFill>
                <a:latin typeface="Roboto"/>
                <a:ea typeface="Roboto"/>
                <a:cs typeface="Roboto"/>
              </a:rPr>
              <a:t>Demographics</a:t>
            </a:r>
          </a:p>
          <a:p xmlns:a="http://schemas.openxmlformats.org/drawingml/2006/main">
            <a:pPr marL="0" indent="0" algn="l">
              <a:spcBef>
                <a:spcPts val="900"/>
              </a:spcBef>
              <a:spcAft>
                <a:spcPts val="0"/>
              </a:spcAft>
              <a:buNone/>
            </a:pPr>
            <a:r>
              <a:rPr sz="1400" b="0">
                <a:solidFill>
                  <a:srgbClr val="E2E8F0"/>
                </a:solidFill>
                <a:latin typeface="Roboto"/>
                <a:ea typeface="Roboto"/>
                <a:cs typeface="Roboto"/>
              </a:rPr>
              <a:t>• 74 years old</a:t>
            </a:r>
          </a:p>
          <a:p xmlns:a="http://schemas.openxmlformats.org/drawingml/2006/main">
            <a:pPr marL="0" indent="0" algn="l">
              <a:spcBef>
                <a:spcPts val="600"/>
              </a:spcBef>
              <a:spcAft>
                <a:spcPts val="0"/>
              </a:spcAft>
              <a:buNone/>
            </a:pPr>
            <a:r>
              <a:rPr sz="1400" b="0">
                <a:solidFill>
                  <a:srgbClr val="E2E8F0"/>
                </a:solidFill>
                <a:latin typeface="Roboto"/>
                <a:ea typeface="Roboto"/>
                <a:cs typeface="Roboto"/>
              </a:rPr>
              <a:t>• Mother of 2 Children</a:t>
            </a:r>
          </a:p>
          <a:p xmlns:a="http://schemas.openxmlformats.org/drawingml/2006/main">
            <a:pPr marL="0" indent="0" algn="l">
              <a:spcBef>
                <a:spcPts val="600"/>
              </a:spcBef>
              <a:spcAft>
                <a:spcPts val="0"/>
              </a:spcAft>
              <a:buNone/>
            </a:pPr>
            <a:r>
              <a:rPr sz="1400" b="0">
                <a:solidFill>
                  <a:srgbClr val="E2E8F0"/>
                </a:solidFill>
                <a:latin typeface="Roboto"/>
                <a:ea typeface="Roboto"/>
                <a:cs typeface="Roboto"/>
              </a:rPr>
              <a:t>• Married</a:t>
            </a:r>
          </a:p>
          <a:p xmlns:a="http://schemas.openxmlformats.org/drawingml/2006/main">
            <a:pPr marL="0" indent="0" algn="l">
              <a:spcBef>
                <a:spcPts val="1800"/>
              </a:spcBef>
              <a:spcAft>
                <a:spcPts val="0"/>
              </a:spcAft>
              <a:buNone/>
            </a:pPr>
            <a:r>
              <a:rPr sz="1600" b="1">
                <a:solidFill>
                  <a:srgbClr val="FFFFFF"/>
                </a:solidFill>
                <a:latin typeface="Roboto"/>
                <a:ea typeface="Roboto"/>
                <a:cs typeface="Roboto"/>
              </a:rPr>
              <a:t>Background</a:t>
            </a:r>
          </a:p>
          <a:p xmlns:a="http://schemas.openxmlformats.org/drawingml/2006/main">
            <a:pPr marL="0" indent="0" algn="l">
              <a:spcBef>
                <a:spcPts val="900"/>
              </a:spcBef>
              <a:spcAft>
                <a:spcPts val="0"/>
              </a:spcAft>
              <a:buNone/>
            </a:pPr>
            <a:r>
              <a:rPr sz="1400" b="0">
                <a:solidFill>
                  <a:srgbClr val="E2E8F0"/>
                </a:solidFill>
                <a:latin typeface="Roboto"/>
                <a:ea typeface="Roboto"/>
                <a:cs typeface="Roboto"/>
              </a:rPr>
              <a:t>• Dedicated Housewife</a:t>
            </a:r>
          </a:p>
          <a:p xmlns:a="http://schemas.openxmlformats.org/drawingml/2006/main">
            <a:pPr marL="0" indent="0" algn="l">
              <a:spcBef>
                <a:spcPts val="600"/>
              </a:spcBef>
              <a:spcAft>
                <a:spcPts val="600"/>
              </a:spcAft>
              <a:buNone/>
            </a:pPr>
            <a:r>
              <a:rPr sz="1400" b="0">
                <a:solidFill>
                  <a:srgbClr val="E2E8F0"/>
                </a:solidFill>
                <a:latin typeface="Roboto"/>
                <a:ea typeface="Roboto"/>
                <a:cs typeface="Roboto"/>
              </a:rPr>
              <a:t>• Very involved family</a:t>
            </a:r>
          </a:p>
        </p:txBody>
      </p:sp>
      <p:sp>
        <p:nvSpPr>
          <p:cNvPr id="101" name="Google Shape;101;p20">
            <a:extLst xmlns:a="http://schemas.openxmlformats.org/drawingml/2006/main">
              <a:ext uri="{FF2B5EF4-FFF2-40B4-BE49-F238E27FC236}">
                <a16:creationId xmlns:a16="http://schemas.microsoft.com/office/drawing/2014/main" id="{37F737BC-5987-4D74-8FF2-5CCAEE2071CD}"/>
              </a:ext>
            </a:extLst>
          </p:cNvPr>
          <p:cNvSpPr>
            <a:spLocks xmlns:a="http://schemas.openxmlformats.org/drawingml/2006/main" noGrp="1"/>
          </p:cNvSpPr>
          <p:nvPr/>
        </p:nvSpPr>
        <p:spPr>
          <a:xfrm xmlns:a="http://schemas.openxmlformats.org/drawingml/2006/main" rot="0" flipH="0" flipV="0">
            <a:off x="4572000" y="381000"/>
            <a:ext cx="4191000" cy="20001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2" name="Google Shape;102;p20">
            <a:extLst xmlns:a="http://schemas.openxmlformats.org/drawingml/2006/main">
              <a:ext uri="{FF2B5EF4-FFF2-40B4-BE49-F238E27FC236}">
                <a16:creationId xmlns:a16="http://schemas.microsoft.com/office/drawing/2014/main" id="{4E0F4FB0-CD8E-444F-95D6-39808DAB38AD}"/>
              </a:ext>
            </a:extLst>
          </p:cNvPr>
          <p:cNvSpPr>
            <a:spLocks xmlns:a="http://schemas.openxmlformats.org/drawingml/2006/main" noGrp="1"/>
          </p:cNvSpPr>
          <p:nvPr/>
        </p:nvSpPr>
        <p:spPr>
          <a:xfrm xmlns:a="http://schemas.openxmlformats.org/drawingml/2006/main" rot="0" flipH="0" flipV="0">
            <a:off x="4762500" y="523875"/>
            <a:ext cx="3810000" cy="17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a:solidFill>
                  <a:srgbClr val="10B981"/>
                </a:solidFill>
                <a:latin typeface="Material Icons"/>
                <a:ea typeface="Material Icons"/>
                <a:cs typeface="Material Icons"/>
              </a:rPr>
              <a:t>Likes</a:t>
            </a:r>
          </a:p>
          <a:p xmlns:a="http://schemas.openxmlformats.org/drawingml/2006/main">
            <a:pPr marL="457200" indent="-317500" algn="l">
              <a:spcBef>
                <a:spcPts val="1125"/>
              </a:spcBef>
              <a:spcAft>
                <a:spcPts val="0"/>
              </a:spcAft>
              <a:buClr>
                <a:srgbClr val="475569"/>
              </a:buClr>
              <a:buSzPts val="1400"/>
              <a:buFont typeface="Roboto"/>
              <a:buChar char="●"/>
            </a:pPr>
            <a:r>
              <a:rPr sz="1400">
                <a:solidFill>
                  <a:srgbClr val="475569"/>
                </a:solidFill>
                <a:latin typeface="Roboto"/>
                <a:ea typeface="Roboto"/>
                <a:cs typeface="Roboto"/>
              </a:rPr>
              <a:t>Music, Rhythm, dancing</a:t>
            </a:r>
          </a:p>
          <a:p xmlns:a="http://schemas.openxmlformats.org/drawingml/2006/main">
            <a:pPr marL="457200" indent="-317500" algn="l">
              <a:spcBef>
                <a:spcPts val="600"/>
              </a:spcBef>
              <a:spcAft>
                <a:spcPts val="0"/>
              </a:spcAft>
              <a:buClr>
                <a:srgbClr val="475569"/>
              </a:buClr>
              <a:buSzPts val="1400"/>
              <a:buFont typeface="Roboto"/>
              <a:buChar char="●"/>
            </a:pPr>
            <a:r>
              <a:rPr sz="1400">
                <a:solidFill>
                  <a:srgbClr val="475569"/>
                </a:solidFill>
                <a:latin typeface="Roboto"/>
                <a:ea typeface="Roboto"/>
                <a:cs typeface="Roboto"/>
              </a:rPr>
              <a:t>Cleanliness and Tidiness</a:t>
            </a:r>
          </a:p>
          <a:p xmlns:a="http://schemas.openxmlformats.org/drawingml/2006/main">
            <a:pPr marL="457200" indent="-317500" algn="l">
              <a:spcBef>
                <a:spcPts val="600"/>
              </a:spcBef>
              <a:spcAft>
                <a:spcPts val="0"/>
              </a:spcAft>
              <a:buClr>
                <a:srgbClr val="475569"/>
              </a:buClr>
              <a:buSzPts val="1400"/>
              <a:buFont typeface="Roboto"/>
              <a:buChar char="●"/>
            </a:pPr>
            <a:r>
              <a:rPr sz="1400">
                <a:solidFill>
                  <a:srgbClr val="475569"/>
                </a:solidFill>
                <a:latin typeface="Roboto"/>
                <a:ea typeface="Roboto"/>
                <a:cs typeface="Roboto"/>
              </a:rPr>
              <a:t>Gymnastics</a:t>
            </a:r>
          </a:p>
          <a:p xmlns:a="http://schemas.openxmlformats.org/drawingml/2006/main">
            <a:pPr marL="457200" indent="-317500" algn="l">
              <a:spcBef>
                <a:spcPts val="600"/>
              </a:spcBef>
              <a:spcAft>
                <a:spcPts val="0"/>
              </a:spcAft>
              <a:buClr>
                <a:srgbClr val="475569"/>
              </a:buClr>
              <a:buSzPts val="1400"/>
              <a:buFont typeface="Roboto"/>
              <a:buChar char="●"/>
            </a:pPr>
            <a:r>
              <a:rPr sz="1400">
                <a:solidFill>
                  <a:srgbClr val="475569"/>
                </a:solidFill>
                <a:latin typeface="Roboto"/>
                <a:ea typeface="Roboto"/>
                <a:cs typeface="Roboto"/>
              </a:rPr>
              <a:t>Hiking</a:t>
            </a:r>
          </a:p>
        </p:txBody>
      </p:sp>
      <p:sp>
        <p:nvSpPr>
          <p:cNvPr id="104" name="Google Shape;104;p20">
            <a:extLst xmlns:a="http://schemas.openxmlformats.org/drawingml/2006/main">
              <a:ext uri="{FF2B5EF4-FFF2-40B4-BE49-F238E27FC236}">
                <a16:creationId xmlns:a16="http://schemas.microsoft.com/office/drawing/2014/main" id="{F559DFBA-C45D-4285-B842-A06EA37204E7}"/>
              </a:ext>
            </a:extLst>
          </p:cNvPr>
          <p:cNvSpPr>
            <a:spLocks xmlns:a="http://schemas.openxmlformats.org/drawingml/2006/main" noGrp="1"/>
          </p:cNvSpPr>
          <p:nvPr/>
        </p:nvSpPr>
        <p:spPr>
          <a:xfrm xmlns:a="http://schemas.openxmlformats.org/drawingml/2006/main" rot="0" flipH="0" flipV="0">
            <a:off x="4572000" y="2571750"/>
            <a:ext cx="4191000" cy="20001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05" name="Google Shape;105;p20">
            <a:extLst xmlns:a="http://schemas.openxmlformats.org/drawingml/2006/main">
              <a:ext uri="{FF2B5EF4-FFF2-40B4-BE49-F238E27FC236}">
                <a16:creationId xmlns:a16="http://schemas.microsoft.com/office/drawing/2014/main" id="{924A195A-9576-49C3-838F-0E73F189BB97}"/>
              </a:ext>
            </a:extLst>
          </p:cNvPr>
          <p:cNvSpPr>
            <a:spLocks xmlns:a="http://schemas.openxmlformats.org/drawingml/2006/main" noGrp="1"/>
          </p:cNvSpPr>
          <p:nvPr/>
        </p:nvSpPr>
        <p:spPr>
          <a:xfrm xmlns:a="http://schemas.openxmlformats.org/drawingml/2006/main" rot="0" flipH="0" flipV="0">
            <a:off x="4762500" y="2714625"/>
            <a:ext cx="3810000" cy="17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400">
                <a:solidFill>
                  <a:srgbClr val="EF4444"/>
                </a:solidFill>
                <a:latin typeface="Material Icons"/>
                <a:ea typeface="Material Icons"/>
                <a:cs typeface="Material Icons"/>
              </a:rPr>
              <a:t>Dislikes</a:t>
            </a:r>
          </a:p>
          <a:p xmlns:a="http://schemas.openxmlformats.org/drawingml/2006/main">
            <a:pPr marL="457200" indent="-317500" algn="l">
              <a:spcBef>
                <a:spcPts val="1125"/>
              </a:spcBef>
              <a:spcAft>
                <a:spcPts val="0"/>
              </a:spcAft>
              <a:buClr>
                <a:srgbClr val="475569"/>
              </a:buClr>
              <a:buSzPts val="1400"/>
              <a:buFont typeface="Roboto"/>
              <a:buChar char="●"/>
            </a:pPr>
            <a:r>
              <a:rPr sz="1400">
                <a:solidFill>
                  <a:srgbClr val="475569"/>
                </a:solidFill>
                <a:latin typeface="Roboto"/>
                <a:ea typeface="Roboto"/>
                <a:cs typeface="Roboto"/>
              </a:rPr>
              <a:t>Singing</a:t>
            </a:r>
          </a:p>
          <a:p xmlns:a="http://schemas.openxmlformats.org/drawingml/2006/main">
            <a:pPr marL="457200" indent="-317500" algn="l">
              <a:spcBef>
                <a:spcPts val="600"/>
              </a:spcBef>
              <a:spcAft>
                <a:spcPts val="0"/>
              </a:spcAft>
              <a:buClr>
                <a:srgbClr val="475569"/>
              </a:buClr>
              <a:buSzPts val="1400"/>
              <a:buFont typeface="Roboto"/>
              <a:buChar char="●"/>
            </a:pPr>
            <a:r>
              <a:rPr sz="1400">
                <a:solidFill>
                  <a:srgbClr val="475569"/>
                </a:solidFill>
                <a:latin typeface="Roboto"/>
                <a:ea typeface="Roboto"/>
                <a:cs typeface="Roboto"/>
              </a:rPr>
              <a:t>Crumpled Shirts</a:t>
            </a:r>
          </a:p>
          <a:p xmlns:a="http://schemas.openxmlformats.org/drawingml/2006/main">
            <a:pPr marL="457200" indent="-317500" algn="l">
              <a:spcBef>
                <a:spcPts val="600"/>
              </a:spcBef>
              <a:spcAft>
                <a:spcPts val="0"/>
              </a:spcAft>
              <a:buClr>
                <a:srgbClr val="475569"/>
              </a:buClr>
              <a:buSzPts val="1400"/>
              <a:buFont typeface="Roboto"/>
              <a:buChar char="●"/>
            </a:pPr>
            <a:r>
              <a:rPr sz="1400">
                <a:solidFill>
                  <a:srgbClr val="475569"/>
                </a:solidFill>
                <a:latin typeface="Roboto"/>
                <a:ea typeface="Roboto"/>
                <a:cs typeface="Roboto"/>
              </a:rPr>
              <a:t>Dirt / Stains</a:t>
            </a:r>
          </a:p>
          <a:p xmlns:a="http://schemas.openxmlformats.org/drawingml/2006/main">
            <a:pPr marL="457200" indent="-317500" algn="l">
              <a:spcBef>
                <a:spcPts val="600"/>
              </a:spcBef>
              <a:spcAft>
                <a:spcPts val="0"/>
              </a:spcAft>
              <a:buClr>
                <a:srgbClr val="475569"/>
              </a:buClr>
              <a:buSzPts val="1400"/>
              <a:buFont typeface="Roboto"/>
              <a:buChar char="●"/>
            </a:pPr>
            <a:r>
              <a:rPr sz="1400">
                <a:solidFill>
                  <a:srgbClr val="475569"/>
                </a:solidFill>
                <a:latin typeface="Roboto"/>
                <a:ea typeface="Roboto"/>
                <a:cs typeface="Roboto"/>
              </a:rPr>
              <a:t>Exhausting exercise</a:t>
            </a:r>
          </a:p>
        </p:txBody>
      </p:sp>
    </p:spTree>
    <p:extLst>
      <p:ext uri="{BB962C8B-B14F-4D97-AF65-F5344CB8AC3E}">
        <p14:creationId xmlns:p14="http://schemas.microsoft.com/office/powerpoint/2010/main" val="150607434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10" name="Google Shape;110;p21">
            <a:extLst xmlns:a="http://schemas.openxmlformats.org/drawingml/2006/main">
              <a:ext uri="{FF2B5EF4-FFF2-40B4-BE49-F238E27FC236}">
                <a16:creationId xmlns:a16="http://schemas.microsoft.com/office/drawing/2014/main" id="{4F4EFEBF-C073-40B6-8FF6-FDE5EF632E21}"/>
              </a:ext>
            </a:extLst>
          </p:cNvPr>
          <p:cNvSpPr>
            <a:spLocks xmlns:a="http://schemas.openxmlformats.org/drawingml/2006/main" noGrp="1"/>
          </p:cNvSpPr>
          <p:nvPr/>
        </p:nvSpPr>
        <p:spPr>
          <a:xfrm xmlns:a="http://schemas.openxmlformats.org/drawingml/2006/main">
            <a:off x="0" y="0"/>
            <a:ext cx="9144000" cy="12771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11" name="Google Shape;111;p21">
            <a:extLst xmlns:a="http://schemas.openxmlformats.org/drawingml/2006/main">
              <a:ext uri="{FF2B5EF4-FFF2-40B4-BE49-F238E27FC236}">
                <a16:creationId xmlns:a16="http://schemas.microsoft.com/office/drawing/2014/main" id="{3E644C82-4F81-46AB-95EF-96F1B82951EE}"/>
              </a:ext>
            </a:extLst>
          </p:cNvPr>
          <p:cNvSpPr>
            <a:spLocks xmlns:a="http://schemas.openxmlformats.org/drawingml/2006/main" noGrp="1"/>
          </p:cNvSpPr>
          <p:nvPr>
            <p:ph type="title" idx="0"/>
          </p:nvPr>
        </p:nvSpPr>
        <p:spPr>
          <a:xfrm xmlns:a="http://schemas.openxmlformats.org/drawingml/2006/main">
            <a:off x="311725" y="500925"/>
            <a:ext cx="8520600" cy="6237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indent="0" algn="l">
              <a:spcBef>
                <a:spcPts val="0"/>
              </a:spcBef>
              <a:spcAft>
                <a:spcPts val="0"/>
              </a:spcAft>
              <a:buNone/>
            </a:pPr>
            <a:r>
              <a:t>Clinical movements anchor the routine</a:t>
            </a:r>
          </a:p>
        </p:txBody>
      </p:sp>
      <p:graphicFrame>
        <p:nvGraphicFramePr>
          <p:cNvPr id="115" name="Google Shape;112;p21"/>
          <p:cNvGraphicFramePr/>
          <p:nvPr/>
        </p:nvGraphicFramePr>
        <p:xfrm>
          <a:off xmlns:a="http://schemas.openxmlformats.org/drawingml/2006/main" x="952500" y="2145200"/>
          <a:ext xmlns:a="http://schemas.openxmlformats.org/drawingml/2006/main" cx="3000000" cy="3000000"/>
        </p:xfrm>
        <a:graphic xmlns:a="http://schemas.openxmlformats.org/drawingml/2006/main">
          <a:graphicData uri="http://schemas.openxmlformats.org/drawingml/2006/table">
            <a:tbl>
              <a:tblPr>
                <a:tableStyleId>{855F0A35-0313-404A-8E25-D703610F22B9}</a:tableStyleId>
              </a:tblPr>
              <a:tblGrid>
                <a:gridCol w="4141050"/>
                <a:gridCol w="684950"/>
                <a:gridCol w="2413000"/>
              </a:tblGrid>
              <a:tr h="381000">
                <a:tc>
                  <a:txBody>
                    <a:bodyPr/>
                    <a:lstStyle/>
                    <a:p>
                      <a:pPr marL="0" indent="0" algn="ctr">
                        <a:spcBef>
                          <a:spcPts val="0"/>
                        </a:spcBef>
                        <a:spcAft>
                          <a:spcPts val="0"/>
                        </a:spcAft>
                        <a:buNone/>
                      </a:pPr>
                      <a:r>
                        <a:t>Item</a:t>
                      </a:r>
                    </a:p>
                  </a:txBody>
                  <a:tcPr marL="91425" marR="91425" marT="91425" marB="91425"/>
                </a:tc>
                <a:tc>
                  <a:txBody>
                    <a:bodyPr/>
                    <a:lstStyle/>
                    <a:p>
                      <a:pPr marL="0" indent="0" algn="ctr">
                        <a:spcBef>
                          <a:spcPts val="0"/>
                        </a:spcBef>
                        <a:spcAft>
                          <a:spcPts val="0"/>
                        </a:spcAft>
                        <a:buNone/>
                      </a:pPr>
                      <a:r>
                        <a:t>Score</a:t>
                      </a:r>
                    </a:p>
                  </a:txBody>
                  <a:tcPr marL="91425" marR="91425" marT="91425" marB="91425"/>
                </a:tc>
                <a:tc>
                  <a:txBody>
                    <a:bodyPr/>
                    <a:lstStyle/>
                    <a:p>
                      <a:pPr marL="0" indent="0" algn="ctr">
                        <a:spcBef>
                          <a:spcPts val="0"/>
                        </a:spcBef>
                        <a:spcAft>
                          <a:spcPts val="0"/>
                        </a:spcAft>
                        <a:buNone/>
                      </a:pPr>
                      <a:r>
                        <a:t>Training Movement</a:t>
                      </a:r>
                    </a:p>
                  </a:txBody>
                  <a:tcPr marL="91425" marR="91425" marT="91425" marB="91425"/>
                </a:tc>
              </a:tr>
              <a:tr h="381000">
                <a:tc>
                  <a:txBody>
                    <a:bodyPr/>
                    <a:lstStyle/>
                    <a:p>
                      <a:pPr marL="0" indent="0" algn="l">
                        <a:spcBef>
                          <a:spcPts val="0"/>
                        </a:spcBef>
                        <a:spcAft>
                          <a:spcPts val="0"/>
                        </a:spcAft>
                        <a:buNone/>
                      </a:pPr>
                      <a:r>
                        <a:rPr b="1"/>
                        <a:t>9.</a:t>
                      </a:r>
                      <a:r>
                        <a:t> Pick up object from </a:t>
                      </a:r>
                      <a:r>
                        <a:t>ground</a:t>
                      </a:r>
                      <a:r>
                        <a:t> from a standing position</a:t>
                      </a:r>
                    </a:p>
                  </a:txBody>
                  <a:tcPr marL="91425" marR="91425" marT="91425" marB="91425"/>
                </a:tc>
                <a:tc>
                  <a:txBody>
                    <a:bodyPr/>
                    <a:lstStyle/>
                    <a:p>
                      <a:pPr marL="0" indent="0" algn="ctr">
                        <a:spcBef>
                          <a:spcPts val="0"/>
                        </a:spcBef>
                        <a:spcAft>
                          <a:spcPts val="0"/>
                        </a:spcAft>
                        <a:buNone/>
                      </a:pPr>
                      <a:r>
                        <a:t>3</a:t>
                      </a:r>
                    </a:p>
                  </a:txBody>
                  <a:tcPr marL="91425" marR="91425" marT="91425" marB="91425"/>
                </a:tc>
                <a:tc>
                  <a:txBody>
                    <a:bodyPr/>
                    <a:lstStyle/>
                    <a:p>
                      <a:pPr marL="0" indent="0" algn="l">
                        <a:spcBef>
                          <a:spcPts val="0"/>
                        </a:spcBef>
                        <a:spcAft>
                          <a:spcPts val="0"/>
                        </a:spcAft>
                        <a:buNone/>
                      </a:pPr>
                      <a:r>
                        <a:t>Trunk Flexion</a:t>
                      </a:r>
                    </a:p>
                  </a:txBody>
                  <a:tcPr marL="91425" marR="91425" marT="91425" marB="91425"/>
                </a:tc>
              </a:tr>
              <a:tr h="381000">
                <a:tc>
                  <a:txBody>
                    <a:bodyPr/>
                    <a:lstStyle/>
                    <a:p>
                      <a:pPr marL="0" indent="0" algn="l">
                        <a:spcBef>
                          <a:spcPts val="0"/>
                        </a:spcBef>
                        <a:spcAft>
                          <a:spcPts val="0"/>
                        </a:spcAft>
                        <a:buNone/>
                      </a:pPr>
                      <a:r>
                        <a:rPr b="1"/>
                        <a:t>10. </a:t>
                      </a:r>
                      <a:r>
                        <a:t>Turning to look behind over left and right shoulders while standing</a:t>
                      </a:r>
                    </a:p>
                  </a:txBody>
                  <a:tcPr marL="91425" marR="91425" marT="91425" marB="91425"/>
                </a:tc>
                <a:tc>
                  <a:txBody>
                    <a:bodyPr/>
                    <a:lstStyle/>
                    <a:p>
                      <a:pPr marL="0" indent="0" algn="ctr">
                        <a:spcBef>
                          <a:spcPts val="0"/>
                        </a:spcBef>
                        <a:spcAft>
                          <a:spcPts val="0"/>
                        </a:spcAft>
                        <a:buNone/>
                      </a:pPr>
                      <a:r>
                        <a:t>2</a:t>
                      </a:r>
                    </a:p>
                  </a:txBody>
                  <a:tcPr marL="91425" marR="91425" marT="91425" marB="91425"/>
                </a:tc>
                <a:tc>
                  <a:txBody>
                    <a:bodyPr/>
                    <a:lstStyle/>
                    <a:p>
                      <a:pPr marL="0" indent="0" algn="l">
                        <a:spcBef>
                          <a:spcPts val="0"/>
                        </a:spcBef>
                        <a:spcAft>
                          <a:spcPts val="0"/>
                        </a:spcAft>
                        <a:buNone/>
                      </a:pPr>
                      <a:r>
                        <a:t>Trunk Rotation</a:t>
                      </a:r>
                    </a:p>
                  </a:txBody>
                  <a:tcPr marL="91425" marR="91425" marT="91425" marB="91425"/>
                </a:tc>
              </a:tr>
              <a:tr h="381000">
                <a:tc>
                  <a:txBody>
                    <a:bodyPr/>
                    <a:lstStyle/>
                    <a:p>
                      <a:pPr marL="0" indent="0" algn="l">
                        <a:spcBef>
                          <a:spcPts val="0"/>
                        </a:spcBef>
                        <a:spcAft>
                          <a:spcPts val="0"/>
                        </a:spcAft>
                        <a:buNone/>
                      </a:pPr>
                      <a:r>
                        <a:rPr b="1"/>
                        <a:t>12. </a:t>
                      </a:r>
                      <a:r>
                        <a:t>Alternate placing of feet on </a:t>
                      </a:r>
                      <a:r>
                        <a:t>stair, while standing unsupported</a:t>
                      </a:r>
                    </a:p>
                  </a:txBody>
                  <a:tcPr marL="91425" marR="91425" marT="91425" marB="91425"/>
                </a:tc>
                <a:tc>
                  <a:txBody>
                    <a:bodyPr/>
                    <a:lstStyle/>
                    <a:p>
                      <a:pPr marL="0" indent="0" algn="ctr">
                        <a:spcBef>
                          <a:spcPts val="0"/>
                        </a:spcBef>
                        <a:spcAft>
                          <a:spcPts val="0"/>
                        </a:spcAft>
                        <a:buNone/>
                      </a:pPr>
                      <a:r>
                        <a:t>2.5</a:t>
                      </a:r>
                    </a:p>
                  </a:txBody>
                  <a:tcPr marL="91425" marR="91425" marT="91425" marB="91425"/>
                </a:tc>
                <a:tc>
                  <a:txBody>
                    <a:bodyPr/>
                    <a:lstStyle/>
                    <a:p>
                      <a:pPr marL="0" indent="0" algn="l">
                        <a:spcBef>
                          <a:spcPts val="0"/>
                        </a:spcBef>
                        <a:spcAft>
                          <a:spcPts val="0"/>
                        </a:spcAft>
                        <a:buNone/>
                      </a:pPr>
                      <a:r>
                        <a:t>Hip Flexion</a:t>
                      </a:r>
                    </a:p>
                  </a:txBody>
                  <a:tcPr marL="91425" marR="91425" marT="91425" marB="91425"/>
                </a:tc>
              </a:tr>
            </a:tbl>
          </a:graphicData>
        </a:graphic>
      </p:graphicFrame>
    </p:spTree>
    <p:extLst>
      <p:ext uri="{BB962C8B-B14F-4D97-AF65-F5344CB8AC3E}">
        <p14:creationId xmlns:p14="http://schemas.microsoft.com/office/powerpoint/2010/main" val="796185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20" name="Google Shape;117;p22"/>
          <p:cNvPicPr>
            <a:picLocks xmlns:a="http://schemas.openxmlformats.org/drawingml/2006/main" noChangeAspect="1"/>
          </p:cNvPicPr>
          <p:nvPr/>
        </p:nvPicPr>
        <p:blipFill>
          <a:blip xmlns:r="http://schemas.openxmlformats.org/officeDocument/2006/relationships" xmlns:a="http://schemas.openxmlformats.org/drawingml/2006/main" r:embed="Ra83013a73135475f">
            <a:alphaModFix/>
          </a:blip>
          <a:stretch xmlns:a="http://schemas.openxmlformats.org/drawingml/2006/main">
            <a:fillRect l="0" t="0" r="0" b="0"/>
          </a:stretch>
        </p:blipFill>
        <p:spPr>
          <a:xfrm xmlns:a="http://schemas.openxmlformats.org/drawingml/2006/main">
            <a:off x="4347975" y="1364988"/>
            <a:ext cx="4796024" cy="2413525"/>
          </a:xfrm>
          <a:prstGeom xmlns:a="http://schemas.openxmlformats.org/drawingml/2006/main" prst="rect">
            <a:avLst/>
          </a:prstGeom>
          <a:ln xmlns:a="http://schemas.openxmlformats.org/drawingml/2006/main">
            <a:noFill/>
          </a:ln>
        </p:spPr>
      </p:pic>
      <p:sp>
        <p:nvSpPr>
          <p:cNvPr id="118" name="Google Shape;118;p22">
            <a:extLst xmlns:a="http://schemas.openxmlformats.org/drawingml/2006/main">
              <a:ext uri="{FF2B5EF4-FFF2-40B4-BE49-F238E27FC236}">
                <a16:creationId xmlns:a16="http://schemas.microsoft.com/office/drawing/2014/main" id="{C95AFEC5-7F5C-498E-A9E3-5D3A6BB6FB3D}"/>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fontScale="95392"/>
          </a:bodyPr>
          <a:lstStyle xmlns:a="http://schemas.openxmlformats.org/drawingml/2006/main"/>
          <a:p xmlns:a="http://schemas.openxmlformats.org/drawingml/2006/main">
            <a:pPr marL="0" indent="0" algn="l">
              <a:spcBef>
                <a:spcPts val="0"/>
              </a:spcBef>
              <a:spcAft>
                <a:spcPts val="0"/>
              </a:spcAft>
              <a:buNone/>
            </a:pPr>
            <a:r>
              <a:t>Why gamification?</a:t>
            </a:r>
          </a:p>
          <a:p xmlns:a="http://schemas.openxmlformats.org/drawingml/2006/main">
            <a:pPr marL="0" indent="0" algn="l">
              <a:spcBef>
                <a:spcPts val="0"/>
              </a:spcBef>
              <a:spcAft>
                <a:spcPts val="0"/>
              </a:spcAft>
              <a:buNone/>
            </a:pPr>
            <a:r>
              <a:t/>
            </a:r>
          </a:p>
          <a:p xmlns:a="http://schemas.openxmlformats.org/drawingml/2006/main">
            <a:pPr marL="0" indent="0" algn="l">
              <a:spcBef>
                <a:spcPts val="0"/>
              </a:spcBef>
              <a:spcAft>
                <a:spcPts val="0"/>
              </a:spcAft>
              <a:buNone/>
            </a:pPr>
            <a:r>
              <a:t/>
            </a:r>
          </a:p>
          <a:p xmlns:a="http://schemas.openxmlformats.org/drawingml/2006/main">
            <a:pPr marL="0" indent="0" algn="l">
              <a:lnSpc>
                <a:spcPct val="150000"/>
              </a:lnSpc>
              <a:spcBef>
                <a:spcPts val="0"/>
              </a:spcBef>
              <a:spcAft>
                <a:spcPts val="0"/>
              </a:spcAft>
              <a:buNone/>
            </a:pPr>
            <a:r>
              <a:rPr sz="1600">
                <a:solidFill>
                  <a:srgbClr val="FFFFFF"/>
                </a:solidFill>
                <a:latin typeface="Arial"/>
                <a:ea typeface="Arial"/>
                <a:cs typeface="Arial"/>
              </a:rPr>
              <a:t>Repetition becomes engaging and motivating</a:t>
            </a:r>
          </a:p>
          <a:p xmlns:a="http://schemas.openxmlformats.org/drawingml/2006/main">
            <a:pPr marL="0" indent="0" algn="l">
              <a:spcBef>
                <a:spcPts val="0"/>
              </a:spcBef>
              <a:spcAft>
                <a:spcPts val="0"/>
              </a:spcAft>
              <a:buNone/>
            </a:pPr>
            <a:r>
              <a:t/>
            </a:r>
          </a:p>
        </p:txBody>
      </p:sp>
    </p:spTree>
    <p:extLst>
      <p:ext uri="{BB962C8B-B14F-4D97-AF65-F5344CB8AC3E}">
        <p14:creationId xmlns:p14="http://schemas.microsoft.com/office/powerpoint/2010/main" val="13685435"/>
      </p:ext>
    </p:extLst>
  </p:cSld>
</p:sld>
</file>

<file path=ppt/slides/slide5.xml><?xml version="1.0" encoding="utf-8"?>
<p:sld xmlns:p="http://schemas.openxmlformats.org/presentationml/2006/main">
  <p:cSld>
    <p:bg>
      <p:bgPr>
        <a:blipFill xmlns:a="http://schemas.openxmlformats.org/drawingml/2006/main">
          <a:blip xmlns:r="http://schemas.openxmlformats.org/officeDocument/2006/relationships" r:embed="R9ad93cda27a44813">
            <a:alphaModFix/>
          </a:blip>
          <a:stretch>
            <a:fillRect l="0" t="0" r="0" b="0"/>
          </a:stretch>
        </a:blipFill>
      </p:bgPr>
    </p:bg>
    <p:spTree>
      <p:nvGrpSpPr>
        <p:cNvPr id="1" name=""/>
        <p:cNvGrpSpPr/>
        <p:nvPr/>
      </p:nvGrpSpPr>
      <p:grpSpPr>
        <a:xfrm xmlns:a="http://schemas.openxmlformats.org/drawingml/2006/main"/>
      </p:grpSpPr>
      <p:sp>
        <p:nvSpPr>
          <p:cNvPr id="167" name="Google Shape;167;p27">
            <a:extLst xmlns:a="http://schemas.openxmlformats.org/drawingml/2006/main">
              <a:ext uri="{FF2B5EF4-FFF2-40B4-BE49-F238E27FC236}">
                <a16:creationId xmlns:a16="http://schemas.microsoft.com/office/drawing/2014/main" id="{0FD93BDF-0217-418C-9938-9126F6707EED}"/>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8" name="Google Shape;168;p27">
            <a:extLst xmlns:a="http://schemas.openxmlformats.org/drawingml/2006/main">
              <a:ext uri="{FF2B5EF4-FFF2-40B4-BE49-F238E27FC236}">
                <a16:creationId xmlns:a16="http://schemas.microsoft.com/office/drawing/2014/main" id="{8EA258BC-0E30-4E8C-B387-AEABC4F2AEED}"/>
              </a:ext>
            </a:extLst>
          </p:cNvPr>
          <p:cNvSpPr>
            <a:spLocks xmlns:a="http://schemas.openxmlformats.org/drawingml/2006/main" noGrp="1"/>
          </p:cNvSpPr>
          <p:nvPr/>
        </p:nvSpPr>
        <p:spPr>
          <a:xfrm xmlns:a="http://schemas.openxmlformats.org/drawingml/2006/main">
            <a:off x="381000" y="1714500"/>
            <a:ext cx="571500" cy="38100"/>
          </a:xfrm>
          <a:prstGeom xmlns:a="http://schemas.openxmlformats.org/drawingml/2006/main" prst="roundRect">
            <a:avLst>
              <a:gd name="adj" fmla="val 50000"/>
            </a:avLst>
          </a:prstGeom>
          <a:solidFill xmlns:a="http://schemas.openxmlformats.org/drawingml/2006/main">
            <a:srgbClr val="6366F1"/>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9" name="Google Shape;169;p27">
            <a:extLst xmlns:a="http://schemas.openxmlformats.org/drawingml/2006/main">
              <a:ext uri="{FF2B5EF4-FFF2-40B4-BE49-F238E27FC236}">
                <a16:creationId xmlns:a16="http://schemas.microsoft.com/office/drawing/2014/main" id="{7622D0C5-19FF-4A3C-BAE0-796927FF6B3A}"/>
              </a:ext>
            </a:extLst>
          </p:cNvPr>
          <p:cNvSpPr>
            <a:spLocks xmlns:a="http://schemas.openxmlformats.org/drawingml/2006/main" noGrp="1"/>
          </p:cNvSpPr>
          <p:nvPr>
            <p:ph type="title" idx="0"/>
          </p:nvPr>
        </p:nvSpPr>
        <p:spPr>
          <a:xfrm xmlns:a="http://schemas.openxmlformats.org/drawingml/2006/main">
            <a:off x="304800" y="571500"/>
            <a:ext cx="3705300" cy="1905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5250" tIns="95250" rIns="95250" bIns="95250" anchor="t">
            <a:normAutofit fontScale="100000"/>
          </a:bodyPr>
          <a:lstStyle xmlns:a="http://schemas.openxmlformats.org/drawingml/2006/main"/>
          <a:p xmlns:a="http://schemas.openxmlformats.org/drawingml/2006/main">
            <a:pPr marL="0" indent="0" algn="l">
              <a:spcBef>
                <a:spcPts val="0"/>
              </a:spcBef>
              <a:spcAft>
                <a:spcPts val="0"/>
              </a:spcAft>
              <a:buNone/>
            </a:pPr>
            <a:r>
              <a:t>System</a:t>
            </a:r>
          </a:p>
          <a:p xmlns:a="http://schemas.openxmlformats.org/drawingml/2006/main">
            <a:pPr marL="0" indent="0" algn="l">
              <a:spcBef>
                <a:spcPts val="0"/>
              </a:spcBef>
              <a:spcAft>
                <a:spcPts val="0"/>
              </a:spcAft>
              <a:buNone/>
            </a:pPr>
            <a:r>
              <a:t>Overview</a:t>
            </a:r>
          </a:p>
        </p:txBody>
      </p:sp>
      <p:pic>
        <p:nvPicPr>
          <p:cNvPr id="174" name="Google Shape;170;p27"/>
          <p:cNvPicPr>
            <a:picLocks xmlns:a="http://schemas.openxmlformats.org/drawingml/2006/main" noChangeAspect="1"/>
          </p:cNvPicPr>
          <p:nvPr/>
        </p:nvPicPr>
        <p:blipFill>
          <a:blip xmlns:r="http://schemas.openxmlformats.org/officeDocument/2006/relationships" xmlns:a="http://schemas.openxmlformats.org/drawingml/2006/main" r:embed="R074b1166022140f2">
            <a:alphaModFix/>
          </a:blip>
          <a:stretch xmlns:a="http://schemas.openxmlformats.org/drawingml/2006/main">
            <a:fillRect l="0" t="0" r="0" b="0"/>
          </a:stretch>
        </p:blipFill>
        <p:spPr>
          <a:xfrm xmlns:a="http://schemas.openxmlformats.org/drawingml/2006/main">
            <a:off x="4677278" y="32662"/>
            <a:ext cx="4149201" cy="34017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707740168"/>
      </p:ext>
    </p:extLst>
  </p:cSld>
</p:sld>
</file>

<file path=ppt/slides/slide6.xml><?xml version="1.0" encoding="utf-8"?>
<p:sld xmlns:p="http://schemas.openxmlformats.org/presentationml/2006/main">
  <p:cSld>
    <p:bg>
      <p:bgPr>
        <a:blipFill xmlns:a="http://schemas.openxmlformats.org/drawingml/2006/main">
          <a:blip xmlns:r="http://schemas.openxmlformats.org/officeDocument/2006/relationships" r:embed="Rcb118a11a4264122">
            <a:alphaModFix/>
          </a:blip>
          <a:stretch>
            <a:fillRect l="0" t="0" r="0" b="0"/>
          </a:stretch>
        </a:blipFill>
      </p:bgPr>
    </p:bg>
    <p:spTree>
      <p:nvGrpSpPr>
        <p:cNvPr id="1" name=""/>
        <p:cNvGrpSpPr/>
        <p:nvPr/>
      </p:nvGrpSpPr>
      <p:grpSpPr>
        <a:xfrm xmlns:a="http://schemas.openxmlformats.org/drawingml/2006/main"/>
      </p:grpSpPr>
      <p:sp>
        <p:nvSpPr>
          <p:cNvPr id="167" name="Google Shape;167;p27">
            <a:extLst xmlns:a="http://schemas.openxmlformats.org/drawingml/2006/main">
              <a:ext uri="{FF2B5EF4-FFF2-40B4-BE49-F238E27FC236}">
                <a16:creationId xmlns:a16="http://schemas.microsoft.com/office/drawing/2014/main" id="{0FD93BDF-0217-418C-9938-9126F6707EED}"/>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8" name="Google Shape;168;p27">
            <a:extLst xmlns:a="http://schemas.openxmlformats.org/drawingml/2006/main">
              <a:ext uri="{FF2B5EF4-FFF2-40B4-BE49-F238E27FC236}">
                <a16:creationId xmlns:a16="http://schemas.microsoft.com/office/drawing/2014/main" id="{8EA258BC-0E30-4E8C-B387-AEABC4F2AEED}"/>
              </a:ext>
            </a:extLst>
          </p:cNvPr>
          <p:cNvSpPr>
            <a:spLocks xmlns:a="http://schemas.openxmlformats.org/drawingml/2006/main" noGrp="1"/>
          </p:cNvSpPr>
          <p:nvPr/>
        </p:nvSpPr>
        <p:spPr>
          <a:xfrm xmlns:a="http://schemas.openxmlformats.org/drawingml/2006/main">
            <a:off x="381000" y="1714500"/>
            <a:ext cx="571500" cy="38100"/>
          </a:xfrm>
          <a:prstGeom xmlns:a="http://schemas.openxmlformats.org/drawingml/2006/main" prst="roundRect">
            <a:avLst>
              <a:gd name="adj" fmla="val 50000"/>
            </a:avLst>
          </a:prstGeom>
          <a:solidFill xmlns:a="http://schemas.openxmlformats.org/drawingml/2006/main">
            <a:srgbClr val="6366F1"/>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69" name="Google Shape;169;p27">
            <a:extLst xmlns:a="http://schemas.openxmlformats.org/drawingml/2006/main">
              <a:ext uri="{FF2B5EF4-FFF2-40B4-BE49-F238E27FC236}">
                <a16:creationId xmlns:a16="http://schemas.microsoft.com/office/drawing/2014/main" id="{7622D0C5-19FF-4A3C-BAE0-796927FF6B3A}"/>
              </a:ext>
            </a:extLst>
          </p:cNvPr>
          <p:cNvSpPr>
            <a:spLocks xmlns:a="http://schemas.openxmlformats.org/drawingml/2006/main" noGrp="1"/>
          </p:cNvSpPr>
          <p:nvPr>
            <p:ph type="title" idx="0"/>
          </p:nvPr>
        </p:nvSpPr>
        <p:spPr>
          <a:xfrm xmlns:a="http://schemas.openxmlformats.org/drawingml/2006/main">
            <a:off x="304800" y="571500"/>
            <a:ext cx="3705300" cy="1905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5250" tIns="95250" rIns="95250" bIns="95250" anchor="t">
            <a:normAutofit fontScale="100000"/>
          </a:bodyPr>
          <a:lstStyle xmlns:a="http://schemas.openxmlformats.org/drawingml/2006/main"/>
          <a:p xmlns:a="http://schemas.openxmlformats.org/drawingml/2006/main">
            <a:pPr marL="0" indent="0" algn="l">
              <a:spcBef>
                <a:spcPts val="0"/>
              </a:spcBef>
              <a:spcAft>
                <a:spcPts val="0"/>
              </a:spcAft>
              <a:buNone/>
            </a:pPr>
            <a:r>
              <a:t>Safety</a:t>
            </a:r>
          </a:p>
          <a:p xmlns:a="http://schemas.openxmlformats.org/drawingml/2006/main">
            <a:pPr marL="0" indent="0" algn="l">
              <a:spcBef>
                <a:spcPts val="0"/>
              </a:spcBef>
              <a:spcAft>
                <a:spcPts val="0"/>
              </a:spcAft>
              <a:buNone/>
            </a:pPr>
            <a:r>
              <a:t>Harness</a:t>
            </a:r>
          </a:p>
        </p:txBody>
      </p:sp>
      <p:pic>
        <p:nvPicPr>
          <p:cNvPr id="174" name="Google Shape;170;p27"/>
          <p:cNvPicPr>
            <a:picLocks xmlns:a="http://schemas.openxmlformats.org/drawingml/2006/main" noChangeAspect="1"/>
          </p:cNvPicPr>
          <p:nvPr/>
        </p:nvPicPr>
        <p:blipFill>
          <a:blip xmlns:r="http://schemas.openxmlformats.org/officeDocument/2006/relationships" xmlns:a="http://schemas.openxmlformats.org/drawingml/2006/main" r:embed="Re52d57ba7d6b4653">
            <a:alphaModFix/>
          </a:blip>
          <a:stretch xmlns:a="http://schemas.openxmlformats.org/drawingml/2006/main">
            <a:fillRect l="0" t="0" r="0" b="0"/>
          </a:stretch>
        </p:blipFill>
        <p:spPr>
          <a:xfrm xmlns:a="http://schemas.openxmlformats.org/drawingml/2006/main">
            <a:off x="4677278" y="32662"/>
            <a:ext cx="4149201" cy="34017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70774016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49" name="Google Shape;149;p26">
            <a:extLst xmlns:a="http://schemas.openxmlformats.org/drawingml/2006/main">
              <a:ext uri="{FF2B5EF4-FFF2-40B4-BE49-F238E27FC236}">
                <a16:creationId xmlns:a16="http://schemas.microsoft.com/office/drawing/2014/main" id="{A3DE53F1-5877-461D-B1BD-24AB35253A21}"/>
              </a:ext>
            </a:extLst>
          </p:cNvPr>
          <p:cNvSpPr>
            <a:spLocks xmlns:a="http://schemas.openxmlformats.org/drawingml/2006/main" noGrp="1"/>
          </p:cNvSpPr>
          <p:nvPr>
            <p:ph type="title" idx="0"/>
          </p:nvPr>
        </p:nvSpPr>
        <p:spPr>
          <a:xfrm xmlns:a="http://schemas.openxmlformats.org/drawingml/2006/main">
            <a:off x="311725" y="500925"/>
            <a:ext cx="8520600" cy="6237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indent="0" algn="l">
              <a:spcBef>
                <a:spcPts val="0"/>
              </a:spcBef>
              <a:spcAft>
                <a:spcPts val="0"/>
              </a:spcAft>
              <a:buNone/>
            </a:pPr>
            <a:r>
              <a:t>Five IMUs capture the movement chain</a:t>
            </a:r>
          </a:p>
        </p:txBody>
      </p:sp>
      <p:pic>
        <p:nvPicPr>
          <p:cNvPr id="165" name="Google Shape;150;p26"/>
          <p:cNvPicPr>
            <a:picLocks xmlns:a="http://schemas.openxmlformats.org/drawingml/2006/main" noChangeAspect="1"/>
          </p:cNvPicPr>
          <p:nvPr/>
        </p:nvPicPr>
        <p:blipFill>
          <a:blip xmlns:r="http://schemas.openxmlformats.org/officeDocument/2006/relationships" xmlns:a="http://schemas.openxmlformats.org/drawingml/2006/main" r:embed="Rca167ab141e54570">
            <a:alphaModFix/>
          </a:blip>
          <a:stretch xmlns:a="http://schemas.openxmlformats.org/drawingml/2006/main">
            <a:fillRect l="0" t="0" r="0" b="0"/>
          </a:stretch>
        </p:blipFill>
        <p:spPr>
          <a:xfrm xmlns:a="http://schemas.openxmlformats.org/drawingml/2006/main">
            <a:off x="744951" y="1277154"/>
            <a:ext cx="7654093" cy="3894300"/>
          </a:xfrm>
          <a:prstGeom xmlns:a="http://schemas.openxmlformats.org/drawingml/2006/main" prst="rect">
            <a:avLst/>
          </a:prstGeom>
          <a:ln xmlns:a="http://schemas.openxmlformats.org/drawingml/2006/main">
            <a:noFill/>
          </a:ln>
        </p:spPr>
      </p:pic>
      <p:sp>
        <p:nvSpPr>
          <p:cNvPr id="151" name="Google Shape;151;p26">
            <a:extLst xmlns:a="http://schemas.openxmlformats.org/drawingml/2006/main">
              <a:ext uri="{FF2B5EF4-FFF2-40B4-BE49-F238E27FC236}">
                <a16:creationId xmlns:a16="http://schemas.microsoft.com/office/drawing/2014/main" id="{930D38AC-CCCB-4099-B719-D796BE7CAB02}"/>
              </a:ext>
            </a:extLst>
          </p:cNvPr>
          <p:cNvSpPr>
            <a:spLocks xmlns:a="http://schemas.openxmlformats.org/drawingml/2006/main" noGrp="1"/>
          </p:cNvSpPr>
          <p:nvPr/>
        </p:nvSpPr>
        <p:spPr>
          <a:xfrm xmlns:a="http://schemas.openxmlformats.org/drawingml/2006/main">
            <a:off x="2182750" y="3977700"/>
            <a:ext cx="193200" cy="195600"/>
          </a:xfrm>
          <a:prstGeom xmlns:a="http://schemas.openxmlformats.org/drawingml/2006/main" prst="ellipse">
            <a:avLst/>
          </a:prstGeom>
          <a:noFill xmlns:a="http://schemas.openxmlformats.org/drawingml/2006/main"/>
          <a:ln xmlns:a="http://schemas.openxmlformats.org/drawingml/2006/main" w="38100" cmpd="sng">
            <a:solidFill>
              <a:srgbClr val="DC262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52" name="Google Shape;152;p26">
            <a:extLst xmlns:a="http://schemas.openxmlformats.org/drawingml/2006/main">
              <a:ext uri="{FF2B5EF4-FFF2-40B4-BE49-F238E27FC236}">
                <a16:creationId xmlns:a16="http://schemas.microsoft.com/office/drawing/2014/main" id="{7F2D7F26-0C9B-4771-B79F-F51C9AAC51E2}"/>
              </a:ext>
            </a:extLst>
          </p:cNvPr>
          <p:cNvSpPr>
            <a:spLocks xmlns:a="http://schemas.openxmlformats.org/drawingml/2006/main" noGrp="1"/>
          </p:cNvSpPr>
          <p:nvPr/>
        </p:nvSpPr>
        <p:spPr>
          <a:xfrm xmlns:a="http://schemas.openxmlformats.org/drawingml/2006/main">
            <a:off x="1789050" y="3956025"/>
            <a:ext cx="193200" cy="195600"/>
          </a:xfrm>
          <a:prstGeom xmlns:a="http://schemas.openxmlformats.org/drawingml/2006/main" prst="ellipse">
            <a:avLst/>
          </a:prstGeom>
          <a:noFill xmlns:a="http://schemas.openxmlformats.org/drawingml/2006/main"/>
          <a:ln xmlns:a="http://schemas.openxmlformats.org/drawingml/2006/main" w="38100" cmpd="sng">
            <a:solidFill>
              <a:srgbClr val="DC262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53" name="Google Shape;153;p26">
            <a:extLst xmlns:a="http://schemas.openxmlformats.org/drawingml/2006/main">
              <a:ext uri="{FF2B5EF4-FFF2-40B4-BE49-F238E27FC236}">
                <a16:creationId xmlns:a16="http://schemas.microsoft.com/office/drawing/2014/main" id="{39072632-79B9-4B32-9482-B350112D7A01}"/>
              </a:ext>
            </a:extLst>
          </p:cNvPr>
          <p:cNvSpPr>
            <a:spLocks xmlns:a="http://schemas.openxmlformats.org/drawingml/2006/main" noGrp="1"/>
          </p:cNvSpPr>
          <p:nvPr/>
        </p:nvSpPr>
        <p:spPr>
          <a:xfrm xmlns:a="http://schemas.openxmlformats.org/drawingml/2006/main">
            <a:off x="3730625" y="3926250"/>
            <a:ext cx="193200" cy="195600"/>
          </a:xfrm>
          <a:prstGeom xmlns:a="http://schemas.openxmlformats.org/drawingml/2006/main" prst="ellipse">
            <a:avLst/>
          </a:prstGeom>
          <a:noFill xmlns:a="http://schemas.openxmlformats.org/drawingml/2006/main"/>
          <a:ln xmlns:a="http://schemas.openxmlformats.org/drawingml/2006/main" w="38100" cmpd="sng">
            <a:solidFill>
              <a:srgbClr val="DC262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54" name="Google Shape;154;p26">
            <a:extLst xmlns:a="http://schemas.openxmlformats.org/drawingml/2006/main">
              <a:ext uri="{FF2B5EF4-FFF2-40B4-BE49-F238E27FC236}">
                <a16:creationId xmlns:a16="http://schemas.microsoft.com/office/drawing/2014/main" id="{B8237323-3E95-43C0-A0F0-37D0FB9F7E39}"/>
              </a:ext>
            </a:extLst>
          </p:cNvPr>
          <p:cNvSpPr>
            <a:spLocks xmlns:a="http://schemas.openxmlformats.org/drawingml/2006/main" noGrp="1"/>
          </p:cNvSpPr>
          <p:nvPr/>
        </p:nvSpPr>
        <p:spPr>
          <a:xfrm xmlns:a="http://schemas.openxmlformats.org/drawingml/2006/main">
            <a:off x="3620025" y="3275400"/>
            <a:ext cx="193200" cy="195600"/>
          </a:xfrm>
          <a:prstGeom xmlns:a="http://schemas.openxmlformats.org/drawingml/2006/main" prst="ellipse">
            <a:avLst/>
          </a:prstGeom>
          <a:noFill xmlns:a="http://schemas.openxmlformats.org/drawingml/2006/main"/>
          <a:ln xmlns:a="http://schemas.openxmlformats.org/drawingml/2006/main" w="38100" cmpd="sng">
            <a:solidFill>
              <a:srgbClr val="DC262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55" name="Google Shape;155;p26">
            <a:extLst xmlns:a="http://schemas.openxmlformats.org/drawingml/2006/main">
              <a:ext uri="{FF2B5EF4-FFF2-40B4-BE49-F238E27FC236}">
                <a16:creationId xmlns:a16="http://schemas.microsoft.com/office/drawing/2014/main" id="{EF89B661-1A7B-4937-BF37-B256BA8DB664}"/>
              </a:ext>
            </a:extLst>
          </p:cNvPr>
          <p:cNvSpPr>
            <a:spLocks xmlns:a="http://schemas.openxmlformats.org/drawingml/2006/main" noGrp="1"/>
          </p:cNvSpPr>
          <p:nvPr/>
        </p:nvSpPr>
        <p:spPr>
          <a:xfrm xmlns:a="http://schemas.openxmlformats.org/drawingml/2006/main">
            <a:off x="3493700" y="2660600"/>
            <a:ext cx="193200" cy="195600"/>
          </a:xfrm>
          <a:prstGeom xmlns:a="http://schemas.openxmlformats.org/drawingml/2006/main" prst="ellipse">
            <a:avLst/>
          </a:prstGeom>
          <a:noFill xmlns:a="http://schemas.openxmlformats.org/drawingml/2006/main"/>
          <a:ln xmlns:a="http://schemas.openxmlformats.org/drawingml/2006/main" w="38100" cmpd="sng">
            <a:solidFill>
              <a:srgbClr val="DC262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56" name="Google Shape;156;p26">
            <a:extLst xmlns:a="http://schemas.openxmlformats.org/drawingml/2006/main">
              <a:ext uri="{FF2B5EF4-FFF2-40B4-BE49-F238E27FC236}">
                <a16:creationId xmlns:a16="http://schemas.microsoft.com/office/drawing/2014/main" id="{35E137CC-D689-4CCC-865C-8DC58C2DC222}"/>
              </a:ext>
            </a:extLst>
          </p:cNvPr>
          <p:cNvSpPr>
            <a:spLocks xmlns:a="http://schemas.openxmlformats.org/drawingml/2006/main" noGrp="1"/>
          </p:cNvSpPr>
          <p:nvPr/>
        </p:nvSpPr>
        <p:spPr>
          <a:xfrm xmlns:a="http://schemas.openxmlformats.org/drawingml/2006/main">
            <a:off x="5461200" y="3977700"/>
            <a:ext cx="193200" cy="195600"/>
          </a:xfrm>
          <a:prstGeom xmlns:a="http://schemas.openxmlformats.org/drawingml/2006/main" prst="ellipse">
            <a:avLst/>
          </a:prstGeom>
          <a:noFill xmlns:a="http://schemas.openxmlformats.org/drawingml/2006/main"/>
          <a:ln xmlns:a="http://schemas.openxmlformats.org/drawingml/2006/main" w="38100" cmpd="sng">
            <a:solidFill>
              <a:srgbClr val="DC262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57" name="Google Shape;157;p26">
            <a:extLst xmlns:a="http://schemas.openxmlformats.org/drawingml/2006/main">
              <a:ext uri="{FF2B5EF4-FFF2-40B4-BE49-F238E27FC236}">
                <a16:creationId xmlns:a16="http://schemas.microsoft.com/office/drawing/2014/main" id="{B475AFCE-A80F-4640-8207-0965289B46F7}"/>
              </a:ext>
            </a:extLst>
          </p:cNvPr>
          <p:cNvSpPr>
            <a:spLocks xmlns:a="http://schemas.openxmlformats.org/drawingml/2006/main" noGrp="1"/>
          </p:cNvSpPr>
          <p:nvPr/>
        </p:nvSpPr>
        <p:spPr>
          <a:xfrm xmlns:a="http://schemas.openxmlformats.org/drawingml/2006/main">
            <a:off x="7076900" y="3977700"/>
            <a:ext cx="193200" cy="195600"/>
          </a:xfrm>
          <a:prstGeom xmlns:a="http://schemas.openxmlformats.org/drawingml/2006/main" prst="ellipse">
            <a:avLst/>
          </a:prstGeom>
          <a:noFill xmlns:a="http://schemas.openxmlformats.org/drawingml/2006/main"/>
          <a:ln xmlns:a="http://schemas.openxmlformats.org/drawingml/2006/main" w="38100" cmpd="sng">
            <a:solidFill>
              <a:srgbClr val="DC262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58" name="Google Shape;158;p26">
            <a:extLst xmlns:a="http://schemas.openxmlformats.org/drawingml/2006/main">
              <a:ext uri="{FF2B5EF4-FFF2-40B4-BE49-F238E27FC236}">
                <a16:creationId xmlns:a16="http://schemas.microsoft.com/office/drawing/2014/main" id="{346C261C-9573-444C-90D0-A1D3C64B14F4}"/>
              </a:ext>
            </a:extLst>
          </p:cNvPr>
          <p:cNvSpPr>
            <a:spLocks xmlns:a="http://schemas.openxmlformats.org/drawingml/2006/main" noGrp="1"/>
          </p:cNvSpPr>
          <p:nvPr/>
        </p:nvSpPr>
        <p:spPr>
          <a:xfrm xmlns:a="http://schemas.openxmlformats.org/drawingml/2006/main">
            <a:off x="7470975" y="3977700"/>
            <a:ext cx="193200" cy="195600"/>
          </a:xfrm>
          <a:prstGeom xmlns:a="http://schemas.openxmlformats.org/drawingml/2006/main" prst="ellipse">
            <a:avLst/>
          </a:prstGeom>
          <a:noFill xmlns:a="http://schemas.openxmlformats.org/drawingml/2006/main"/>
          <a:ln xmlns:a="http://schemas.openxmlformats.org/drawingml/2006/main" w="38100" cmpd="sng">
            <a:solidFill>
              <a:srgbClr val="DC262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59" name="Google Shape;159;p26">
            <a:extLst xmlns:a="http://schemas.openxmlformats.org/drawingml/2006/main">
              <a:ext uri="{FF2B5EF4-FFF2-40B4-BE49-F238E27FC236}">
                <a16:creationId xmlns:a16="http://schemas.microsoft.com/office/drawing/2014/main" id="{1E4326F4-3859-4989-84D0-B22FD4CDC559}"/>
              </a:ext>
            </a:extLst>
          </p:cNvPr>
          <p:cNvSpPr>
            <a:spLocks xmlns:a="http://schemas.openxmlformats.org/drawingml/2006/main" noGrp="1"/>
          </p:cNvSpPr>
          <p:nvPr/>
        </p:nvSpPr>
        <p:spPr>
          <a:xfrm xmlns:a="http://schemas.openxmlformats.org/drawingml/2006/main">
            <a:off x="7235125" y="3322100"/>
            <a:ext cx="193200" cy="195600"/>
          </a:xfrm>
          <a:prstGeom xmlns:a="http://schemas.openxmlformats.org/drawingml/2006/main" prst="ellipse">
            <a:avLst/>
          </a:prstGeom>
          <a:noFill xmlns:a="http://schemas.openxmlformats.org/drawingml/2006/main"/>
          <a:ln xmlns:a="http://schemas.openxmlformats.org/drawingml/2006/main" w="38100" cmpd="sng">
            <a:solidFill>
              <a:srgbClr val="DC262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60" name="Google Shape;160;p26">
            <a:extLst xmlns:a="http://schemas.openxmlformats.org/drawingml/2006/main">
              <a:ext uri="{FF2B5EF4-FFF2-40B4-BE49-F238E27FC236}">
                <a16:creationId xmlns:a16="http://schemas.microsoft.com/office/drawing/2014/main" id="{7F50DE7A-5A5B-4AC7-8ECF-8A0ACF0EAA2C}"/>
              </a:ext>
            </a:extLst>
          </p:cNvPr>
          <p:cNvSpPr>
            <a:spLocks xmlns:a="http://schemas.openxmlformats.org/drawingml/2006/main" noGrp="1"/>
          </p:cNvSpPr>
          <p:nvPr/>
        </p:nvSpPr>
        <p:spPr>
          <a:xfrm xmlns:a="http://schemas.openxmlformats.org/drawingml/2006/main">
            <a:off x="5589150" y="3322100"/>
            <a:ext cx="193200" cy="195600"/>
          </a:xfrm>
          <a:prstGeom xmlns:a="http://schemas.openxmlformats.org/drawingml/2006/main" prst="ellipse">
            <a:avLst/>
          </a:prstGeom>
          <a:noFill xmlns:a="http://schemas.openxmlformats.org/drawingml/2006/main"/>
          <a:ln xmlns:a="http://schemas.openxmlformats.org/drawingml/2006/main" w="38100" cmpd="sng">
            <a:solidFill>
              <a:srgbClr val="DC262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61" name="Google Shape;161;p26">
            <a:extLst xmlns:a="http://schemas.openxmlformats.org/drawingml/2006/main">
              <a:ext uri="{FF2B5EF4-FFF2-40B4-BE49-F238E27FC236}">
                <a16:creationId xmlns:a16="http://schemas.microsoft.com/office/drawing/2014/main" id="{4F126E61-D6A9-45B2-AFFC-5DE3C099A73B}"/>
              </a:ext>
            </a:extLst>
          </p:cNvPr>
          <p:cNvSpPr>
            <a:spLocks xmlns:a="http://schemas.openxmlformats.org/drawingml/2006/main" noGrp="1"/>
          </p:cNvSpPr>
          <p:nvPr/>
        </p:nvSpPr>
        <p:spPr>
          <a:xfrm xmlns:a="http://schemas.openxmlformats.org/drawingml/2006/main">
            <a:off x="5654400" y="2666500"/>
            <a:ext cx="193200" cy="195600"/>
          </a:xfrm>
          <a:prstGeom xmlns:a="http://schemas.openxmlformats.org/drawingml/2006/main" prst="ellipse">
            <a:avLst/>
          </a:prstGeom>
          <a:noFill xmlns:a="http://schemas.openxmlformats.org/drawingml/2006/main"/>
          <a:ln xmlns:a="http://schemas.openxmlformats.org/drawingml/2006/main" w="38100" cmpd="sng">
            <a:solidFill>
              <a:srgbClr val="DC262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
        <p:nvSpPr>
          <p:cNvPr id="162" name="Google Shape;162;p26">
            <a:extLst xmlns:a="http://schemas.openxmlformats.org/drawingml/2006/main">
              <a:ext uri="{FF2B5EF4-FFF2-40B4-BE49-F238E27FC236}">
                <a16:creationId xmlns:a16="http://schemas.microsoft.com/office/drawing/2014/main" id="{D0C522C2-4E59-48AA-AAB5-FD53B989C114}"/>
              </a:ext>
            </a:extLst>
          </p:cNvPr>
          <p:cNvSpPr>
            <a:spLocks xmlns:a="http://schemas.openxmlformats.org/drawingml/2006/main" noGrp="1"/>
          </p:cNvSpPr>
          <p:nvPr/>
        </p:nvSpPr>
        <p:spPr>
          <a:xfrm xmlns:a="http://schemas.openxmlformats.org/drawingml/2006/main">
            <a:off x="7235125" y="2571750"/>
            <a:ext cx="193200" cy="195600"/>
          </a:xfrm>
          <a:prstGeom xmlns:a="http://schemas.openxmlformats.org/drawingml/2006/main" prst="ellipse">
            <a:avLst/>
          </a:prstGeom>
          <a:noFill xmlns:a="http://schemas.openxmlformats.org/drawingml/2006/main"/>
          <a:ln xmlns:a="http://schemas.openxmlformats.org/drawingml/2006/main" w="38100" cmpd="sng">
            <a:solidFill>
              <a:srgbClr val="DC2626"/>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Tree>
    <p:extLst>
      <p:ext uri="{BB962C8B-B14F-4D97-AF65-F5344CB8AC3E}">
        <p14:creationId xmlns:p14="http://schemas.microsoft.com/office/powerpoint/2010/main" val="1520247280"/>
      </p:ext>
    </p:extLst>
  </p:cSld>
</p:sld>
</file>

<file path=ppt/slides/slide8.xml><?xml version="1.0" encoding="utf-8"?>
<p:sld xmlns:p="http://schemas.openxmlformats.org/presentationml/2006/main">
  <p:cSld>
    <p:bg>
      <p:bgPr>
        <a:blipFill xmlns:a="http://schemas.openxmlformats.org/drawingml/2006/main">
          <a:blip xmlns:r="http://schemas.openxmlformats.org/officeDocument/2006/relationships" r:embed="R70579347676f4ec2">
            <a:alphaModFix/>
          </a:blip>
          <a:stretch>
            <a:fillRect l="0" t="0" r="0" b="0"/>
          </a:stretch>
        </a:blipFill>
      </p:bgPr>
    </p:bg>
    <p:spTree>
      <p:nvGrpSpPr>
        <p:cNvPr id="1" name=""/>
        <p:cNvGrpSpPr/>
        <p:nvPr/>
      </p:nvGrpSpPr>
      <p:grpSpPr>
        <a:xfrm xmlns:a="http://schemas.openxmlformats.org/drawingml/2006/main"/>
      </p:grpSpPr>
      <p:sp>
        <p:nvSpPr>
          <p:cNvPr id="175" name="Google Shape;175;p28">
            <a:extLst xmlns:a="http://schemas.openxmlformats.org/drawingml/2006/main">
              <a:ext uri="{FF2B5EF4-FFF2-40B4-BE49-F238E27FC236}">
                <a16:creationId xmlns:a16="http://schemas.microsoft.com/office/drawing/2014/main" id="{A56A0061-8E38-4388-8B0B-0734BC335EED}"/>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6" name="Google Shape;176;p28">
            <a:extLst xmlns:a="http://schemas.openxmlformats.org/drawingml/2006/main">
              <a:ext uri="{FF2B5EF4-FFF2-40B4-BE49-F238E27FC236}">
                <a16:creationId xmlns:a16="http://schemas.microsoft.com/office/drawing/2014/main" id="{278D5F8A-022E-41D2-A345-E968C72EADE1}"/>
              </a:ext>
            </a:extLst>
          </p:cNvPr>
          <p:cNvSpPr>
            <a:spLocks xmlns:a="http://schemas.openxmlformats.org/drawingml/2006/main" noGrp="1"/>
          </p:cNvSpPr>
          <p:nvPr/>
        </p:nvSpPr>
        <p:spPr>
          <a:xfrm xmlns:a="http://schemas.openxmlformats.org/drawingml/2006/main">
            <a:off x="0" y="44125"/>
            <a:ext cx="4313625" cy="4399375"/>
          </a:xfrm>
          <a:custGeom xmlns:a="http://schemas.openxmlformats.org/drawingml/2006/main">
            <a:rect l="l" t="t" r="r" b="b"/>
            <a:pathLst>
              <a:path w="172545" h="175975">
                <a:moveTo>
                  <a:pt x="0" y="157"/>
                </a:moveTo>
                <a:lnTo>
                  <a:pt x="172419" y="0"/>
                </a:lnTo>
                <a:lnTo>
                  <a:pt x="172545" y="126541"/>
                </a:lnTo>
                <a:lnTo>
                  <a:pt x="0" y="175975"/>
                </a:lnTo>
                <a:close/>
              </a:path>
            </a:pathLst>
          </a:custGeom>
          <a:solidFill xmlns:a="http://schemas.openxmlformats.org/drawingml/2006/main">
            <a:schemeClr val="accent2"/>
          </a:solidFill>
          <a:ln xmlns:a="http://schemas.openxmlformats.org/drawingml/2006/main">
            <a:noFill/>
          </a:ln>
        </p:spPr>
      </p:sp>
      <p:sp>
        <p:nvSpPr>
          <p:cNvPr id="177" name="Google Shape;177;p28">
            <a:extLst xmlns:a="http://schemas.openxmlformats.org/drawingml/2006/main">
              <a:ext uri="{FF2B5EF4-FFF2-40B4-BE49-F238E27FC236}">
                <a16:creationId xmlns:a16="http://schemas.microsoft.com/office/drawing/2014/main" id="{20C45437-9937-4A99-A071-E1CFF27CC304}"/>
              </a:ext>
            </a:extLst>
          </p:cNvPr>
          <p:cNvSpPr>
            <a:spLocks xmlns:a="http://schemas.openxmlformats.org/drawingml/2006/main" noGrp="1"/>
          </p:cNvSpPr>
          <p:nvPr/>
        </p:nvSpPr>
        <p:spPr>
          <a:xfrm xmlns:a="http://schemas.openxmlformats.org/drawingml/2006/main">
            <a:off x="-125" y="0"/>
            <a:ext cx="4316900" cy="4395600"/>
          </a:xfrm>
          <a:custGeom xmlns:a="http://schemas.openxmlformats.org/drawingml/2006/main">
            <a:rect l="l" t="t" r="r" b="b"/>
            <a:pathLst>
              <a:path w="172676" h="175824">
                <a:moveTo>
                  <a:pt x="0" y="6"/>
                </a:moveTo>
                <a:lnTo>
                  <a:pt x="172676" y="0"/>
                </a:lnTo>
                <a:lnTo>
                  <a:pt x="172562" y="126442"/>
                </a:lnTo>
                <a:lnTo>
                  <a:pt x="0" y="175824"/>
                </a:lnTo>
                <a:close/>
              </a:path>
            </a:pathLst>
          </a:custGeom>
          <a:solidFill xmlns:a="http://schemas.openxmlformats.org/drawingml/2006/main">
            <a:schemeClr val="dk1"/>
          </a:solidFill>
          <a:ln xmlns:a="http://schemas.openxmlformats.org/drawingml/2006/main">
            <a:noFill/>
          </a:ln>
        </p:spPr>
      </p:sp>
      <p:sp>
        <p:nvSpPr>
          <p:cNvPr id="178" name="Google Shape;178;p28">
            <a:extLst xmlns:a="http://schemas.openxmlformats.org/drawingml/2006/main">
              <a:ext uri="{FF2B5EF4-FFF2-40B4-BE49-F238E27FC236}">
                <a16:creationId xmlns:a16="http://schemas.microsoft.com/office/drawing/2014/main" id="{85B4572E-61E5-40B2-A6D0-1E6F52CB5CDC}"/>
              </a:ext>
            </a:extLst>
          </p:cNvPr>
          <p:cNvSpPr>
            <a:spLocks xmlns:a="http://schemas.openxmlformats.org/drawingml/2006/main" noGrp="1"/>
          </p:cNvSpPr>
          <p:nvPr>
            <p:ph type="title" idx="0"/>
          </p:nvPr>
        </p:nvSpPr>
        <p:spPr>
          <a:xfrm xmlns:a="http://schemas.openxmlformats.org/drawingml/2006/main">
            <a:off x="381000" y="571500"/>
            <a:ext cx="3524400" cy="2858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p xmlns:a="http://schemas.openxmlformats.org/drawingml/2006/main">
            <a:pPr marL="0" indent="0" algn="l">
              <a:spcBef>
                <a:spcPts val="0"/>
              </a:spcBef>
              <a:spcAft>
                <a:spcPts val="0"/>
              </a:spcAft>
              <a:buNone/>
            </a:pPr>
            <a:r>
              <a:rPr sz="3600" b="1">
                <a:solidFill>
                  <a:srgbClr val="FFFFFF"/>
                </a:solidFill>
                <a:latin typeface="Merriweather"/>
                <a:ea typeface="Merriweather"/>
                <a:cs typeface="Merriweather"/>
              </a:rPr>
              <a:t>IMU data becomes
movement feedback</a:t>
            </a:r>
          </a:p>
        </p:txBody>
      </p:sp>
      <p:sp>
        <p:nvSpPr>
          <p:cNvPr id="180" name="Google Shape;180;p28">
            <a:extLst xmlns:a="http://schemas.openxmlformats.org/drawingml/2006/main">
              <a:ext uri="{FF2B5EF4-FFF2-40B4-BE49-F238E27FC236}">
                <a16:creationId xmlns:a16="http://schemas.microsoft.com/office/drawing/2014/main" id="{2AABD611-2EFA-4C10-8DBD-5E84166AA3B0}"/>
              </a:ext>
            </a:extLst>
          </p:cNvPr>
          <p:cNvSpPr>
            <a:spLocks xmlns:a="http://schemas.openxmlformats.org/drawingml/2006/main" noGrp="1"/>
          </p:cNvSpPr>
          <p:nvPr/>
        </p:nvSpPr>
        <p:spPr>
          <a:xfrm xmlns:a="http://schemas.openxmlformats.org/drawingml/2006/main" rot="0" flipH="0" flipV="0">
            <a:off x="4667250" y="380993"/>
            <a:ext cx="4095900" cy="1059628"/>
          </a:xfrm>
          <a:prstGeom xmlns:a="http://schemas.openxmlformats.org/drawingml/2006/main" prst="roundRect">
            <a:avLst>
              <a:gd name="adj" fmla="val 5925"/>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1" name="Google Shape;181;p28">
            <a:extLst xmlns:a="http://schemas.openxmlformats.org/drawingml/2006/main">
              <a:ext uri="{FF2B5EF4-FFF2-40B4-BE49-F238E27FC236}">
                <a16:creationId xmlns:a16="http://schemas.microsoft.com/office/drawing/2014/main" id="{28A56F45-B4D2-4CFA-AD5B-953EC0DEDABA}"/>
              </a:ext>
            </a:extLst>
          </p:cNvPr>
          <p:cNvSpPr>
            <a:spLocks xmlns:a="http://schemas.openxmlformats.org/drawingml/2006/main" noGrp="1"/>
          </p:cNvSpPr>
          <p:nvPr/>
        </p:nvSpPr>
        <p:spPr>
          <a:xfrm xmlns:a="http://schemas.openxmlformats.org/drawingml/2006/main" rot="0" flipH="0" flipV="0">
            <a:off x="4810125" y="459488"/>
            <a:ext cx="3810000" cy="902636"/>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1. Acquire &amp; calibrate</a:t>
            </a:r>
          </a:p>
          <a:p xmlns:a="http://schemas.openxmlformats.org/drawingml/2006/main">
            <a:pPr marL="457200" indent="-298450" algn="l">
              <a:spcBef>
                <a:spcPts val="450"/>
              </a:spcBef>
              <a:spcAft>
                <a:spcPts val="0"/>
              </a:spcAft>
              <a:buClr>
                <a:srgbClr val="31394D"/>
              </a:buClr>
              <a:buSzPts val="1100"/>
              <a:buFont typeface="Roboto"/>
              <a:buChar char="-"/>
            </a:pPr>
            <a:r>
              <a:rPr sz="1100" b="1">
                <a:solidFill>
                  <a:srgbClr val="475569"/>
                </a:solidFill>
                <a:latin typeface="Roboto"/>
                <a:ea typeface="Roboto"/>
                <a:cs typeface="Roboto"/>
              </a:rPr>
              <a:t>Five IMUs stream motion</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Neutral posture sets zero</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Signals are synchronized</a:t>
            </a:r>
          </a:p>
        </p:txBody>
      </p:sp>
      <p:sp>
        <p:nvSpPr>
          <p:cNvPr id="183" name="Google Shape;183;p28">
            <a:extLst xmlns:a="http://schemas.openxmlformats.org/drawingml/2006/main">
              <a:ext uri="{FF2B5EF4-FFF2-40B4-BE49-F238E27FC236}">
                <a16:creationId xmlns:a16="http://schemas.microsoft.com/office/drawing/2014/main" id="{717BB337-8699-479C-814D-6523108AE373}"/>
              </a:ext>
            </a:extLst>
          </p:cNvPr>
          <p:cNvSpPr>
            <a:spLocks xmlns:a="http://schemas.openxmlformats.org/drawingml/2006/main" noGrp="1"/>
          </p:cNvSpPr>
          <p:nvPr/>
        </p:nvSpPr>
        <p:spPr>
          <a:xfrm xmlns:a="http://schemas.openxmlformats.org/drawingml/2006/main" rot="0" flipH="0" flipV="0">
            <a:off x="4667250" y="1857440"/>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4" name="Google Shape;184;p28">
            <a:extLst xmlns:a="http://schemas.openxmlformats.org/drawingml/2006/main">
              <a:ext uri="{FF2B5EF4-FFF2-40B4-BE49-F238E27FC236}">
                <a16:creationId xmlns:a16="http://schemas.microsoft.com/office/drawing/2014/main" id="{D28CCEF3-F75C-4D75-8F78-BB443ED2D197}"/>
              </a:ext>
            </a:extLst>
          </p:cNvPr>
          <p:cNvSpPr>
            <a:spLocks xmlns:a="http://schemas.openxmlformats.org/drawingml/2006/main" noGrp="1"/>
          </p:cNvSpPr>
          <p:nvPr/>
        </p:nvSpPr>
        <p:spPr>
          <a:xfrm xmlns:a="http://schemas.openxmlformats.org/drawingml/2006/main" rot="0" flipH="0" flipV="0">
            <a:off x="4810125" y="1937497"/>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2. Derive movement</a:t>
            </a:r>
          </a:p>
          <a:p xmlns:a="http://schemas.openxmlformats.org/drawingml/2006/main">
            <a:pPr marL="457200" indent="-298450" algn="l">
              <a:spcBef>
                <a:spcPts val="450"/>
              </a:spcBef>
              <a:spcAft>
                <a:spcPts val="0"/>
              </a:spcAft>
              <a:buClr>
                <a:schemeClr val="dk1"/>
              </a:buClr>
              <a:buSzPts val="1100"/>
              <a:buFont typeface="Roboto"/>
              <a:buChar char="-"/>
            </a:pPr>
            <a:r>
              <a:rPr sz="1100" b="1">
                <a:solidFill>
                  <a:srgbClr val="475569"/>
                </a:solidFill>
                <a:latin typeface="Roboto"/>
                <a:ea typeface="Roboto"/>
                <a:cs typeface="Roboto"/>
              </a:rPr>
              <a:t>Compare sensor angles</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Trunk flexion and rotation</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Left and right hip flexion</a:t>
            </a:r>
          </a:p>
        </p:txBody>
      </p:sp>
      <p:sp>
        <p:nvSpPr>
          <p:cNvPr id="186" name="Google Shape;186;p28">
            <a:extLst xmlns:a="http://schemas.openxmlformats.org/drawingml/2006/main">
              <a:ext uri="{FF2B5EF4-FFF2-40B4-BE49-F238E27FC236}">
                <a16:creationId xmlns:a16="http://schemas.microsoft.com/office/drawing/2014/main" id="{C42EEC04-557C-4B90-906B-408A91252B0E}"/>
              </a:ext>
            </a:extLst>
          </p:cNvPr>
          <p:cNvSpPr>
            <a:spLocks xmlns:a="http://schemas.openxmlformats.org/drawingml/2006/main" noGrp="1"/>
          </p:cNvSpPr>
          <p:nvPr/>
        </p:nvSpPr>
        <p:spPr>
          <a:xfrm xmlns:a="http://schemas.openxmlformats.org/drawingml/2006/main" rot="0" flipH="0" flipV="0">
            <a:off x="4667250" y="3435165"/>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7" name="Google Shape;187;p28">
            <a:extLst xmlns:a="http://schemas.openxmlformats.org/drawingml/2006/main">
              <a:ext uri="{FF2B5EF4-FFF2-40B4-BE49-F238E27FC236}">
                <a16:creationId xmlns:a16="http://schemas.microsoft.com/office/drawing/2014/main" id="{F6E47AF7-BC89-4D7E-9BDC-FFC7390BC863}"/>
              </a:ext>
            </a:extLst>
          </p:cNvPr>
          <p:cNvSpPr>
            <a:spLocks xmlns:a="http://schemas.openxmlformats.org/drawingml/2006/main" noGrp="1"/>
          </p:cNvSpPr>
          <p:nvPr/>
        </p:nvSpPr>
        <p:spPr>
          <a:xfrm xmlns:a="http://schemas.openxmlformats.org/drawingml/2006/main" rot="0" flipH="0" flipV="0">
            <a:off x="4810125" y="3515222"/>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3. Classify &amp; log</a:t>
            </a:r>
          </a:p>
          <a:p xmlns:a="http://schemas.openxmlformats.org/drawingml/2006/main">
            <a:pPr marL="457200" indent="-298450" algn="l">
              <a:spcBef>
                <a:spcPts val="450"/>
              </a:spcBef>
              <a:spcAft>
                <a:spcPts val="0"/>
              </a:spcAft>
              <a:buClr>
                <a:schemeClr val="dk1"/>
              </a:buClr>
              <a:buSzPts val="1100"/>
              <a:buFont typeface="Roboto"/>
              <a:buChar char="-"/>
            </a:pPr>
            <a:r>
              <a:rPr sz="1100" b="1">
                <a:solidFill>
                  <a:srgbClr val="475569"/>
                </a:solidFill>
                <a:latin typeface="Roboto"/>
                <a:ea typeface="Roboto"/>
                <a:cs typeface="Roboto"/>
              </a:rPr>
              <a:t>Drive live feedback</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Save sessions for replay</a:t>
            </a:r>
          </a:p>
        </p:txBody>
      </p:sp>
    </p:spTree>
    <p:extLst>
      <p:ext uri="{BB962C8B-B14F-4D97-AF65-F5344CB8AC3E}">
        <p14:creationId xmlns:p14="http://schemas.microsoft.com/office/powerpoint/2010/main" val="433380172"/>
      </p:ext>
    </p:extLst>
  </p:cSld>
</p:sld>
</file>

<file path=ppt/slides/slide9.xml><?xml version="1.0" encoding="utf-8"?>
<p:sld xmlns:p="http://schemas.openxmlformats.org/presentationml/2006/main">
  <p:cSld>
    <p:bg>
      <p:bgPr>
        <a:blipFill xmlns:a="http://schemas.openxmlformats.org/drawingml/2006/main">
          <a:blip xmlns:r="http://schemas.openxmlformats.org/officeDocument/2006/relationships" r:embed="Ref34c3568bee4a17">
            <a:alphaModFix/>
          </a:blip>
          <a:stretch>
            <a:fillRect l="0" t="0" r="0" b="0"/>
          </a:stretch>
        </a:blipFill>
      </p:bgPr>
    </p:bg>
    <p:spTree>
      <p:nvGrpSpPr>
        <p:cNvPr id="1" name=""/>
        <p:cNvGrpSpPr/>
        <p:nvPr/>
      </p:nvGrpSpPr>
      <p:grpSpPr>
        <a:xfrm xmlns:a="http://schemas.openxmlformats.org/drawingml/2006/main"/>
      </p:grpSpPr>
      <p:sp>
        <p:nvSpPr>
          <p:cNvPr id="175" name="Google Shape;175;p28">
            <a:extLst xmlns:a="http://schemas.openxmlformats.org/drawingml/2006/main">
              <a:ext uri="{FF2B5EF4-FFF2-40B4-BE49-F238E27FC236}">
                <a16:creationId xmlns:a16="http://schemas.microsoft.com/office/drawing/2014/main" id="{A56A0061-8E38-4388-8B0B-0734BC335EED}"/>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6" name="Google Shape;176;p28">
            <a:extLst xmlns:a="http://schemas.openxmlformats.org/drawingml/2006/main">
              <a:ext uri="{FF2B5EF4-FFF2-40B4-BE49-F238E27FC236}">
                <a16:creationId xmlns:a16="http://schemas.microsoft.com/office/drawing/2014/main" id="{278D5F8A-022E-41D2-A345-E968C72EADE1}"/>
              </a:ext>
            </a:extLst>
          </p:cNvPr>
          <p:cNvSpPr>
            <a:spLocks xmlns:a="http://schemas.openxmlformats.org/drawingml/2006/main" noGrp="1"/>
          </p:cNvSpPr>
          <p:nvPr/>
        </p:nvSpPr>
        <p:spPr>
          <a:xfrm xmlns:a="http://schemas.openxmlformats.org/drawingml/2006/main">
            <a:off x="0" y="44125"/>
            <a:ext cx="4313625" cy="4399375"/>
          </a:xfrm>
          <a:custGeom xmlns:a="http://schemas.openxmlformats.org/drawingml/2006/main">
            <a:rect l="l" t="t" r="r" b="b"/>
            <a:pathLst>
              <a:path w="172545" h="175975">
                <a:moveTo>
                  <a:pt x="0" y="157"/>
                </a:moveTo>
                <a:lnTo>
                  <a:pt x="172419" y="0"/>
                </a:lnTo>
                <a:lnTo>
                  <a:pt x="172545" y="126541"/>
                </a:lnTo>
                <a:lnTo>
                  <a:pt x="0" y="175975"/>
                </a:lnTo>
                <a:close/>
              </a:path>
            </a:pathLst>
          </a:custGeom>
          <a:solidFill xmlns:a="http://schemas.openxmlformats.org/drawingml/2006/main">
            <a:schemeClr val="accent2"/>
          </a:solidFill>
          <a:ln xmlns:a="http://schemas.openxmlformats.org/drawingml/2006/main">
            <a:noFill/>
          </a:ln>
        </p:spPr>
      </p:sp>
      <p:sp>
        <p:nvSpPr>
          <p:cNvPr id="177" name="Google Shape;177;p28">
            <a:extLst xmlns:a="http://schemas.openxmlformats.org/drawingml/2006/main">
              <a:ext uri="{FF2B5EF4-FFF2-40B4-BE49-F238E27FC236}">
                <a16:creationId xmlns:a16="http://schemas.microsoft.com/office/drawing/2014/main" id="{20C45437-9937-4A99-A071-E1CFF27CC304}"/>
              </a:ext>
            </a:extLst>
          </p:cNvPr>
          <p:cNvSpPr>
            <a:spLocks xmlns:a="http://schemas.openxmlformats.org/drawingml/2006/main" noGrp="1"/>
          </p:cNvSpPr>
          <p:nvPr/>
        </p:nvSpPr>
        <p:spPr>
          <a:xfrm xmlns:a="http://schemas.openxmlformats.org/drawingml/2006/main">
            <a:off x="-125" y="0"/>
            <a:ext cx="4316900" cy="4395600"/>
          </a:xfrm>
          <a:custGeom xmlns:a="http://schemas.openxmlformats.org/drawingml/2006/main">
            <a:rect l="l" t="t" r="r" b="b"/>
            <a:pathLst>
              <a:path w="172676" h="175824">
                <a:moveTo>
                  <a:pt x="0" y="6"/>
                </a:moveTo>
                <a:lnTo>
                  <a:pt x="172676" y="0"/>
                </a:lnTo>
                <a:lnTo>
                  <a:pt x="172562" y="126442"/>
                </a:lnTo>
                <a:lnTo>
                  <a:pt x="0" y="175824"/>
                </a:lnTo>
                <a:close/>
              </a:path>
            </a:pathLst>
          </a:custGeom>
          <a:solidFill xmlns:a="http://schemas.openxmlformats.org/drawingml/2006/main">
            <a:schemeClr val="dk1"/>
          </a:solidFill>
          <a:ln xmlns:a="http://schemas.openxmlformats.org/drawingml/2006/main">
            <a:noFill/>
          </a:ln>
        </p:spPr>
      </p:sp>
      <p:sp>
        <p:nvSpPr>
          <p:cNvPr id="178" name="Google Shape;178;p28">
            <a:extLst xmlns:a="http://schemas.openxmlformats.org/drawingml/2006/main">
              <a:ext uri="{FF2B5EF4-FFF2-40B4-BE49-F238E27FC236}">
                <a16:creationId xmlns:a16="http://schemas.microsoft.com/office/drawing/2014/main" id="{85B4572E-61E5-40B2-A6D0-1E6F52CB5CDC}"/>
              </a:ext>
            </a:extLst>
          </p:cNvPr>
          <p:cNvSpPr>
            <a:spLocks xmlns:a="http://schemas.openxmlformats.org/drawingml/2006/main" noGrp="1"/>
          </p:cNvSpPr>
          <p:nvPr>
            <p:ph type="title" idx="0"/>
          </p:nvPr>
        </p:nvSpPr>
        <p:spPr>
          <a:xfrm xmlns:a="http://schemas.openxmlformats.org/drawingml/2006/main">
            <a:off x="381000" y="571500"/>
            <a:ext cx="3524400" cy="2858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p xmlns:a="http://schemas.openxmlformats.org/drawingml/2006/main">
            <a:pPr marL="0" indent="0" algn="l">
              <a:spcBef>
                <a:spcPts val="0"/>
              </a:spcBef>
              <a:spcAft>
                <a:spcPts val="0"/>
              </a:spcAft>
              <a:buNone/>
            </a:pPr>
            <a:r>
              <a:rPr sz="3600" b="1">
                <a:solidFill>
                  <a:srgbClr val="FFFFFF"/>
                </a:solidFill>
                <a:latin typeface="Merriweather"/>
                <a:ea typeface="Merriweather"/>
                <a:cs typeface="Merriweather"/>
              </a:rPr>
              <a:t>One interface, two
rehabilitation modes</a:t>
            </a:r>
          </a:p>
        </p:txBody>
      </p:sp>
      <p:sp>
        <p:nvSpPr>
          <p:cNvPr id="180" name="Google Shape;180;p28">
            <a:extLst xmlns:a="http://schemas.openxmlformats.org/drawingml/2006/main">
              <a:ext uri="{FF2B5EF4-FFF2-40B4-BE49-F238E27FC236}">
                <a16:creationId xmlns:a16="http://schemas.microsoft.com/office/drawing/2014/main" id="{2AABD611-2EFA-4C10-8DBD-5E84166AA3B0}"/>
              </a:ext>
            </a:extLst>
          </p:cNvPr>
          <p:cNvSpPr>
            <a:spLocks xmlns:a="http://schemas.openxmlformats.org/drawingml/2006/main" noGrp="1"/>
          </p:cNvSpPr>
          <p:nvPr/>
        </p:nvSpPr>
        <p:spPr>
          <a:xfrm xmlns:a="http://schemas.openxmlformats.org/drawingml/2006/main" rot="0" flipH="0" flipV="0">
            <a:off x="4667250" y="380993"/>
            <a:ext cx="4095900" cy="1059628"/>
          </a:xfrm>
          <a:prstGeom xmlns:a="http://schemas.openxmlformats.org/drawingml/2006/main" prst="roundRect">
            <a:avLst>
              <a:gd name="adj" fmla="val 5925"/>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1" name="Google Shape;181;p28">
            <a:extLst xmlns:a="http://schemas.openxmlformats.org/drawingml/2006/main">
              <a:ext uri="{FF2B5EF4-FFF2-40B4-BE49-F238E27FC236}">
                <a16:creationId xmlns:a16="http://schemas.microsoft.com/office/drawing/2014/main" id="{28A56F45-B4D2-4CFA-AD5B-953EC0DEDABA}"/>
              </a:ext>
            </a:extLst>
          </p:cNvPr>
          <p:cNvSpPr>
            <a:spLocks xmlns:a="http://schemas.openxmlformats.org/drawingml/2006/main" noGrp="1"/>
          </p:cNvSpPr>
          <p:nvPr/>
        </p:nvSpPr>
        <p:spPr>
          <a:xfrm xmlns:a="http://schemas.openxmlformats.org/drawingml/2006/main" rot="0" flipH="0" flipV="0">
            <a:off x="4810125" y="459488"/>
            <a:ext cx="3810000" cy="902636"/>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1. Shared interface</a:t>
            </a:r>
          </a:p>
          <a:p xmlns:a="http://schemas.openxmlformats.org/drawingml/2006/main">
            <a:pPr marL="457200" indent="-298450" algn="l">
              <a:spcBef>
                <a:spcPts val="450"/>
              </a:spcBef>
              <a:spcAft>
                <a:spcPts val="0"/>
              </a:spcAft>
              <a:buClr>
                <a:srgbClr val="31394D"/>
              </a:buClr>
              <a:buSzPts val="1100"/>
              <a:buFont typeface="Roboto"/>
              <a:buChar char="-"/>
            </a:pPr>
            <a:r>
              <a:rPr sz="1100" b="1">
                <a:solidFill>
                  <a:srgbClr val="475569"/>
                </a:solidFill>
                <a:latin typeface="Roboto"/>
                <a:ea typeface="Roboto"/>
                <a:cs typeface="Roboto"/>
              </a:rPr>
              <a:t>One movement model</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One avatar and routine</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One session record</a:t>
            </a:r>
          </a:p>
        </p:txBody>
      </p:sp>
      <p:sp>
        <p:nvSpPr>
          <p:cNvPr id="183" name="Google Shape;183;p28">
            <a:extLst xmlns:a="http://schemas.openxmlformats.org/drawingml/2006/main">
              <a:ext uri="{FF2B5EF4-FFF2-40B4-BE49-F238E27FC236}">
                <a16:creationId xmlns:a16="http://schemas.microsoft.com/office/drawing/2014/main" id="{717BB337-8699-479C-814D-6523108AE373}"/>
              </a:ext>
            </a:extLst>
          </p:cNvPr>
          <p:cNvSpPr>
            <a:spLocks xmlns:a="http://schemas.openxmlformats.org/drawingml/2006/main" noGrp="1"/>
          </p:cNvSpPr>
          <p:nvPr/>
        </p:nvSpPr>
        <p:spPr>
          <a:xfrm xmlns:a="http://schemas.openxmlformats.org/drawingml/2006/main" rot="0" flipH="0" flipV="0">
            <a:off x="4667250" y="1857440"/>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4" name="Google Shape;184;p28">
            <a:extLst xmlns:a="http://schemas.openxmlformats.org/drawingml/2006/main">
              <a:ext uri="{FF2B5EF4-FFF2-40B4-BE49-F238E27FC236}">
                <a16:creationId xmlns:a16="http://schemas.microsoft.com/office/drawing/2014/main" id="{D28CCEF3-F75C-4D75-8F78-BB443ED2D197}"/>
              </a:ext>
            </a:extLst>
          </p:cNvPr>
          <p:cNvSpPr>
            <a:spLocks xmlns:a="http://schemas.openxmlformats.org/drawingml/2006/main" noGrp="1"/>
          </p:cNvSpPr>
          <p:nvPr/>
        </p:nvSpPr>
        <p:spPr>
          <a:xfrm xmlns:a="http://schemas.openxmlformats.org/drawingml/2006/main" rot="0" flipH="0" flipV="0">
            <a:off x="4810125" y="1937497"/>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2. Live patient mode</a:t>
            </a:r>
          </a:p>
          <a:p xmlns:a="http://schemas.openxmlformats.org/drawingml/2006/main">
            <a:pPr marL="457200" indent="-298450" algn="l">
              <a:spcBef>
                <a:spcPts val="450"/>
              </a:spcBef>
              <a:spcAft>
                <a:spcPts val="0"/>
              </a:spcAft>
              <a:buClr>
                <a:schemeClr val="dk1"/>
              </a:buClr>
              <a:buSzPts val="1100"/>
              <a:buFont typeface="Roboto"/>
              <a:buChar char="-"/>
            </a:pPr>
            <a:r>
              <a:rPr sz="1100" b="1">
                <a:solidFill>
                  <a:srgbClr val="475569"/>
                </a:solidFill>
                <a:latin typeface="Roboto"/>
                <a:ea typeface="Roboto"/>
                <a:cs typeface="Roboto"/>
              </a:rPr>
              <a:t>Sensors control the game</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Simple cues and rewards</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Immediate correction</a:t>
            </a:r>
          </a:p>
        </p:txBody>
      </p:sp>
      <p:sp>
        <p:nvSpPr>
          <p:cNvPr id="186" name="Google Shape;186;p28">
            <a:extLst xmlns:a="http://schemas.openxmlformats.org/drawingml/2006/main">
              <a:ext uri="{FF2B5EF4-FFF2-40B4-BE49-F238E27FC236}">
                <a16:creationId xmlns:a16="http://schemas.microsoft.com/office/drawing/2014/main" id="{C42EEC04-557C-4B90-906B-408A91252B0E}"/>
              </a:ext>
            </a:extLst>
          </p:cNvPr>
          <p:cNvSpPr>
            <a:spLocks xmlns:a="http://schemas.openxmlformats.org/drawingml/2006/main" noGrp="1"/>
          </p:cNvSpPr>
          <p:nvPr/>
        </p:nvSpPr>
        <p:spPr>
          <a:xfrm xmlns:a="http://schemas.openxmlformats.org/drawingml/2006/main" rot="0" flipH="0" flipV="0">
            <a:off x="4667250" y="3435165"/>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7" name="Google Shape;187;p28">
            <a:extLst xmlns:a="http://schemas.openxmlformats.org/drawingml/2006/main">
              <a:ext uri="{FF2B5EF4-FFF2-40B4-BE49-F238E27FC236}">
                <a16:creationId xmlns:a16="http://schemas.microsoft.com/office/drawing/2014/main" id="{F6E47AF7-BC89-4D7E-9BDC-FFC7390BC863}"/>
              </a:ext>
            </a:extLst>
          </p:cNvPr>
          <p:cNvSpPr>
            <a:spLocks xmlns:a="http://schemas.openxmlformats.org/drawingml/2006/main" noGrp="1"/>
          </p:cNvSpPr>
          <p:nvPr/>
        </p:nvSpPr>
        <p:spPr>
          <a:xfrm xmlns:a="http://schemas.openxmlformats.org/drawingml/2006/main" rot="0" flipH="0" flipV="0">
            <a:off x="4810125" y="3515222"/>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3. Recorded physio mode</a:t>
            </a:r>
          </a:p>
          <a:p xmlns:a="http://schemas.openxmlformats.org/drawingml/2006/main">
            <a:pPr marL="457200" indent="-298450" algn="l">
              <a:spcBef>
                <a:spcPts val="450"/>
              </a:spcBef>
              <a:spcAft>
                <a:spcPts val="0"/>
              </a:spcAft>
              <a:buClr>
                <a:schemeClr val="dk1"/>
              </a:buClr>
              <a:buSzPts val="1100"/>
              <a:buFont typeface="Roboto"/>
              <a:buChar char="-"/>
            </a:pPr>
            <a:r>
              <a:rPr sz="1100" b="1">
                <a:solidFill>
                  <a:srgbClr val="475569"/>
                </a:solidFill>
                <a:latin typeface="Roboto"/>
                <a:ea typeface="Roboto"/>
                <a:cs typeface="Roboto"/>
              </a:rPr>
              <a:t>Replay saved sessions</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Inspect angles and compensation</a:t>
            </a:r>
          </a:p>
        </p:txBody>
      </p:sp>
    </p:spTree>
    <p:extLst>
      <p:ext uri="{BB962C8B-B14F-4D97-AF65-F5344CB8AC3E}">
        <p14:creationId xmlns:p14="http://schemas.microsoft.com/office/powerpoint/2010/main" val="433380172"/>
      </p:ext>
    </p:extLst>
  </p:cSld>
</p:sld>
</file>

<file path=ppt/slides/slide10.xml><?xml version="1.0" encoding="utf-8"?>
<p:sld xmlns:p="http://schemas.openxmlformats.org/presentationml/2006/main">
  <p:cSld>
    <p:bg>
      <p:bgPr>
        <a:blipFill xmlns:a="http://schemas.openxmlformats.org/drawingml/2006/main">
          <a:blip xmlns:r="http://schemas.openxmlformats.org/officeDocument/2006/relationships" r:embed="R8df629795855471c">
            <a:alphaModFix/>
          </a:blip>
          <a:stretch>
            <a:fillRect l="0" t="0" r="0" b="0"/>
          </a:stretch>
        </a:blipFill>
      </p:bgPr>
    </p:bg>
    <p:spTree>
      <p:nvGrpSpPr>
        <p:cNvPr id="1" name=""/>
        <p:cNvGrpSpPr/>
        <p:nvPr/>
      </p:nvGrpSpPr>
      <p:grpSpPr>
        <a:xfrm xmlns:a="http://schemas.openxmlformats.org/drawingml/2006/main"/>
      </p:grpSpPr>
      <p:sp>
        <p:nvSpPr>
          <p:cNvPr id="123" name="Google Shape;123;p23">
            <a:extLst xmlns:a="http://schemas.openxmlformats.org/drawingml/2006/main">
              <a:ext uri="{FF2B5EF4-FFF2-40B4-BE49-F238E27FC236}">
                <a16:creationId xmlns:a16="http://schemas.microsoft.com/office/drawing/2014/main" id="{BDE1AB60-8C3B-43B6-A8D8-22FA15CF98B5}"/>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4" name="Google Shape;124;p23">
            <a:extLst xmlns:a="http://schemas.openxmlformats.org/drawingml/2006/main">
              <a:ext uri="{FF2B5EF4-FFF2-40B4-BE49-F238E27FC236}">
                <a16:creationId xmlns:a16="http://schemas.microsoft.com/office/drawing/2014/main" id="{9808B0E4-0589-40F1-B76C-1945E4F2D214}"/>
              </a:ext>
            </a:extLst>
          </p:cNvPr>
          <p:cNvSpPr>
            <a:spLocks xmlns:a="http://schemas.openxmlformats.org/drawingml/2006/main" noGrp="1"/>
          </p:cNvSpPr>
          <p:nvPr/>
        </p:nvSpPr>
        <p:spPr>
          <a:xfrm xmlns:a="http://schemas.openxmlformats.org/drawingml/2006/main">
            <a:off x="381000" y="1714500"/>
            <a:ext cx="571500" cy="38100"/>
          </a:xfrm>
          <a:prstGeom xmlns:a="http://schemas.openxmlformats.org/drawingml/2006/main" prst="roundRect">
            <a:avLst>
              <a:gd name="adj" fmla="val 50000"/>
            </a:avLst>
          </a:prstGeom>
          <a:solidFill xmlns:a="http://schemas.openxmlformats.org/drawingml/2006/main">
            <a:srgbClr val="6366F1"/>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5" name="Google Shape;125;p23">
            <a:extLst xmlns:a="http://schemas.openxmlformats.org/drawingml/2006/main">
              <a:ext uri="{FF2B5EF4-FFF2-40B4-BE49-F238E27FC236}">
                <a16:creationId xmlns:a16="http://schemas.microsoft.com/office/drawing/2014/main" id="{9FDC5BD8-F170-4E5B-ABAB-62022E28D415}"/>
              </a:ext>
            </a:extLst>
          </p:cNvPr>
          <p:cNvSpPr>
            <a:spLocks xmlns:a="http://schemas.openxmlformats.org/drawingml/2006/main" noGrp="1"/>
          </p:cNvSpPr>
          <p:nvPr>
            <p:ph type="title" idx="0"/>
          </p:nvPr>
        </p:nvSpPr>
        <p:spPr>
          <a:xfrm xmlns:a="http://schemas.openxmlformats.org/drawingml/2006/main">
            <a:off x="304800" y="571500"/>
            <a:ext cx="3705300" cy="1905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5250" tIns="95250" rIns="95250" bIns="95250" anchor="t">
            <a:normAutofit fontScale="100000"/>
          </a:bodyPr>
          <a:lstStyle xmlns:a="http://schemas.openxmlformats.org/drawingml/2006/main"/>
          <a:p xmlns:a="http://schemas.openxmlformats.org/drawingml/2006/main">
            <a:pPr marL="0" indent="0" algn="l">
              <a:spcBef>
                <a:spcPts val="0"/>
              </a:spcBef>
              <a:spcAft>
                <a:spcPts val="0"/>
              </a:spcAft>
              <a:buNone/>
            </a:pPr>
            <a:r>
              <a:rPr sz="3200" b="1">
                <a:solidFill>
                  <a:srgbClr val="FFFFFF"/>
                </a:solidFill>
                <a:latin typeface="Merriweather"/>
                <a:ea typeface="Merriweather"/>
                <a:cs typeface="Merriweather"/>
              </a:rPr>
              <a:t>Patient mode:
live, simple, motivating</a:t>
            </a:r>
          </a:p>
        </p:txBody>
      </p:sp>
      <p:sp>
        <p:nvSpPr>
          <p:cNvPr id="127" name="Google Shape;127;p23">
            <a:extLst xmlns:a="http://schemas.openxmlformats.org/drawingml/2006/main">
              <a:ext uri="{FF2B5EF4-FFF2-40B4-BE49-F238E27FC236}">
                <a16:creationId xmlns:a16="http://schemas.microsoft.com/office/drawing/2014/main" id="{0C95D4FC-CD97-4D6D-9455-57D3D7053465}"/>
              </a:ext>
            </a:extLst>
          </p:cNvPr>
          <p:cNvSpPr>
            <a:spLocks xmlns:a="http://schemas.openxmlformats.org/drawingml/2006/main" noGrp="1"/>
          </p:cNvSpPr>
          <p:nvPr/>
        </p:nvSpPr>
        <p:spPr>
          <a:xfrm xmlns:a="http://schemas.openxmlformats.org/drawingml/2006/main" rot="0" flipH="0" flipV="0">
            <a:off x="4667250" y="185750"/>
            <a:ext cx="4095900" cy="1047900"/>
          </a:xfrm>
          <a:prstGeom xmlns:a="http://schemas.openxmlformats.org/drawingml/2006/main" prst="roundRect">
            <a:avLst>
              <a:gd name="adj" fmla="val 7272"/>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28" name="Google Shape;128;p23">
            <a:extLst xmlns:a="http://schemas.openxmlformats.org/drawingml/2006/main">
              <a:ext uri="{FF2B5EF4-FFF2-40B4-BE49-F238E27FC236}">
                <a16:creationId xmlns:a16="http://schemas.microsoft.com/office/drawing/2014/main" id="{8B9E0596-826D-4B5A-8486-83ED0D9E9E34}"/>
              </a:ext>
            </a:extLst>
          </p:cNvPr>
          <p:cNvSpPr>
            <a:spLocks xmlns:a="http://schemas.openxmlformats.org/drawingml/2006/main" noGrp="1"/>
          </p:cNvSpPr>
          <p:nvPr/>
        </p:nvSpPr>
        <p:spPr>
          <a:xfrm xmlns:a="http://schemas.openxmlformats.org/drawingml/2006/main" rot="0" flipH="0" flipV="0">
            <a:off x="4810200" y="281000"/>
            <a:ext cx="38100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400" b="1">
                <a:solidFill>
                  <a:srgbClr val="31394D"/>
                </a:solidFill>
                <a:latin typeface="Roboto"/>
                <a:ea typeface="Roboto"/>
                <a:cs typeface="Roboto"/>
              </a:rPr>
              <a:t>Live patient mode</a:t>
            </a:r>
          </a:p>
          <a:p xmlns:a="http://schemas.openxmlformats.org/drawingml/2006/main">
            <a:pPr marL="0" indent="0" algn="l">
              <a:spcBef>
                <a:spcPts val="300"/>
              </a:spcBef>
              <a:spcAft>
                <a:spcPts val="0"/>
              </a:spcAft>
              <a:buNone/>
            </a:pPr>
            <a:r>
              <a:rPr sz="1200" b="0">
                <a:solidFill>
                  <a:srgbClr val="475569"/>
                </a:solidFill>
                <a:latin typeface="Roboto"/>
                <a:ea typeface="Roboto"/>
                <a:cs typeface="Roboto"/>
              </a:rPr>
              <a:t>IMUs control the routine in real time.</a:t>
            </a:r>
          </a:p>
        </p:txBody>
      </p:sp>
      <p:sp>
        <p:nvSpPr>
          <p:cNvPr id="130" name="Google Shape;130;p23">
            <a:extLst xmlns:a="http://schemas.openxmlformats.org/drawingml/2006/main">
              <a:ext uri="{FF2B5EF4-FFF2-40B4-BE49-F238E27FC236}">
                <a16:creationId xmlns:a16="http://schemas.microsoft.com/office/drawing/2014/main" id="{68B8EDB4-1E61-41BA-BD22-17E5D0C2DC2A}"/>
              </a:ext>
            </a:extLst>
          </p:cNvPr>
          <p:cNvSpPr>
            <a:spLocks xmlns:a="http://schemas.openxmlformats.org/drawingml/2006/main" noGrp="1"/>
          </p:cNvSpPr>
          <p:nvPr/>
        </p:nvSpPr>
        <p:spPr>
          <a:xfrm xmlns:a="http://schemas.openxmlformats.org/drawingml/2006/main" rot="0" flipH="0" flipV="0">
            <a:off x="4667250" y="1423975"/>
            <a:ext cx="409590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31" name="Google Shape;131;p23">
            <a:extLst xmlns:a="http://schemas.openxmlformats.org/drawingml/2006/main">
              <a:ext uri="{FF2B5EF4-FFF2-40B4-BE49-F238E27FC236}">
                <a16:creationId xmlns:a16="http://schemas.microsoft.com/office/drawing/2014/main" id="{6DD163CC-B02B-42F8-8A3F-BF53C1053F69}"/>
              </a:ext>
            </a:extLst>
          </p:cNvPr>
          <p:cNvSpPr>
            <a:spLocks xmlns:a="http://schemas.openxmlformats.org/drawingml/2006/main" noGrp="1"/>
          </p:cNvSpPr>
          <p:nvPr/>
        </p:nvSpPr>
        <p:spPr>
          <a:xfrm xmlns:a="http://schemas.openxmlformats.org/drawingml/2006/main" rot="0" flipH="0" flipV="0">
            <a:off x="4810200" y="1519225"/>
            <a:ext cx="3810000" cy="13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295" b="1">
                <a:solidFill>
                  <a:srgbClr val="31394D"/>
                </a:solidFill>
                <a:latin typeface="Roboto"/>
                <a:ea typeface="Roboto"/>
                <a:cs typeface="Roboto"/>
              </a:rPr>
              <a:t>Patient-facing feedback</a:t>
            </a:r>
          </a:p>
          <a:p xmlns:a="http://schemas.openxmlformats.org/drawingml/2006/main">
            <a:pPr marL="457200" indent="-293211" algn="l">
              <a:spcBef>
                <a:spcPts val="600"/>
              </a:spcBef>
              <a:spcAft>
                <a:spcPts val="0"/>
              </a:spcAft>
              <a:buClr>
                <a:srgbClr val="475569"/>
              </a:buClr>
              <a:buSzPts val="1018"/>
              <a:buFont typeface="Roboto"/>
              <a:buChar char="●"/>
            </a:pPr>
            <a:r>
              <a:rPr sz="1018" b="0">
                <a:solidFill>
                  <a:srgbClr val="475569"/>
                </a:solidFill>
                <a:latin typeface="Roboto"/>
                <a:ea typeface="Roboto"/>
                <a:cs typeface="Roboto"/>
              </a:rPr>
              <a:t>Current exercise, instruction video, score and progress.</a:t>
            </a:r>
          </a:p>
          <a:p xmlns:a="http://schemas.openxmlformats.org/drawingml/2006/main">
            <a:pPr marL="457200" indent="-293211" algn="l">
              <a:spcBef>
                <a:spcPts val="600"/>
              </a:spcBef>
              <a:spcAft>
                <a:spcPts val="0"/>
              </a:spcAft>
              <a:buClr>
                <a:srgbClr val="475569"/>
              </a:buClr>
              <a:buSzPts val="1018"/>
              <a:buFont typeface="Roboto"/>
              <a:buChar char="●"/>
            </a:pPr>
            <a:r>
              <a:rPr sz="1018" b="0">
                <a:solidFill>
                  <a:srgbClr val="475569"/>
                </a:solidFill>
                <a:latin typeface="Roboto"/>
                <a:ea typeface="Roboto"/>
                <a:cs typeface="Roboto"/>
              </a:rPr>
              <a:t>Movement bars show when thresholds are reached.</a:t>
            </a:r>
          </a:p>
          <a:p xmlns:a="http://schemas.openxmlformats.org/drawingml/2006/main">
            <a:pPr marL="457200" indent="-293211" algn="l">
              <a:spcBef>
                <a:spcPts val="600"/>
              </a:spcBef>
              <a:spcAft>
                <a:spcPts val="0"/>
              </a:spcAft>
              <a:buClr>
                <a:srgbClr val="475569"/>
              </a:buClr>
              <a:buSzPts val="1018"/>
              <a:buFont typeface="Roboto"/>
              <a:buChar char="●"/>
            </a:pPr>
            <a:r>
              <a:rPr sz="1018" b="0">
                <a:solidFill>
                  <a:srgbClr val="475569"/>
                </a:solidFill>
                <a:latin typeface="Roboto"/>
                <a:ea typeface="Roboto"/>
                <a:cs typeface="Roboto"/>
              </a:rPr>
              <a:t>Rewards reinforce correct repetitions.</a:t>
            </a:r>
          </a:p>
        </p:txBody>
      </p:sp>
      <p:pic>
        <p:nvPicPr>
          <p:cNvPr id="140" name="Google Shape;132;p23"/>
          <p:cNvPicPr>
            <a:picLocks xmlns:a="http://schemas.openxmlformats.org/drawingml/2006/main" noChangeAspect="1"/>
          </p:cNvPicPr>
          <p:nvPr/>
        </p:nvPicPr>
        <p:blipFill rotWithShape="1">
          <a:blip xmlns:r="http://schemas.openxmlformats.org/officeDocument/2006/relationships" xmlns:a="http://schemas.openxmlformats.org/drawingml/2006/main" r:embed="R57b0148552b74016">
            <a:alphaModFix/>
          </a:blip>
          <a:srcRect xmlns:a="http://schemas.openxmlformats.org/drawingml/2006/main" l="30" t="0" r="20" b="0"/>
          <a:stretch xmlns:a="http://schemas.openxmlformats.org/drawingml/2006/main"/>
        </p:blipFill>
        <p:spPr>
          <a:xfrm xmlns:a="http://schemas.openxmlformats.org/drawingml/2006/main">
            <a:off x="4667250" y="3138300"/>
            <a:ext cx="4095900" cy="23052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51561567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7" name="Google Shape;137;p24">
            <a:extLst xmlns:a="http://schemas.openxmlformats.org/drawingml/2006/main">
              <a:ext uri="{FF2B5EF4-FFF2-40B4-BE49-F238E27FC236}">
                <a16:creationId xmlns:a16="http://schemas.microsoft.com/office/drawing/2014/main" id="{83905C29-CBF3-4BDD-9BE2-8F46440F9663}"/>
              </a:ext>
            </a:extLst>
          </p:cNvPr>
          <p:cNvSpPr>
            <a:spLocks xmlns:a="http://schemas.openxmlformats.org/drawingml/2006/main" noGrp="1"/>
          </p:cNvSpPr>
          <p:nvPr>
            <p:ph type="body" idx="1"/>
          </p:nvPr>
        </p:nvSpPr>
        <p:spPr>
          <a:xfrm xmlns:a="http://schemas.openxmlformats.org/drawingml/2006/main">
            <a:off x="311700" y="4521400"/>
            <a:ext cx="7979400" cy="4605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indent="0" algn="l">
              <a:spcBef>
                <a:spcPts val="0"/>
              </a:spcBef>
              <a:spcAft>
                <a:spcPts val="0"/>
              </a:spcAft>
              <a:buNone/>
            </a:pPr>
            <a:r>
              <a:t>Physio mode: recorded replay • detailed IMU angle traces</a:t>
            </a:r>
          </a:p>
        </p:txBody>
      </p:sp>
      <p:pic>
        <p:nvPicPr>
          <p:cNvPr id="140" name="Google Shape;138;p24"/>
          <p:cNvPicPr>
            <a:picLocks xmlns:a="http://schemas.openxmlformats.org/drawingml/2006/main" noChangeAspect="1"/>
          </p:cNvPicPr>
          <p:nvPr/>
        </p:nvPicPr>
        <p:blipFill>
          <a:blip xmlns:r="http://schemas.openxmlformats.org/officeDocument/2006/relationships" xmlns:a="http://schemas.openxmlformats.org/drawingml/2006/main" r:embed="R698c38f04c6c4cdf">
            <a:alphaModFix/>
          </a:blip>
          <a:stretch xmlns:a="http://schemas.openxmlformats.org/drawingml/2006/main"/>
        </p:blipFill>
        <p:spPr>
          <a:xfrm xmlns:a="http://schemas.openxmlformats.org/drawingml/2006/main">
            <a:off x="1137038" y="230650"/>
            <a:ext cx="6328723" cy="3894599"/>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43037274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86" name="Google Shape;286;p35">
            <a:extLst xmlns:a="http://schemas.openxmlformats.org/drawingml/2006/main">
              <a:ext uri="{FF2B5EF4-FFF2-40B4-BE49-F238E27FC236}">
                <a16:creationId xmlns:a16="http://schemas.microsoft.com/office/drawing/2014/main" id="{6145D986-5BEF-494E-B8F4-91D1E1F07279}"/>
              </a:ext>
            </a:extLst>
          </p:cNvPr>
          <p:cNvSpPr>
            <a:spLocks xmlns:a="http://schemas.openxmlformats.org/drawingml/2006/main" noGrp="1"/>
          </p:cNvSpPr>
          <p:nvPr>
            <p:ph type="title" idx="0"/>
          </p:nvPr>
        </p:nvSpPr>
        <p:spPr>
          <a:xfrm xmlns:a="http://schemas.openxmlformats.org/drawingml/2006/main">
            <a:off x="361525" y="436200"/>
            <a:ext cx="3656400" cy="2246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indent="0" algn="l">
              <a:lnSpc>
                <a:spcPct val="115000"/>
              </a:lnSpc>
              <a:spcBef>
                <a:spcPts val="0"/>
              </a:spcBef>
              <a:spcAft>
                <a:spcPts val="0"/>
              </a:spcAft>
              <a:buNone/>
            </a:pPr>
            <a:r>
              <a:rPr sz="2550">
                <a:solidFill>
                  <a:srgbClr val="F5F5F5"/>
                </a:solidFill>
                <a:latin typeface="Arial"/>
                <a:ea typeface="Arial"/>
                <a:cs typeface="Arial"/>
              </a:rPr>
              <a:t>Usability </a:t>
            </a:r>
            <a:r>
              <a:rPr sz="2550">
                <a:solidFill>
                  <a:srgbClr val="DEFF9A"/>
                </a:solidFill>
                <a:latin typeface="Arial"/>
                <a:ea typeface="Arial"/>
                <a:cs typeface="Arial"/>
              </a:rPr>
              <a:t>Assessment</a:t>
            </a:r>
            <a:r>
              <a:rPr sz="2550">
                <a:solidFill>
                  <a:srgbClr val="F5F5F5"/>
                </a:solidFill>
                <a:latin typeface="Arial"/>
                <a:ea typeface="Arial"/>
                <a:cs typeface="Arial"/>
              </a:rPr>
              <a:t> (SUS)</a:t>
            </a:r>
          </a:p>
          <a:p xmlns:a="http://schemas.openxmlformats.org/drawingml/2006/main">
            <a:pPr marL="0" indent="0" algn="l">
              <a:lnSpc>
                <a:spcPct val="115000"/>
              </a:lnSpc>
              <a:spcBef>
                <a:spcPts val="3000"/>
              </a:spcBef>
              <a:spcAft>
                <a:spcPts val="0"/>
              </a:spcAft>
              <a:buNone/>
            </a:pPr>
            <a:r>
              <a:t/>
            </a:r>
          </a:p>
          <a:p xmlns:a="http://schemas.openxmlformats.org/drawingml/2006/main">
            <a:pPr marL="0" indent="0" algn="l">
              <a:spcBef>
                <a:spcPts val="0"/>
              </a:spcBef>
              <a:spcAft>
                <a:spcPts val="0"/>
              </a:spcAft>
              <a:buNone/>
            </a:pPr>
            <a:r>
              <a:t/>
            </a:r>
          </a:p>
        </p:txBody>
      </p:sp>
      <p:sp>
        <p:nvSpPr>
          <p:cNvPr id="287" name="Google Shape;287;p35">
            <a:extLst xmlns:a="http://schemas.openxmlformats.org/drawingml/2006/main">
              <a:ext uri="{FF2B5EF4-FFF2-40B4-BE49-F238E27FC236}">
                <a16:creationId xmlns:a16="http://schemas.microsoft.com/office/drawing/2014/main" id="{0B8A67DA-02A9-4F3E-89DD-2ABBF967ED44}"/>
              </a:ext>
            </a:extLst>
          </p:cNvPr>
          <p:cNvSpPr>
            <a:spLocks xmlns:a="http://schemas.openxmlformats.org/drawingml/2006/main" noGrp="1"/>
          </p:cNvSpPr>
          <p:nvPr/>
        </p:nvSpPr>
        <p:spPr>
          <a:xfrm xmlns:a="http://schemas.openxmlformats.org/drawingml/2006/main">
            <a:off x="279325" y="2045525"/>
            <a:ext cx="3820800" cy="273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indent="0" algn="ctr">
              <a:spcBef>
                <a:spcPts val="0"/>
              </a:spcBef>
              <a:spcAft>
                <a:spcPts val="0"/>
              </a:spcAft>
              <a:buNone/>
            </a:pPr>
            <a:r>
              <a:rPr sz="13500" b="1">
                <a:solidFill>
                  <a:srgbClr val="DEFF9A"/>
                </a:solidFill>
              </a:rPr>
              <a:t>67.5</a:t>
            </a:r>
          </a:p>
          <a:p xmlns:a="http://schemas.openxmlformats.org/drawingml/2006/main">
            <a:pPr marL="0" indent="0" algn="ctr">
              <a:lnSpc>
                <a:spcPct val="115000"/>
              </a:lnSpc>
              <a:spcBef>
                <a:spcPts val="800"/>
              </a:spcBef>
              <a:spcAft>
                <a:spcPts val="0"/>
              </a:spcAft>
              <a:buNone/>
            </a:pPr>
            <a:r>
              <a:rPr sz="2400">
                <a:solidFill>
                  <a:srgbClr val="F5F5F5"/>
                </a:solidFill>
              </a:rPr>
              <a:t>Overall SUS Score</a:t>
            </a:r>
          </a:p>
        </p:txBody>
      </p:sp>
      <p:sp>
        <p:nvSpPr>
          <p:cNvPr id="288" name="Google Shape;288;p35">
            <a:extLst xmlns:a="http://schemas.openxmlformats.org/drawingml/2006/main">
              <a:ext uri="{FF2B5EF4-FFF2-40B4-BE49-F238E27FC236}">
                <a16:creationId xmlns:a16="http://schemas.microsoft.com/office/drawing/2014/main" id="{2C351691-1E8D-467D-9A97-98E43C62BB37}"/>
              </a:ext>
            </a:extLst>
          </p:cNvPr>
          <p:cNvSpPr>
            <a:spLocks xmlns:a="http://schemas.openxmlformats.org/drawingml/2006/main" noGrp="1"/>
          </p:cNvSpPr>
          <p:nvPr/>
        </p:nvSpPr>
        <p:spPr>
          <a:xfrm xmlns:a="http://schemas.openxmlformats.org/drawingml/2006/main">
            <a:off x="4379100" y="755400"/>
            <a:ext cx="4764900" cy="363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indent="0" algn="l">
              <a:lnSpc>
                <a:spcPct val="115000"/>
              </a:lnSpc>
              <a:spcBef>
                <a:spcPts val="0"/>
              </a:spcBef>
              <a:spcAft>
                <a:spcPts val="0"/>
              </a:spcAft>
              <a:buNone/>
            </a:pPr>
            <a:r>
              <a:rPr sz="2100" b="1">
                <a:solidFill>
                  <a:schemeClr val="dk1"/>
                </a:solidFill>
              </a:rPr>
              <a:t>Solid Foundational Prototype</a:t>
            </a:r>
          </a:p>
          <a:p xmlns:a="http://schemas.openxmlformats.org/drawingml/2006/main">
            <a:pPr marL="0" indent="0" algn="l">
              <a:lnSpc>
                <a:spcPct val="140000"/>
              </a:lnSpc>
              <a:spcBef>
                <a:spcPts val="1500"/>
              </a:spcBef>
              <a:spcAft>
                <a:spcPts val="0"/>
              </a:spcAft>
              <a:buNone/>
            </a:pPr>
            <a:r>
              <a:rPr sz="1650">
                <a:solidFill>
                  <a:schemeClr val="dk1"/>
                </a:solidFill>
              </a:rPr>
              <a:t>The score sits just below the industry average of </a:t>
            </a:r>
            <a:r>
              <a:rPr sz="1650" b="1">
                <a:solidFill>
                  <a:schemeClr val="dk1"/>
                </a:solidFill>
              </a:rPr>
              <a:t>68.0</a:t>
            </a:r>
            <a:r>
              <a:rPr sz="1650">
                <a:solidFill>
                  <a:schemeClr val="dk1"/>
                </a:solidFill>
              </a:rPr>
              <a:t>, placing the system in the "Marginal" to "Average" category.</a:t>
            </a:r>
          </a:p>
          <a:p xmlns:a="http://schemas.openxmlformats.org/drawingml/2006/main">
            <a:pPr marL="457200" indent="-333375" algn="l">
              <a:lnSpc>
                <a:spcPct val="140000"/>
              </a:lnSpc>
              <a:spcBef>
                <a:spcPts val="1100"/>
              </a:spcBef>
              <a:spcAft>
                <a:spcPts val="0"/>
              </a:spcAft>
              <a:buClr>
                <a:schemeClr val="dk1"/>
              </a:buClr>
              <a:buSzPts val="1650"/>
              <a:buChar char="●"/>
            </a:pPr>
            <a:r>
              <a:rPr sz="1650">
                <a:solidFill>
                  <a:schemeClr val="dk1"/>
                </a:solidFill>
              </a:rPr>
              <a:t>Represents a stable starting point.</a:t>
            </a:r>
          </a:p>
          <a:p xmlns:a="http://schemas.openxmlformats.org/drawingml/2006/main">
            <a:pPr marL="457200" indent="-333375" algn="l">
              <a:lnSpc>
                <a:spcPct val="140000"/>
              </a:lnSpc>
              <a:spcBef>
                <a:spcPts val="0"/>
              </a:spcBef>
              <a:spcAft>
                <a:spcPts val="0"/>
              </a:spcAft>
              <a:buClr>
                <a:schemeClr val="dk1"/>
              </a:buClr>
              <a:buSzPts val="1650"/>
              <a:buChar char="●"/>
            </a:pPr>
            <a:r>
              <a:rPr sz="1650">
                <a:solidFill>
                  <a:schemeClr val="dk1"/>
                </a:solidFill>
              </a:rPr>
              <a:t>Identifies clear, actionable improvement areas.</a:t>
            </a:r>
          </a:p>
          <a:p xmlns:a="http://schemas.openxmlformats.org/drawingml/2006/main">
            <a:pPr marL="457200" indent="-333375" algn="l">
              <a:lnSpc>
                <a:spcPct val="140000"/>
              </a:lnSpc>
              <a:spcBef>
                <a:spcPts val="0"/>
              </a:spcBef>
              <a:spcAft>
                <a:spcPts val="0"/>
              </a:spcAft>
              <a:buClr>
                <a:srgbClr val="CBD5E1"/>
              </a:buClr>
              <a:buSzPts val="1650"/>
              <a:buChar char="●"/>
            </a:pPr>
            <a:r>
              <a:rPr sz="1650">
                <a:solidFill>
                  <a:schemeClr val="dk1"/>
                </a:solidFill>
              </a:rPr>
              <a:t>Requires refinement to exceed standard usability benchmarks</a:t>
            </a:r>
            <a:r>
              <a:rPr sz="1650">
                <a:solidFill>
                  <a:srgbClr val="CBD5E1"/>
                </a:solidFill>
              </a:rPr>
              <a:t>.</a:t>
            </a:r>
          </a:p>
        </p:txBody>
      </p:sp>
    </p:spTree>
    <p:extLst>
      <p:ext uri="{BB962C8B-B14F-4D97-AF65-F5344CB8AC3E}">
        <p14:creationId xmlns:p14="http://schemas.microsoft.com/office/powerpoint/2010/main" val="210590113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98" name="Google Shape;298;p37">
            <a:extLst xmlns:a="http://schemas.openxmlformats.org/drawingml/2006/main">
              <a:ext uri="{FF2B5EF4-FFF2-40B4-BE49-F238E27FC236}">
                <a16:creationId xmlns:a16="http://schemas.microsoft.com/office/drawing/2014/main" id="{D9716115-C616-43EC-9119-92DDE3A5D1C1}"/>
              </a:ext>
            </a:extLst>
          </p:cNvPr>
          <p:cNvSpPr>
            <a:spLocks xmlns:a="http://schemas.openxmlformats.org/drawingml/2006/main" noGrp="1"/>
          </p:cNvSpPr>
          <p:nvPr>
            <p:ph type="title" idx="0"/>
          </p:nvPr>
        </p:nvSpPr>
        <p:spPr>
          <a:xfrm xmlns:a="http://schemas.openxmlformats.org/drawingml/2006/main">
            <a:off x="311725" y="500925"/>
            <a:ext cx="8520600" cy="623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lnSpc>
                <a:spcPct val="115000"/>
              </a:lnSpc>
              <a:spcBef>
                <a:spcPts val="0"/>
              </a:spcBef>
              <a:spcAft>
                <a:spcPts val="0"/>
              </a:spcAft>
              <a:buNone/>
            </a:pPr>
            <a:r>
              <a:rPr sz="4200">
                <a:solidFill>
                  <a:srgbClr val="F5F5F5"/>
                </a:solidFill>
                <a:latin typeface="Arial"/>
                <a:ea typeface="Arial"/>
                <a:cs typeface="Arial"/>
              </a:rPr>
              <a:t>Workload &amp; </a:t>
            </a:r>
            <a:r>
              <a:rPr sz="4200">
                <a:solidFill>
                  <a:srgbClr val="DEFF9A"/>
                </a:solidFill>
                <a:latin typeface="Arial"/>
                <a:ea typeface="Arial"/>
                <a:cs typeface="Arial"/>
              </a:rPr>
              <a:t>Friction</a:t>
            </a:r>
            <a:r>
              <a:rPr sz="4200">
                <a:solidFill>
                  <a:srgbClr val="F5F5F5"/>
                </a:solidFill>
                <a:latin typeface="Arial"/>
                <a:ea typeface="Arial"/>
                <a:cs typeface="Arial"/>
              </a:rPr>
              <a:t> Analysis</a:t>
            </a:r>
          </a:p>
          <a:p xmlns:a="http://schemas.openxmlformats.org/drawingml/2006/main">
            <a:pPr marL="0" indent="0" algn="l">
              <a:spcBef>
                <a:spcPts val="3000"/>
              </a:spcBef>
              <a:spcAft>
                <a:spcPts val="0"/>
              </a:spcAft>
              <a:buNone/>
            </a:pPr>
            <a:r>
              <a:t/>
            </a:r>
          </a:p>
        </p:txBody>
      </p:sp>
      <p:sp>
        <p:nvSpPr>
          <p:cNvPr id="299" name="Google Shape;299;p37">
            <a:extLst xmlns:a="http://schemas.openxmlformats.org/drawingml/2006/main">
              <a:ext uri="{FF2B5EF4-FFF2-40B4-BE49-F238E27FC236}">
                <a16:creationId xmlns:a16="http://schemas.microsoft.com/office/drawing/2014/main" id="{027C7AEB-7E97-4172-803F-DA75003D10B3}"/>
              </a:ext>
            </a:extLst>
          </p:cNvPr>
          <p:cNvSpPr>
            <a:spLocks xmlns:a="http://schemas.openxmlformats.org/drawingml/2006/main" noGrp="1"/>
          </p:cNvSpPr>
          <p:nvPr/>
        </p:nvSpPr>
        <p:spPr>
          <a:xfrm xmlns:a="http://schemas.openxmlformats.org/drawingml/2006/main">
            <a:off x="558350" y="3429600"/>
            <a:ext cx="8441100" cy="135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indent="0" algn="l">
              <a:lnSpc>
                <a:spcPct val="115000"/>
              </a:lnSpc>
              <a:spcBef>
                <a:spcPts val="0"/>
              </a:spcBef>
              <a:spcAft>
                <a:spcPts val="0"/>
              </a:spcAft>
              <a:buNone/>
            </a:pPr>
            <a:r>
              <a:rPr sz="2100" b="1">
                <a:solidFill>
                  <a:schemeClr val="dk1"/>
                </a:solidFill>
              </a:rPr>
              <a:t>The "Frustration Gap"</a:t>
            </a:r>
          </a:p>
          <a:p xmlns:a="http://schemas.openxmlformats.org/drawingml/2006/main">
            <a:pPr marL="0" indent="0" algn="l">
              <a:lnSpc>
                <a:spcPct val="140000"/>
              </a:lnSpc>
              <a:spcBef>
                <a:spcPts val="1500"/>
              </a:spcBef>
              <a:spcAft>
                <a:spcPts val="1100"/>
              </a:spcAft>
              <a:buNone/>
            </a:pPr>
            <a:r>
              <a:rPr sz="1650">
                <a:solidFill>
                  <a:schemeClr val="dk1"/>
                </a:solidFill>
              </a:rPr>
              <a:t>While the </a:t>
            </a:r>
            <a:r>
              <a:rPr sz="1650" b="1">
                <a:solidFill>
                  <a:schemeClr val="dk1"/>
                </a:solidFill>
              </a:rPr>
              <a:t>zero temporal demand</a:t>
            </a:r>
            <a:r>
              <a:rPr sz="1650">
                <a:solidFill>
                  <a:schemeClr val="dk1"/>
                </a:solidFill>
              </a:rPr>
              <a:t> indicates a comfortable pace, the </a:t>
            </a:r>
            <a:r>
              <a:rPr sz="1650" b="1">
                <a:solidFill>
                  <a:schemeClr val="dk1"/>
                </a:solidFill>
              </a:rPr>
              <a:t>maximum levels of effort and frustration</a:t>
            </a:r>
            <a:r>
              <a:rPr sz="1650">
                <a:solidFill>
                  <a:schemeClr val="dk1"/>
                </a:solidFill>
              </a:rPr>
              <a:t> suggest significant mechanical friction. </a:t>
            </a:r>
          </a:p>
        </p:txBody>
      </p:sp>
      <p:sp>
        <p:nvSpPr>
          <p:cNvPr id="300" name="Google Shape;300;p37">
            <a:extLst xmlns:a="http://schemas.openxmlformats.org/drawingml/2006/main">
              <a:ext uri="{FF2B5EF4-FFF2-40B4-BE49-F238E27FC236}">
                <a16:creationId xmlns:a16="http://schemas.microsoft.com/office/drawing/2014/main" id="{002DC21B-36F2-43C5-BBF9-D906D40B5D06}"/>
              </a:ext>
            </a:extLst>
          </p:cNvPr>
          <p:cNvSpPr>
            <a:spLocks xmlns:a="http://schemas.openxmlformats.org/drawingml/2006/main" noGrp="1"/>
          </p:cNvSpPr>
          <p:nvPr/>
        </p:nvSpPr>
        <p:spPr>
          <a:xfrm xmlns:a="http://schemas.openxmlformats.org/drawingml/2006/main">
            <a:off x="383175" y="3465450"/>
            <a:ext cx="65700" cy="1642200"/>
          </a:xfrm>
          <a:prstGeom xmlns:a="http://schemas.openxmlformats.org/drawingml/2006/main" prst="rect">
            <a:avLst/>
          </a:prstGeom>
          <a:solidFill xmlns:a="http://schemas.openxmlformats.org/drawingml/2006/main">
            <a:schemeClr val="lt2"/>
          </a:solidFill>
          <a:ln xmlns:a="http://schemas.openxmlformats.org/drawingml/2006/main" w="9525" cmpd="sng">
            <a:solidFill>
              <a:schemeClr val="dk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ctr">
              <a:spcBef>
                <a:spcPts val="0"/>
              </a:spcBef>
              <a:spcAft>
                <a:spcPts val="0"/>
              </a:spcAft>
              <a:buNone/>
            </a:pPr>
            <a:r>
              <a:t/>
            </a:r>
          </a:p>
        </p:txBody>
      </p:sp>
    </p:spTree>
    <p:extLst>
      <p:ext uri="{BB962C8B-B14F-4D97-AF65-F5344CB8AC3E}">
        <p14:creationId xmlns:p14="http://schemas.microsoft.com/office/powerpoint/2010/main" val="135587186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05" name="Google Shape;305;p38">
            <a:extLst xmlns:a="http://schemas.openxmlformats.org/drawingml/2006/main">
              <a:ext uri="{FF2B5EF4-FFF2-40B4-BE49-F238E27FC236}">
                <a16:creationId xmlns:a16="http://schemas.microsoft.com/office/drawing/2014/main" id="{8AAAD5EB-75CA-4052-8C20-7548C36E87EA}"/>
              </a:ext>
            </a:extLst>
          </p:cNvPr>
          <p:cNvSpPr>
            <a:spLocks xmlns:a="http://schemas.openxmlformats.org/drawingml/2006/main" noGrp="1"/>
          </p:cNvSpPr>
          <p:nvPr>
            <p:ph type="title" idx="0"/>
          </p:nvPr>
        </p:nvSpPr>
        <p:spPr>
          <a:xfrm xmlns:a="http://schemas.openxmlformats.org/drawingml/2006/main">
            <a:off x="311725" y="500925"/>
            <a:ext cx="3706500" cy="25089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indent="0" algn="l">
              <a:spcBef>
                <a:spcPts val="0"/>
              </a:spcBef>
              <a:spcAft>
                <a:spcPts val="0"/>
              </a:spcAft>
              <a:buNone/>
            </a:pPr>
            <a:r>
              <a:t>Next improvements</a:t>
            </a:r>
          </a:p>
        </p:txBody>
      </p:sp>
      <p:sp>
        <p:nvSpPr>
          <p:cNvPr id="306" name="Google Shape;306;p38">
            <a:extLst xmlns:a="http://schemas.openxmlformats.org/drawingml/2006/main">
              <a:ext uri="{FF2B5EF4-FFF2-40B4-BE49-F238E27FC236}">
                <a16:creationId xmlns:a16="http://schemas.microsoft.com/office/drawing/2014/main" id="{8E7DB051-DD50-4ED4-B040-5ECF91F4A2A7}"/>
              </a:ext>
            </a:extLst>
          </p:cNvPr>
          <p:cNvSpPr>
            <a:spLocks xmlns:a="http://schemas.openxmlformats.org/drawingml/2006/main" noGrp="1"/>
          </p:cNvSpPr>
          <p:nvPr>
            <p:ph type="body" idx="1"/>
          </p:nvPr>
        </p:nvSpPr>
        <p:spPr>
          <a:xfrm xmlns:a="http://schemas.openxmlformats.org/drawingml/2006/main">
            <a:off x="4644675" y="500925"/>
            <a:ext cx="4166400" cy="40986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indent="0" algn="l">
              <a:lnSpc>
                <a:spcPct val="140000"/>
              </a:lnSpc>
              <a:spcBef>
                <a:spcPts val="0"/>
              </a:spcBef>
              <a:spcAft>
                <a:spcPts val="0"/>
              </a:spcAft>
              <a:buNone/>
            </a:pPr>
            <a:r>
              <a:rPr sz="1650">
                <a:solidFill>
                  <a:schemeClr val="dk1"/>
                </a:solidFill>
                <a:latin typeface="Arial"/>
                <a:ea typeface="Arial"/>
                <a:cs typeface="Arial"/>
              </a:rPr>
              <a:t>Simplify the interaction flow, reduce mechanical friction, and surface clear clinician metrics. These changes turn the prototype into a more reliable rehabilitation tool.
</a:t>
            </a:r>
          </a:p>
          <a:p xmlns:a="http://schemas.openxmlformats.org/drawingml/2006/main">
            <a:pPr marL="0" indent="0" algn="l">
              <a:spcBef>
                <a:spcPts val="1100"/>
              </a:spcBef>
              <a:spcAft>
                <a:spcPts val="1200"/>
              </a:spcAft>
              <a:buNone/>
            </a:pPr>
            <a:r>
              <a:t/>
            </a:r>
          </a:p>
        </p:txBody>
      </p:sp>
    </p:spTree>
    <p:extLst>
      <p:ext uri="{BB962C8B-B14F-4D97-AF65-F5344CB8AC3E}">
        <p14:creationId xmlns:p14="http://schemas.microsoft.com/office/powerpoint/2010/main" val="111739034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17" name="Google Shape;317;p40">
            <a:extLst xmlns:a="http://schemas.openxmlformats.org/drawingml/2006/main">
              <a:ext uri="{FF2B5EF4-FFF2-40B4-BE49-F238E27FC236}">
                <a16:creationId xmlns:a16="http://schemas.microsoft.com/office/drawing/2014/main" id="{AFB15D5B-97B0-45D1-98E9-35D3D1CB013D}"/>
              </a:ext>
            </a:extLst>
          </p:cNvPr>
          <p:cNvSpPr>
            <a:spLocks xmlns:a="http://schemas.openxmlformats.org/drawingml/2006/main" noGrp="1"/>
          </p:cNvSpPr>
          <p:nvPr>
            <p:ph type="ctrTitle" idx="0"/>
          </p:nvPr>
        </p:nvSpPr>
        <p:spPr>
          <a:xfrm xmlns:a="http://schemas.openxmlformats.org/drawingml/2006/main">
            <a:off x="339409" y="2147910"/>
            <a:ext cx="8520600" cy="938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indent="0" algn="l">
              <a:spcBef>
                <a:spcPts val="0"/>
              </a:spcBef>
              <a:spcAft>
                <a:spcPts val="0"/>
              </a:spcAft>
              <a:buNone/>
            </a:pPr>
            <a:r>
              <a:t>The team behind ReDance</a:t>
            </a:r>
          </a:p>
        </p:txBody>
      </p:sp>
      <p:sp>
        <p:nvSpPr>
          <p:cNvPr id="318" name="Google Shape;318;p40">
            <a:extLst xmlns:a="http://schemas.openxmlformats.org/drawingml/2006/main">
              <a:ext uri="{FF2B5EF4-FFF2-40B4-BE49-F238E27FC236}">
                <a16:creationId xmlns:a16="http://schemas.microsoft.com/office/drawing/2014/main" id="{89BEBCDE-BA4E-4B63-B8B9-9B225CCAFFBC}"/>
              </a:ext>
            </a:extLst>
          </p:cNvPr>
          <p:cNvSpPr>
            <a:spLocks xmlns:a="http://schemas.openxmlformats.org/drawingml/2006/main" noGrp="1"/>
          </p:cNvSpPr>
          <p:nvPr>
            <p:ph type="subTitle" idx="1"/>
          </p:nvPr>
        </p:nvSpPr>
        <p:spPr>
          <a:xfrm xmlns:a="http://schemas.openxmlformats.org/drawingml/2006/main">
            <a:off x="339400" y="2834510"/>
            <a:ext cx="4242600" cy="7383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indent="0" algn="l">
              <a:spcBef>
                <a:spcPts val="0"/>
              </a:spcBef>
              <a:spcAft>
                <a:spcPts val="0"/>
              </a:spcAft>
              <a:buNone/>
            </a:pPr>
            <a:r>
              <a:t>Hardware • sensing • movement logic • patient and physio interfaces</a:t>
            </a:r>
          </a:p>
        </p:txBody>
      </p:sp>
      <p:pic>
        <p:nvPicPr>
          <p:cNvPr id="326" name="Google Shape;319;p40"/>
          <p:cNvPicPr>
            <a:picLocks xmlns:a="http://schemas.openxmlformats.org/drawingml/2006/main" noChangeAspect="1"/>
          </p:cNvPicPr>
          <p:nvPr/>
        </p:nvPicPr>
        <p:blipFill rotWithShape="1">
          <a:blip xmlns:r="http://schemas.openxmlformats.org/officeDocument/2006/relationships" xmlns:a="http://schemas.openxmlformats.org/drawingml/2006/main" r:embed="Rab1ee229ef824f30">
            <a:alphaModFix/>
          </a:blip>
          <a:srcRect xmlns:a="http://schemas.openxmlformats.org/drawingml/2006/main" l="20" t="0" r="10" b="0"/>
          <a:stretch xmlns:a="http://schemas.openxmlformats.org/drawingml/2006/main"/>
        </p:blipFill>
        <p:spPr>
          <a:xfrm xmlns:a="http://schemas.openxmlformats.org/drawingml/2006/main">
            <a:off x="951425" y="346188"/>
            <a:ext cx="876950" cy="1075974"/>
          </a:xfrm>
          <a:prstGeom xmlns:a="http://schemas.openxmlformats.org/drawingml/2006/main" prst="rect">
            <a:avLst/>
          </a:prstGeom>
          <a:ln xmlns:a="http://schemas.openxmlformats.org/drawingml/2006/main">
            <a:noFill/>
          </a:ln>
        </p:spPr>
      </p:pic>
      <p:pic>
        <p:nvPicPr>
          <p:cNvPr id="327" name="Google Shape;320;p40"/>
          <p:cNvPicPr>
            <a:picLocks xmlns:a="http://schemas.openxmlformats.org/drawingml/2006/main" noChangeAspect="1"/>
          </p:cNvPicPr>
          <p:nvPr/>
        </p:nvPicPr>
        <p:blipFill rotWithShape="1">
          <a:blip xmlns:r="http://schemas.openxmlformats.org/officeDocument/2006/relationships" xmlns:a="http://schemas.openxmlformats.org/drawingml/2006/main" r:embed="R50d95b6189114e94">
            <a:alphaModFix/>
          </a:blip>
          <a:srcRect xmlns:a="http://schemas.openxmlformats.org/drawingml/2006/main" l="0" t="21331" r="0" b="4502"/>
          <a:stretch xmlns:a="http://schemas.openxmlformats.org/drawingml/2006/main"/>
        </p:blipFill>
        <p:spPr>
          <a:xfrm xmlns:a="http://schemas.openxmlformats.org/drawingml/2006/main">
            <a:off x="4374427" y="451126"/>
            <a:ext cx="876900" cy="866100"/>
          </a:xfrm>
          <a:prstGeom xmlns:a="http://schemas.openxmlformats.org/drawingml/2006/main" prst="ellipse">
            <a:avLst/>
          </a:prstGeom>
          <a:ln xmlns:a="http://schemas.openxmlformats.org/drawingml/2006/main">
            <a:noFill/>
          </a:ln>
          <a:effectLst xmlns:a="http://schemas.openxmlformats.org/drawingml/2006/main">
            <a:outerShdw blurRad="381000" dist="292100" dir="5400000" sx="-80000" sy="-18000" rotWithShape="0">
              <a:srgbClr val="000000">
                <a:alpha val="21960"/>
              </a:srgbClr>
            </a:outerShdw>
          </a:effectLst>
        </p:spPr>
      </p:pic>
      <p:sp>
        <p:nvSpPr>
          <p:cNvPr id="321" name="Google Shape;321;p40">
            <a:extLst xmlns:a="http://schemas.openxmlformats.org/drawingml/2006/main">
              <a:ext uri="{FF2B5EF4-FFF2-40B4-BE49-F238E27FC236}">
                <a16:creationId xmlns:a16="http://schemas.microsoft.com/office/drawing/2014/main" id="{1C58845B-BA40-4052-8A2C-C9DED7B63B87}"/>
              </a:ext>
            </a:extLst>
          </p:cNvPr>
          <p:cNvSpPr>
            <a:spLocks xmlns:a="http://schemas.openxmlformats.org/drawingml/2006/main" noGrp="1"/>
          </p:cNvSpPr>
          <p:nvPr/>
        </p:nvSpPr>
        <p:spPr>
          <a:xfrm xmlns:a="http://schemas.openxmlformats.org/drawingml/2006/main">
            <a:off x="569325" y="1422150"/>
            <a:ext cx="80469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indent="0" algn="l">
              <a:spcBef>
                <a:spcPts val="0"/>
              </a:spcBef>
              <a:spcAft>
                <a:spcPts val="0"/>
              </a:spcAft>
              <a:buNone/>
            </a:pPr>
            <a:r>
              <a:t>Simon Appoltshauser     Emily Joyce     Eraraya Morenzo Muten     Maysa Ouaja     Yujie Yang</a:t>
            </a:r>
          </a:p>
        </p:txBody>
      </p:sp>
    </p:spTree>
    <p:extLst>
      <p:ext uri="{BB962C8B-B14F-4D97-AF65-F5344CB8AC3E}">
        <p14:creationId xmlns:p14="http://schemas.microsoft.com/office/powerpoint/2010/main" val="55048279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17" name="Google Shape;317;p40">
            <a:extLst xmlns:a="http://schemas.openxmlformats.org/drawingml/2006/main">
              <a:ext uri="{FF2B5EF4-FFF2-40B4-BE49-F238E27FC236}">
                <a16:creationId xmlns:a16="http://schemas.microsoft.com/office/drawing/2014/main" id="{AFB15D5B-97B0-45D1-98E9-35D3D1CB013D}"/>
              </a:ext>
            </a:extLst>
          </p:cNvPr>
          <p:cNvSpPr>
            <a:spLocks xmlns:a="http://schemas.openxmlformats.org/drawingml/2006/main" noGrp="1"/>
          </p:cNvSpPr>
          <p:nvPr>
            <p:ph type="ctrTitle" idx="0"/>
          </p:nvPr>
        </p:nvSpPr>
        <p:spPr>
          <a:xfrm xmlns:a="http://schemas.openxmlformats.org/drawingml/2006/main">
            <a:off x="339409" y="2147910"/>
            <a:ext cx="8520600" cy="938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indent="0" algn="l">
              <a:spcBef>
                <a:spcPts val="0"/>
              </a:spcBef>
              <a:spcAft>
                <a:spcPts val="0"/>
              </a:spcAft>
              <a:buNone/>
            </a:pPr>
            <a:r>
              <a:t>Live demo</a:t>
            </a:r>
          </a:p>
        </p:txBody>
      </p:sp>
      <p:sp>
        <p:nvSpPr>
          <p:cNvPr id="318" name="Google Shape;318;p40">
            <a:extLst xmlns:a="http://schemas.openxmlformats.org/drawingml/2006/main">
              <a:ext uri="{FF2B5EF4-FFF2-40B4-BE49-F238E27FC236}">
                <a16:creationId xmlns:a16="http://schemas.microsoft.com/office/drawing/2014/main" id="{89BEBCDE-BA4E-4B63-B8B9-9B225CCAFFBC}"/>
              </a:ext>
            </a:extLst>
          </p:cNvPr>
          <p:cNvSpPr>
            <a:spLocks xmlns:a="http://schemas.openxmlformats.org/drawingml/2006/main" noGrp="1"/>
          </p:cNvSpPr>
          <p:nvPr>
            <p:ph type="subTitle" idx="1"/>
          </p:nvPr>
        </p:nvSpPr>
        <p:spPr>
          <a:xfrm xmlns:a="http://schemas.openxmlformats.org/drawingml/2006/main">
            <a:off x="339400" y="2834510"/>
            <a:ext cx="4242600" cy="7383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indent="0" algn="l">
              <a:spcBef>
                <a:spcPts val="0"/>
              </a:spcBef>
              <a:spcAft>
                <a:spcPts val="0"/>
              </a:spcAft>
              <a:buNone/>
            </a:pPr>
            <a:r>
              <a:t>From calibration to movement feedback and session replay</a:t>
            </a:r>
          </a:p>
        </p:txBody>
      </p:sp>
      <p:pic>
        <p:nvPicPr>
          <p:cNvPr id="326" name="Google Shape;319;p40"/>
          <p:cNvPicPr>
            <a:picLocks xmlns:a="http://schemas.openxmlformats.org/drawingml/2006/main" noChangeAspect="1"/>
          </p:cNvPicPr>
          <p:nvPr/>
        </p:nvPicPr>
        <p:blipFill rotWithShape="1">
          <a:blip xmlns:r="http://schemas.openxmlformats.org/officeDocument/2006/relationships" xmlns:a="http://schemas.openxmlformats.org/drawingml/2006/main" r:embed="R81e03a8a65e64be6">
            <a:alphaModFix/>
          </a:blip>
          <a:srcRect xmlns:a="http://schemas.openxmlformats.org/drawingml/2006/main" l="20" t="0" r="10" b="0"/>
          <a:stretch xmlns:a="http://schemas.openxmlformats.org/drawingml/2006/main"/>
        </p:blipFill>
        <p:spPr>
          <a:xfrm xmlns:a="http://schemas.openxmlformats.org/drawingml/2006/main">
            <a:off x="951425" y="346188"/>
            <a:ext cx="876950" cy="1075974"/>
          </a:xfrm>
          <a:prstGeom xmlns:a="http://schemas.openxmlformats.org/drawingml/2006/main" prst="rect">
            <a:avLst/>
          </a:prstGeom>
          <a:ln xmlns:a="http://schemas.openxmlformats.org/drawingml/2006/main">
            <a:noFill/>
          </a:ln>
        </p:spPr>
      </p:pic>
      <p:pic>
        <p:nvPicPr>
          <p:cNvPr id="327" name="Google Shape;320;p40"/>
          <p:cNvPicPr>
            <a:picLocks xmlns:a="http://schemas.openxmlformats.org/drawingml/2006/main" noChangeAspect="1"/>
          </p:cNvPicPr>
          <p:nvPr/>
        </p:nvPicPr>
        <p:blipFill rotWithShape="1">
          <a:blip xmlns:r="http://schemas.openxmlformats.org/officeDocument/2006/relationships" xmlns:a="http://schemas.openxmlformats.org/drawingml/2006/main" r:embed="R14dd8b54766d44bc">
            <a:alphaModFix/>
          </a:blip>
          <a:srcRect xmlns:a="http://schemas.openxmlformats.org/drawingml/2006/main" l="0" t="21331" r="0" b="4502"/>
          <a:stretch xmlns:a="http://schemas.openxmlformats.org/drawingml/2006/main"/>
        </p:blipFill>
        <p:spPr>
          <a:xfrm xmlns:a="http://schemas.openxmlformats.org/drawingml/2006/main">
            <a:off x="4374427" y="451126"/>
            <a:ext cx="876900" cy="866100"/>
          </a:xfrm>
          <a:prstGeom xmlns:a="http://schemas.openxmlformats.org/drawingml/2006/main" prst="ellipse">
            <a:avLst/>
          </a:prstGeom>
          <a:ln xmlns:a="http://schemas.openxmlformats.org/drawingml/2006/main">
            <a:noFill/>
          </a:ln>
          <a:effectLst xmlns:a="http://schemas.openxmlformats.org/drawingml/2006/main">
            <a:outerShdw blurRad="381000" dist="292100" dir="5400000" sx="-80000" sy="-18000" rotWithShape="0">
              <a:srgbClr val="000000">
                <a:alpha val="21960"/>
              </a:srgbClr>
            </a:outerShdw>
          </a:effectLst>
        </p:spPr>
      </p:pic>
      <p:sp>
        <p:nvSpPr>
          <p:cNvPr id="321" name="Google Shape;321;p40">
            <a:extLst xmlns:a="http://schemas.openxmlformats.org/drawingml/2006/main">
              <a:ext uri="{FF2B5EF4-FFF2-40B4-BE49-F238E27FC236}">
                <a16:creationId xmlns:a16="http://schemas.microsoft.com/office/drawing/2014/main" id="{1C58845B-BA40-4052-8A2C-C9DED7B63B87}"/>
              </a:ext>
            </a:extLst>
          </p:cNvPr>
          <p:cNvSpPr>
            <a:spLocks xmlns:a="http://schemas.openxmlformats.org/drawingml/2006/main" noGrp="1"/>
          </p:cNvSpPr>
          <p:nvPr/>
        </p:nvSpPr>
        <p:spPr>
          <a:xfrm xmlns:a="http://schemas.openxmlformats.org/drawingml/2006/main">
            <a:off x="569325" y="1422150"/>
            <a:ext cx="80469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indent="0" algn="l">
              <a:spcBef>
                <a:spcPts val="0"/>
              </a:spcBef>
              <a:spcAft>
                <a:spcPts val="0"/>
              </a:spcAft>
              <a:buNone/>
            </a:pPr>
            <a:r>
              <a:t>Simon Appoltshauser     Emily Joyce     Eraraya Morenzo Muten     Maysa Ouaja     Yujie Yang</a:t>
            </a:r>
          </a:p>
        </p:txBody>
      </p:sp>
    </p:spTree>
    <p:extLst>
      <p:ext uri="{BB962C8B-B14F-4D97-AF65-F5344CB8AC3E}">
        <p14:creationId xmlns:p14="http://schemas.microsoft.com/office/powerpoint/2010/main" val="55048279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17" name="Google Shape;317;p40">
            <a:extLst xmlns:a="http://schemas.openxmlformats.org/drawingml/2006/main">
              <a:ext uri="{FF2B5EF4-FFF2-40B4-BE49-F238E27FC236}">
                <a16:creationId xmlns:a16="http://schemas.microsoft.com/office/drawing/2014/main" id="{AFB15D5B-97B0-45D1-98E9-35D3D1CB013D}"/>
              </a:ext>
            </a:extLst>
          </p:cNvPr>
          <p:cNvSpPr>
            <a:spLocks xmlns:a="http://schemas.openxmlformats.org/drawingml/2006/main" noGrp="1"/>
          </p:cNvSpPr>
          <p:nvPr>
            <p:ph type="ctrTitle" idx="0"/>
          </p:nvPr>
        </p:nvSpPr>
        <p:spPr>
          <a:xfrm xmlns:a="http://schemas.openxmlformats.org/drawingml/2006/main">
            <a:off x="339409" y="2147910"/>
            <a:ext cx="8520600" cy="9384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indent="0" algn="l">
              <a:spcBef>
                <a:spcPts val="0"/>
              </a:spcBef>
              <a:spcAft>
                <a:spcPts val="0"/>
              </a:spcAft>
              <a:buNone/>
            </a:pPr>
            <a:r>
              <a:t>Questions?</a:t>
            </a:r>
          </a:p>
        </p:txBody>
      </p:sp>
      <p:sp>
        <p:nvSpPr>
          <p:cNvPr id="318" name="Google Shape;318;p40">
            <a:extLst xmlns:a="http://schemas.openxmlformats.org/drawingml/2006/main">
              <a:ext uri="{FF2B5EF4-FFF2-40B4-BE49-F238E27FC236}">
                <a16:creationId xmlns:a16="http://schemas.microsoft.com/office/drawing/2014/main" id="{89BEBCDE-BA4E-4B63-B8B9-9B225CCAFFBC}"/>
              </a:ext>
            </a:extLst>
          </p:cNvPr>
          <p:cNvSpPr>
            <a:spLocks xmlns:a="http://schemas.openxmlformats.org/drawingml/2006/main" noGrp="1"/>
          </p:cNvSpPr>
          <p:nvPr>
            <p:ph type="subTitle" idx="1"/>
          </p:nvPr>
        </p:nvSpPr>
        <p:spPr>
          <a:xfrm xmlns:a="http://schemas.openxmlformats.org/drawingml/2006/main">
            <a:off x="339400" y="2834510"/>
            <a:ext cx="4242600" cy="738300"/>
          </a:xfrm>
          <a:prstGeom xmlns:a="http://schemas.openxmlformats.org/drawingml/2006/main" prst="rect">
            <a:avLst/>
          </a:prstGeom>
        </p:spPr>
        <p:txBody>
          <a:bodyPr xmlns:a="http://schemas.openxmlformats.org/drawingml/2006/main" spcFirstLastPara="1" wrap="square" lIns="91425" tIns="91425" rIns="91425" bIns="91425" anchor="t">
            <a:normAutofit fontScale="100000"/>
          </a:bodyPr>
          <a:lstStyle xmlns:a="http://schemas.openxmlformats.org/drawingml/2006/main"/>
          <a:p xmlns:a="http://schemas.openxmlformats.org/drawingml/2006/main">
            <a:pPr marL="0" indent="0" algn="l">
              <a:spcBef>
                <a:spcPts val="0"/>
              </a:spcBef>
              <a:spcAft>
                <a:spcPts val="0"/>
              </a:spcAft>
              <a:buNone/>
            </a:pPr>
            <a:r>
              <a:t>Additional movement metrics and plots follow in the appendix</a:t>
            </a:r>
          </a:p>
        </p:txBody>
      </p:sp>
      <p:pic>
        <p:nvPicPr>
          <p:cNvPr id="326" name="Google Shape;319;p40"/>
          <p:cNvPicPr>
            <a:picLocks xmlns:a="http://schemas.openxmlformats.org/drawingml/2006/main" noChangeAspect="1"/>
          </p:cNvPicPr>
          <p:nvPr/>
        </p:nvPicPr>
        <p:blipFill rotWithShape="1">
          <a:blip xmlns:r="http://schemas.openxmlformats.org/officeDocument/2006/relationships" xmlns:a="http://schemas.openxmlformats.org/drawingml/2006/main" r:embed="R494c7872cc874beb">
            <a:alphaModFix/>
          </a:blip>
          <a:srcRect xmlns:a="http://schemas.openxmlformats.org/drawingml/2006/main" l="20" t="0" r="10" b="0"/>
          <a:stretch xmlns:a="http://schemas.openxmlformats.org/drawingml/2006/main"/>
        </p:blipFill>
        <p:spPr>
          <a:xfrm xmlns:a="http://schemas.openxmlformats.org/drawingml/2006/main">
            <a:off x="951425" y="346188"/>
            <a:ext cx="876950" cy="1075974"/>
          </a:xfrm>
          <a:prstGeom xmlns:a="http://schemas.openxmlformats.org/drawingml/2006/main" prst="rect">
            <a:avLst/>
          </a:prstGeom>
          <a:ln xmlns:a="http://schemas.openxmlformats.org/drawingml/2006/main">
            <a:noFill/>
          </a:ln>
        </p:spPr>
      </p:pic>
      <p:pic>
        <p:nvPicPr>
          <p:cNvPr id="327" name="Google Shape;320;p40"/>
          <p:cNvPicPr>
            <a:picLocks xmlns:a="http://schemas.openxmlformats.org/drawingml/2006/main" noChangeAspect="1"/>
          </p:cNvPicPr>
          <p:nvPr/>
        </p:nvPicPr>
        <p:blipFill rotWithShape="1">
          <a:blip xmlns:r="http://schemas.openxmlformats.org/officeDocument/2006/relationships" xmlns:a="http://schemas.openxmlformats.org/drawingml/2006/main" r:embed="R5ffda17cb02e4ab8">
            <a:alphaModFix/>
          </a:blip>
          <a:srcRect xmlns:a="http://schemas.openxmlformats.org/drawingml/2006/main" l="0" t="21331" r="0" b="4502"/>
          <a:stretch xmlns:a="http://schemas.openxmlformats.org/drawingml/2006/main"/>
        </p:blipFill>
        <p:spPr>
          <a:xfrm xmlns:a="http://schemas.openxmlformats.org/drawingml/2006/main">
            <a:off x="4374427" y="451126"/>
            <a:ext cx="876900" cy="866100"/>
          </a:xfrm>
          <a:prstGeom xmlns:a="http://schemas.openxmlformats.org/drawingml/2006/main" prst="ellipse">
            <a:avLst/>
          </a:prstGeom>
          <a:ln xmlns:a="http://schemas.openxmlformats.org/drawingml/2006/main">
            <a:noFill/>
          </a:ln>
          <a:effectLst xmlns:a="http://schemas.openxmlformats.org/drawingml/2006/main">
            <a:outerShdw blurRad="381000" dist="292100" dir="5400000" sx="-80000" sy="-18000" rotWithShape="0">
              <a:srgbClr val="000000">
                <a:alpha val="21960"/>
              </a:srgbClr>
            </a:outerShdw>
          </a:effectLst>
        </p:spPr>
      </p:pic>
      <p:sp>
        <p:nvSpPr>
          <p:cNvPr id="321" name="Google Shape;321;p40">
            <a:extLst xmlns:a="http://schemas.openxmlformats.org/drawingml/2006/main">
              <a:ext uri="{FF2B5EF4-FFF2-40B4-BE49-F238E27FC236}">
                <a16:creationId xmlns:a16="http://schemas.microsoft.com/office/drawing/2014/main" id="{1C58845B-BA40-4052-8A2C-C9DED7B63B87}"/>
              </a:ext>
            </a:extLst>
          </p:cNvPr>
          <p:cNvSpPr>
            <a:spLocks xmlns:a="http://schemas.openxmlformats.org/drawingml/2006/main" noGrp="1"/>
          </p:cNvSpPr>
          <p:nvPr/>
        </p:nvSpPr>
        <p:spPr>
          <a:xfrm xmlns:a="http://schemas.openxmlformats.org/drawingml/2006/main">
            <a:off x="569325" y="1422150"/>
            <a:ext cx="80469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indent="0" algn="l">
              <a:spcBef>
                <a:spcPts val="0"/>
              </a:spcBef>
              <a:spcAft>
                <a:spcPts val="0"/>
              </a:spcAft>
              <a:buNone/>
            </a:pPr>
            <a:r>
              <a:t>Simon Appoltshauser     Emily Joyce     Eraraya Morenzo Muten     Maysa Ouaja     Yujie Yang</a:t>
            </a:r>
          </a:p>
        </p:txBody>
      </p:sp>
    </p:spTree>
    <p:extLst>
      <p:ext uri="{BB962C8B-B14F-4D97-AF65-F5344CB8AC3E}">
        <p14:creationId xmlns:p14="http://schemas.microsoft.com/office/powerpoint/2010/main" val="55048279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93" name="Google Shape;293;p36">
            <a:extLst xmlns:a="http://schemas.openxmlformats.org/drawingml/2006/main">
              <a:ext uri="{FF2B5EF4-FFF2-40B4-BE49-F238E27FC236}">
                <a16:creationId xmlns:a16="http://schemas.microsoft.com/office/drawing/2014/main" id="{604625F8-C57D-4C16-853A-09964BC96EB5}"/>
              </a:ext>
            </a:extLst>
          </p:cNvPr>
          <p:cNvSpPr>
            <a:spLocks xmlns:a="http://schemas.openxmlformats.org/drawingml/2006/main" noGrp="1"/>
          </p:cNvSpPr>
          <p:nvPr>
            <p:ph type="title" idx="0"/>
          </p:nvPr>
        </p:nvSpPr>
        <p:spPr>
          <a:xfrm xmlns:a="http://schemas.openxmlformats.org/drawingml/2006/main">
            <a:off x="361525" y="436200"/>
            <a:ext cx="3575100" cy="2311800"/>
          </a:xfrm>
          <a:prstGeom xmlns:a="http://schemas.openxmlformats.org/drawingml/2006/main" prst="rect">
            <a:avLst/>
          </a:prstGeom>
        </p:spPr>
        <p:txBody>
          <a:bodyPr xmlns:a="http://schemas.openxmlformats.org/drawingml/2006/main" spcFirstLastPara="1" wrap="square" lIns="91425" tIns="91425" rIns="91425" bIns="91425" anchor="t">
            <a:normAutofit fontScale="68417"/>
          </a:bodyPr>
          <a:lstStyle xmlns:a="http://schemas.openxmlformats.org/drawingml/2006/main"/>
          <a:p xmlns:a="http://schemas.openxmlformats.org/drawingml/2006/main">
            <a:pPr marL="0" indent="0" algn="l">
              <a:lnSpc>
                <a:spcPct val="115000"/>
              </a:lnSpc>
              <a:spcBef>
                <a:spcPts val="0"/>
              </a:spcBef>
              <a:spcAft>
                <a:spcPts val="0"/>
              </a:spcAft>
              <a:buNone/>
            </a:pPr>
            <a:r>
              <a:rPr sz="4200">
                <a:solidFill>
                  <a:srgbClr val="F5F5F5"/>
                </a:solidFill>
                <a:latin typeface="Arial"/>
                <a:ea typeface="Arial"/>
                <a:cs typeface="Arial"/>
              </a:rPr>
              <a:t>Appendix
Measurement details</a:t>
            </a:r>
          </a:p>
          <a:p xmlns:a="http://schemas.openxmlformats.org/drawingml/2006/main">
            <a:pPr marL="0" indent="0" algn="l">
              <a:lnSpc>
                <a:spcPct val="115000"/>
              </a:lnSpc>
              <a:spcBef>
                <a:spcPts val="3000"/>
              </a:spcBef>
              <a:spcAft>
                <a:spcPts val="0"/>
              </a:spcAft>
              <a:buNone/>
            </a:pPr>
            <a:r>
              <a:t/>
            </a:r>
          </a:p>
          <a:p xmlns:a="http://schemas.openxmlformats.org/drawingml/2006/main">
            <a:pPr marL="0" indent="0" algn="l">
              <a:spcBef>
                <a:spcPts val="0"/>
              </a:spcBef>
              <a:spcAft>
                <a:spcPts val="0"/>
              </a:spcAft>
              <a:buNone/>
            </a:pPr>
            <a:r>
              <a:t/>
            </a:r>
          </a:p>
        </p:txBody>
      </p:sp>
    </p:spTree>
    <p:extLst>
      <p:ext uri="{BB962C8B-B14F-4D97-AF65-F5344CB8AC3E}">
        <p14:creationId xmlns:p14="http://schemas.microsoft.com/office/powerpoint/2010/main" val="389824276"/>
      </p:ext>
    </p:extLst>
  </p:cSld>
</p:sld>
</file>

<file path=ppt/slides/slide19.xml><?xml version="1.0" encoding="utf-8"?>
<p:sld xmlns:p="http://schemas.openxmlformats.org/presentationml/2006/main">
  <p:cSld>
    <p:bg>
      <p:bgPr>
        <a:blipFill xmlns:a="http://schemas.openxmlformats.org/drawingml/2006/main">
          <a:blip xmlns:r="http://schemas.openxmlformats.org/officeDocument/2006/relationships" r:embed="Ra1e9e30764fa44fd">
            <a:alphaModFix/>
          </a:blip>
          <a:stretch>
            <a:fillRect l="0" t="0" r="0" b="0"/>
          </a:stretch>
        </a:blipFill>
      </p:bgPr>
    </p:bg>
    <p:spTree>
      <p:nvGrpSpPr>
        <p:cNvPr id="1" name=""/>
        <p:cNvGrpSpPr/>
        <p:nvPr/>
      </p:nvGrpSpPr>
      <p:grpSpPr>
        <a:xfrm xmlns:a="http://schemas.openxmlformats.org/drawingml/2006/main"/>
      </p:grpSpPr>
      <p:sp>
        <p:nvSpPr>
          <p:cNvPr id="175" name="Google Shape;175;p28">
            <a:extLst xmlns:a="http://schemas.openxmlformats.org/drawingml/2006/main">
              <a:ext uri="{FF2B5EF4-FFF2-40B4-BE49-F238E27FC236}">
                <a16:creationId xmlns:a16="http://schemas.microsoft.com/office/drawing/2014/main" id="{A56A0061-8E38-4388-8B0B-0734BC335EED}"/>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76" name="Google Shape;176;p28">
            <a:extLst xmlns:a="http://schemas.openxmlformats.org/drawingml/2006/main">
              <a:ext uri="{FF2B5EF4-FFF2-40B4-BE49-F238E27FC236}">
                <a16:creationId xmlns:a16="http://schemas.microsoft.com/office/drawing/2014/main" id="{278D5F8A-022E-41D2-A345-E968C72EADE1}"/>
              </a:ext>
            </a:extLst>
          </p:cNvPr>
          <p:cNvSpPr>
            <a:spLocks xmlns:a="http://schemas.openxmlformats.org/drawingml/2006/main" noGrp="1"/>
          </p:cNvSpPr>
          <p:nvPr/>
        </p:nvSpPr>
        <p:spPr>
          <a:xfrm xmlns:a="http://schemas.openxmlformats.org/drawingml/2006/main">
            <a:off x="0" y="44125"/>
            <a:ext cx="4313625" cy="4399375"/>
          </a:xfrm>
          <a:custGeom xmlns:a="http://schemas.openxmlformats.org/drawingml/2006/main">
            <a:rect l="l" t="t" r="r" b="b"/>
            <a:pathLst>
              <a:path w="172545" h="175975">
                <a:moveTo>
                  <a:pt x="0" y="157"/>
                </a:moveTo>
                <a:lnTo>
                  <a:pt x="172419" y="0"/>
                </a:lnTo>
                <a:lnTo>
                  <a:pt x="172545" y="126541"/>
                </a:lnTo>
                <a:lnTo>
                  <a:pt x="0" y="175975"/>
                </a:lnTo>
                <a:close/>
              </a:path>
            </a:pathLst>
          </a:custGeom>
          <a:solidFill xmlns:a="http://schemas.openxmlformats.org/drawingml/2006/main">
            <a:schemeClr val="accent2"/>
          </a:solidFill>
          <a:ln xmlns:a="http://schemas.openxmlformats.org/drawingml/2006/main">
            <a:noFill/>
          </a:ln>
        </p:spPr>
      </p:sp>
      <p:sp>
        <p:nvSpPr>
          <p:cNvPr id="177" name="Google Shape;177;p28">
            <a:extLst xmlns:a="http://schemas.openxmlformats.org/drawingml/2006/main">
              <a:ext uri="{FF2B5EF4-FFF2-40B4-BE49-F238E27FC236}">
                <a16:creationId xmlns:a16="http://schemas.microsoft.com/office/drawing/2014/main" id="{20C45437-9937-4A99-A071-E1CFF27CC304}"/>
              </a:ext>
            </a:extLst>
          </p:cNvPr>
          <p:cNvSpPr>
            <a:spLocks xmlns:a="http://schemas.openxmlformats.org/drawingml/2006/main" noGrp="1"/>
          </p:cNvSpPr>
          <p:nvPr/>
        </p:nvSpPr>
        <p:spPr>
          <a:xfrm xmlns:a="http://schemas.openxmlformats.org/drawingml/2006/main">
            <a:off x="-125" y="0"/>
            <a:ext cx="4316900" cy="4395600"/>
          </a:xfrm>
          <a:custGeom xmlns:a="http://schemas.openxmlformats.org/drawingml/2006/main">
            <a:rect l="l" t="t" r="r" b="b"/>
            <a:pathLst>
              <a:path w="172676" h="175824">
                <a:moveTo>
                  <a:pt x="0" y="6"/>
                </a:moveTo>
                <a:lnTo>
                  <a:pt x="172676" y="0"/>
                </a:lnTo>
                <a:lnTo>
                  <a:pt x="172562" y="126442"/>
                </a:lnTo>
                <a:lnTo>
                  <a:pt x="0" y="175824"/>
                </a:lnTo>
                <a:close/>
              </a:path>
            </a:pathLst>
          </a:custGeom>
          <a:solidFill xmlns:a="http://schemas.openxmlformats.org/drawingml/2006/main">
            <a:schemeClr val="dk1"/>
          </a:solidFill>
          <a:ln xmlns:a="http://schemas.openxmlformats.org/drawingml/2006/main">
            <a:noFill/>
          </a:ln>
        </p:spPr>
      </p:sp>
      <p:sp>
        <p:nvSpPr>
          <p:cNvPr id="178" name="Google Shape;178;p28">
            <a:extLst xmlns:a="http://schemas.openxmlformats.org/drawingml/2006/main">
              <a:ext uri="{FF2B5EF4-FFF2-40B4-BE49-F238E27FC236}">
                <a16:creationId xmlns:a16="http://schemas.microsoft.com/office/drawing/2014/main" id="{85B4572E-61E5-40B2-A6D0-1E6F52CB5CDC}"/>
              </a:ext>
            </a:extLst>
          </p:cNvPr>
          <p:cNvSpPr>
            <a:spLocks xmlns:a="http://schemas.openxmlformats.org/drawingml/2006/main" noGrp="1"/>
          </p:cNvSpPr>
          <p:nvPr>
            <p:ph type="title" idx="0"/>
          </p:nvPr>
        </p:nvSpPr>
        <p:spPr>
          <a:xfrm xmlns:a="http://schemas.openxmlformats.org/drawingml/2006/main">
            <a:off x="381000" y="571500"/>
            <a:ext cx="3524400" cy="2858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indent="0" algn="l">
              <a:spcBef>
                <a:spcPts val="0"/>
              </a:spcBef>
              <a:spcAft>
                <a:spcPts val="0"/>
              </a:spcAft>
              <a:buNone/>
            </a:pPr>
            <a:r>
              <a:rPr sz="3600" b="1">
                <a:solidFill>
                  <a:srgbClr val="FFFFFF"/>
                </a:solidFill>
                <a:latin typeface="Merriweather"/>
                <a:ea typeface="Merriweather"/>
                <a:cs typeface="Merriweather"/>
              </a:rPr>
              <a:t>Trunk Flexion</a:t>
            </a:r>
          </a:p>
        </p:txBody>
      </p:sp>
      <p:sp>
        <p:nvSpPr>
          <p:cNvPr id="180" name="Google Shape;180;p28">
            <a:extLst xmlns:a="http://schemas.openxmlformats.org/drawingml/2006/main">
              <a:ext uri="{FF2B5EF4-FFF2-40B4-BE49-F238E27FC236}">
                <a16:creationId xmlns:a16="http://schemas.microsoft.com/office/drawing/2014/main" id="{2AABD611-2EFA-4C10-8DBD-5E84166AA3B0}"/>
              </a:ext>
            </a:extLst>
          </p:cNvPr>
          <p:cNvSpPr>
            <a:spLocks xmlns:a="http://schemas.openxmlformats.org/drawingml/2006/main" noGrp="1"/>
          </p:cNvSpPr>
          <p:nvPr/>
        </p:nvSpPr>
        <p:spPr>
          <a:xfrm xmlns:a="http://schemas.openxmlformats.org/drawingml/2006/main" rot="0" flipH="0" flipV="0">
            <a:off x="4667250" y="380993"/>
            <a:ext cx="4095900" cy="1059628"/>
          </a:xfrm>
          <a:prstGeom xmlns:a="http://schemas.openxmlformats.org/drawingml/2006/main" prst="roundRect">
            <a:avLst>
              <a:gd name="adj" fmla="val 5925"/>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1" name="Google Shape;181;p28">
            <a:extLst xmlns:a="http://schemas.openxmlformats.org/drawingml/2006/main">
              <a:ext uri="{FF2B5EF4-FFF2-40B4-BE49-F238E27FC236}">
                <a16:creationId xmlns:a16="http://schemas.microsoft.com/office/drawing/2014/main" id="{28A56F45-B4D2-4CFA-AD5B-953EC0DEDABA}"/>
              </a:ext>
            </a:extLst>
          </p:cNvPr>
          <p:cNvSpPr>
            <a:spLocks xmlns:a="http://schemas.openxmlformats.org/drawingml/2006/main" noGrp="1"/>
          </p:cNvSpPr>
          <p:nvPr/>
        </p:nvSpPr>
        <p:spPr>
          <a:xfrm xmlns:a="http://schemas.openxmlformats.org/drawingml/2006/main" rot="0" flipH="0" flipV="0">
            <a:off x="4810125" y="459488"/>
            <a:ext cx="3810000" cy="902636"/>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1. </a:t>
            </a:r>
            <a:r>
              <a:rPr sz="1300" b="1">
                <a:solidFill>
                  <a:srgbClr val="1E293B"/>
                </a:solidFill>
                <a:latin typeface="Roboto"/>
                <a:ea typeface="Roboto"/>
                <a:cs typeface="Roboto"/>
              </a:rPr>
              <a:t>Difficulty Levels</a:t>
            </a:r>
          </a:p>
          <a:p xmlns:a="http://schemas.openxmlformats.org/drawingml/2006/main">
            <a:pPr marL="457200" indent="-298450" algn="l">
              <a:spcBef>
                <a:spcPts val="450"/>
              </a:spcBef>
              <a:spcAft>
                <a:spcPts val="0"/>
              </a:spcAft>
              <a:buClr>
                <a:srgbClr val="31394D"/>
              </a:buClr>
              <a:buSzPts val="1100"/>
              <a:buFont typeface="Roboto"/>
              <a:buChar char="-"/>
            </a:pPr>
            <a:r>
              <a:rPr sz="1100" b="1">
                <a:solidFill>
                  <a:srgbClr val="475569"/>
                </a:solidFill>
                <a:latin typeface="Roboto"/>
                <a:ea typeface="Roboto"/>
                <a:cs typeface="Roboto"/>
              </a:rPr>
              <a:t>Sitting on chair</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Sitting on high chair</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Standing without support</a:t>
            </a:r>
          </a:p>
        </p:txBody>
      </p:sp>
      <p:sp>
        <p:nvSpPr>
          <p:cNvPr id="183" name="Google Shape;183;p28">
            <a:extLst xmlns:a="http://schemas.openxmlformats.org/drawingml/2006/main">
              <a:ext uri="{FF2B5EF4-FFF2-40B4-BE49-F238E27FC236}">
                <a16:creationId xmlns:a16="http://schemas.microsoft.com/office/drawing/2014/main" id="{717BB337-8699-479C-814D-6523108AE373}"/>
              </a:ext>
            </a:extLst>
          </p:cNvPr>
          <p:cNvSpPr>
            <a:spLocks xmlns:a="http://schemas.openxmlformats.org/drawingml/2006/main" noGrp="1"/>
          </p:cNvSpPr>
          <p:nvPr/>
        </p:nvSpPr>
        <p:spPr>
          <a:xfrm xmlns:a="http://schemas.openxmlformats.org/drawingml/2006/main" rot="0" flipH="0" flipV="0">
            <a:off x="4667250" y="1857440"/>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4" name="Google Shape;184;p28">
            <a:extLst xmlns:a="http://schemas.openxmlformats.org/drawingml/2006/main">
              <a:ext uri="{FF2B5EF4-FFF2-40B4-BE49-F238E27FC236}">
                <a16:creationId xmlns:a16="http://schemas.microsoft.com/office/drawing/2014/main" id="{D28CCEF3-F75C-4D75-8F78-BB443ED2D197}"/>
              </a:ext>
            </a:extLst>
          </p:cNvPr>
          <p:cNvSpPr>
            <a:spLocks xmlns:a="http://schemas.openxmlformats.org/drawingml/2006/main" noGrp="1"/>
          </p:cNvSpPr>
          <p:nvPr/>
        </p:nvSpPr>
        <p:spPr>
          <a:xfrm xmlns:a="http://schemas.openxmlformats.org/drawingml/2006/main" rot="0" flipH="0" flipV="0">
            <a:off x="4810125" y="1937497"/>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2</a:t>
            </a:r>
            <a:r>
              <a:rPr sz="1300" b="1">
                <a:solidFill>
                  <a:srgbClr val="1E293B"/>
                </a:solidFill>
                <a:latin typeface="Roboto"/>
                <a:ea typeface="Roboto"/>
                <a:cs typeface="Roboto"/>
              </a:rPr>
              <a:t>. Range of Movements</a:t>
            </a:r>
          </a:p>
          <a:p xmlns:a="http://schemas.openxmlformats.org/drawingml/2006/main">
            <a:pPr marL="457200" indent="-298450" algn="l">
              <a:spcBef>
                <a:spcPts val="450"/>
              </a:spcBef>
              <a:spcAft>
                <a:spcPts val="0"/>
              </a:spcAft>
              <a:buClr>
                <a:schemeClr val="dk1"/>
              </a:buClr>
              <a:buSzPts val="1100"/>
              <a:buFont typeface="Roboto"/>
              <a:buChar char="-"/>
            </a:pPr>
            <a:r>
              <a:rPr sz="1100" b="1">
                <a:solidFill>
                  <a:srgbClr val="475569"/>
                </a:solidFill>
                <a:latin typeface="Roboto"/>
                <a:ea typeface="Roboto"/>
                <a:cs typeface="Roboto"/>
              </a:rPr>
              <a:t>Reach knees</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Reach ankles</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Reach floor</a:t>
            </a:r>
          </a:p>
        </p:txBody>
      </p:sp>
      <p:sp>
        <p:nvSpPr>
          <p:cNvPr id="186" name="Google Shape;186;p28">
            <a:extLst xmlns:a="http://schemas.openxmlformats.org/drawingml/2006/main">
              <a:ext uri="{FF2B5EF4-FFF2-40B4-BE49-F238E27FC236}">
                <a16:creationId xmlns:a16="http://schemas.microsoft.com/office/drawing/2014/main" id="{C42EEC04-557C-4B90-906B-408A91252B0E}"/>
              </a:ext>
            </a:extLst>
          </p:cNvPr>
          <p:cNvSpPr>
            <a:spLocks xmlns:a="http://schemas.openxmlformats.org/drawingml/2006/main" noGrp="1"/>
          </p:cNvSpPr>
          <p:nvPr/>
        </p:nvSpPr>
        <p:spPr>
          <a:xfrm xmlns:a="http://schemas.openxmlformats.org/drawingml/2006/main" rot="0" flipH="0" flipV="0">
            <a:off x="4667250" y="3435165"/>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87" name="Google Shape;187;p28">
            <a:extLst xmlns:a="http://schemas.openxmlformats.org/drawingml/2006/main">
              <a:ext uri="{FF2B5EF4-FFF2-40B4-BE49-F238E27FC236}">
                <a16:creationId xmlns:a16="http://schemas.microsoft.com/office/drawing/2014/main" id="{F6E47AF7-BC89-4D7E-9BDC-FFC7390BC863}"/>
              </a:ext>
            </a:extLst>
          </p:cNvPr>
          <p:cNvSpPr>
            <a:spLocks xmlns:a="http://schemas.openxmlformats.org/drawingml/2006/main" noGrp="1"/>
          </p:cNvSpPr>
          <p:nvPr/>
        </p:nvSpPr>
        <p:spPr>
          <a:xfrm xmlns:a="http://schemas.openxmlformats.org/drawingml/2006/main" rot="0" flipH="0" flipV="0">
            <a:off x="4810125" y="3515222"/>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3</a:t>
            </a:r>
            <a:r>
              <a:rPr sz="1300" b="1">
                <a:solidFill>
                  <a:srgbClr val="1E293B"/>
                </a:solidFill>
                <a:latin typeface="Roboto"/>
                <a:ea typeface="Roboto"/>
                <a:cs typeface="Roboto"/>
              </a:rPr>
              <a:t>. Movement variations</a:t>
            </a:r>
          </a:p>
          <a:p xmlns:a="http://schemas.openxmlformats.org/drawingml/2006/main">
            <a:pPr marL="457200" indent="-298450" algn="l">
              <a:spcBef>
                <a:spcPts val="450"/>
              </a:spcBef>
              <a:spcAft>
                <a:spcPts val="0"/>
              </a:spcAft>
              <a:buClr>
                <a:schemeClr val="dk1"/>
              </a:buClr>
              <a:buSzPts val="1100"/>
              <a:buFont typeface="Roboto"/>
              <a:buChar char="-"/>
            </a:pPr>
            <a:r>
              <a:rPr sz="1100" b="1">
                <a:solidFill>
                  <a:srgbClr val="475569"/>
                </a:solidFill>
                <a:latin typeface="Roboto"/>
                <a:ea typeface="Roboto"/>
                <a:cs typeface="Roboto"/>
              </a:rPr>
              <a:t>Unilateral</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Bilateral</a:t>
            </a:r>
          </a:p>
        </p:txBody>
      </p:sp>
    </p:spTree>
    <p:extLst>
      <p:ext uri="{BB962C8B-B14F-4D97-AF65-F5344CB8AC3E}">
        <p14:creationId xmlns:p14="http://schemas.microsoft.com/office/powerpoint/2010/main" val="433380172"/>
      </p:ext>
    </p:extLst>
  </p:cSld>
</p:sld>
</file>

<file path=ppt/slides/slide20.xml><?xml version="1.0" encoding="utf-8"?>
<p:sld xmlns:p="http://schemas.openxmlformats.org/presentationml/2006/main">
  <p:cSld>
    <p:bg>
      <p:bgPr>
        <a:blipFill xmlns:a="http://schemas.openxmlformats.org/drawingml/2006/main">
          <a:blip xmlns:r="http://schemas.openxmlformats.org/officeDocument/2006/relationships" r:embed="Rac68c2cea9a14294">
            <a:alphaModFix/>
          </a:blip>
          <a:stretch>
            <a:fillRect l="0" t="0" r="0" b="0"/>
          </a:stretch>
        </a:blipFill>
      </p:bgPr>
    </p:bg>
    <p:spTree>
      <p:nvGrpSpPr>
        <p:cNvPr id="1" name=""/>
        <p:cNvGrpSpPr/>
        <p:nvPr/>
      </p:nvGrpSpPr>
      <p:grpSpPr>
        <a:xfrm xmlns:a="http://schemas.openxmlformats.org/drawingml/2006/main"/>
      </p:grpSpPr>
      <p:sp>
        <p:nvSpPr>
          <p:cNvPr id="192" name="Google Shape;192;p29">
            <a:extLst xmlns:a="http://schemas.openxmlformats.org/drawingml/2006/main">
              <a:ext uri="{FF2B5EF4-FFF2-40B4-BE49-F238E27FC236}">
                <a16:creationId xmlns:a16="http://schemas.microsoft.com/office/drawing/2014/main" id="{5AFF9D84-20C1-4409-AEF5-139078F8DA83}"/>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3" name="Google Shape;193;p29">
            <a:extLst xmlns:a="http://schemas.openxmlformats.org/drawingml/2006/main">
              <a:ext uri="{FF2B5EF4-FFF2-40B4-BE49-F238E27FC236}">
                <a16:creationId xmlns:a16="http://schemas.microsoft.com/office/drawing/2014/main" id="{FC0123CD-0202-46FE-AC08-1F8E8D88064C}"/>
              </a:ext>
            </a:extLst>
          </p:cNvPr>
          <p:cNvSpPr>
            <a:spLocks xmlns:a="http://schemas.openxmlformats.org/drawingml/2006/main" noGrp="1"/>
          </p:cNvSpPr>
          <p:nvPr/>
        </p:nvSpPr>
        <p:spPr>
          <a:xfrm xmlns:a="http://schemas.openxmlformats.org/drawingml/2006/main">
            <a:off x="0" y="44125"/>
            <a:ext cx="4313625" cy="4399375"/>
          </a:xfrm>
          <a:custGeom xmlns:a="http://schemas.openxmlformats.org/drawingml/2006/main">
            <a:rect l="l" t="t" r="r" b="b"/>
            <a:pathLst>
              <a:path w="172545" h="175975">
                <a:moveTo>
                  <a:pt x="0" y="157"/>
                </a:moveTo>
                <a:lnTo>
                  <a:pt x="172419" y="0"/>
                </a:lnTo>
                <a:lnTo>
                  <a:pt x="172545" y="126541"/>
                </a:lnTo>
                <a:lnTo>
                  <a:pt x="0" y="175975"/>
                </a:lnTo>
                <a:close/>
              </a:path>
            </a:pathLst>
          </a:custGeom>
          <a:solidFill xmlns:a="http://schemas.openxmlformats.org/drawingml/2006/main">
            <a:schemeClr val="accent2"/>
          </a:solidFill>
          <a:ln xmlns:a="http://schemas.openxmlformats.org/drawingml/2006/main">
            <a:noFill/>
          </a:ln>
        </p:spPr>
      </p:sp>
      <p:sp>
        <p:nvSpPr>
          <p:cNvPr id="194" name="Google Shape;194;p29">
            <a:extLst xmlns:a="http://schemas.openxmlformats.org/drawingml/2006/main">
              <a:ext uri="{FF2B5EF4-FFF2-40B4-BE49-F238E27FC236}">
                <a16:creationId xmlns:a16="http://schemas.microsoft.com/office/drawing/2014/main" id="{53FFCD1B-E2A5-4E45-AC86-BF07C0683023}"/>
              </a:ext>
            </a:extLst>
          </p:cNvPr>
          <p:cNvSpPr>
            <a:spLocks xmlns:a="http://schemas.openxmlformats.org/drawingml/2006/main" noGrp="1"/>
          </p:cNvSpPr>
          <p:nvPr/>
        </p:nvSpPr>
        <p:spPr>
          <a:xfrm xmlns:a="http://schemas.openxmlformats.org/drawingml/2006/main">
            <a:off x="-125" y="0"/>
            <a:ext cx="4316900" cy="4395600"/>
          </a:xfrm>
          <a:custGeom xmlns:a="http://schemas.openxmlformats.org/drawingml/2006/main">
            <a:rect l="l" t="t" r="r" b="b"/>
            <a:pathLst>
              <a:path w="172676" h="175824">
                <a:moveTo>
                  <a:pt x="0" y="6"/>
                </a:moveTo>
                <a:lnTo>
                  <a:pt x="172676" y="0"/>
                </a:lnTo>
                <a:lnTo>
                  <a:pt x="172562" y="126442"/>
                </a:lnTo>
                <a:lnTo>
                  <a:pt x="0" y="175824"/>
                </a:lnTo>
                <a:close/>
              </a:path>
            </a:pathLst>
          </a:custGeom>
          <a:solidFill xmlns:a="http://schemas.openxmlformats.org/drawingml/2006/main">
            <a:schemeClr val="dk1"/>
          </a:solidFill>
          <a:ln xmlns:a="http://schemas.openxmlformats.org/drawingml/2006/main">
            <a:noFill/>
          </a:ln>
        </p:spPr>
      </p:sp>
      <p:sp>
        <p:nvSpPr>
          <p:cNvPr id="195" name="Google Shape;195;p29">
            <a:extLst xmlns:a="http://schemas.openxmlformats.org/drawingml/2006/main">
              <a:ext uri="{FF2B5EF4-FFF2-40B4-BE49-F238E27FC236}">
                <a16:creationId xmlns:a16="http://schemas.microsoft.com/office/drawing/2014/main" id="{C6B99CA8-6CE6-4674-9BDE-7FAFB74F6891}"/>
              </a:ext>
            </a:extLst>
          </p:cNvPr>
          <p:cNvSpPr>
            <a:spLocks xmlns:a="http://schemas.openxmlformats.org/drawingml/2006/main" noGrp="1"/>
          </p:cNvSpPr>
          <p:nvPr>
            <p:ph type="title" idx="0"/>
          </p:nvPr>
        </p:nvSpPr>
        <p:spPr>
          <a:xfrm xmlns:a="http://schemas.openxmlformats.org/drawingml/2006/main">
            <a:off x="381000" y="571500"/>
            <a:ext cx="3524400" cy="2858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indent="0" algn="l">
              <a:spcBef>
                <a:spcPts val="0"/>
              </a:spcBef>
              <a:spcAft>
                <a:spcPts val="0"/>
              </a:spcAft>
              <a:buNone/>
            </a:pPr>
            <a:r>
              <a:rPr sz="3600" b="1">
                <a:latin typeface="Merriweather"/>
                <a:ea typeface="Merriweather"/>
                <a:cs typeface="Merriweather"/>
              </a:rPr>
              <a:t>Trunk Flexion:</a:t>
            </a:r>
          </a:p>
          <a:p xmlns:a="http://schemas.openxmlformats.org/drawingml/2006/main">
            <a:pPr marL="0" indent="0" algn="l">
              <a:spcBef>
                <a:spcPts val="0"/>
              </a:spcBef>
              <a:spcAft>
                <a:spcPts val="0"/>
              </a:spcAft>
              <a:buNone/>
            </a:pPr>
            <a:r>
              <a:rPr sz="3600" b="1">
                <a:solidFill>
                  <a:srgbClr val="FFFFFF"/>
                </a:solidFill>
                <a:latin typeface="Merriweather"/>
                <a:ea typeface="Merriweather"/>
                <a:cs typeface="Merriweather"/>
              </a:rPr>
              <a:t>How to Measure</a:t>
            </a:r>
          </a:p>
          <a:p xmlns:a="http://schemas.openxmlformats.org/drawingml/2006/main">
            <a:pPr marL="0" indent="0" algn="l">
              <a:spcBef>
                <a:spcPts val="0"/>
              </a:spcBef>
              <a:spcAft>
                <a:spcPts val="0"/>
              </a:spcAft>
              <a:buNone/>
            </a:pPr>
            <a:r>
              <a:t/>
            </a:r>
          </a:p>
        </p:txBody>
      </p:sp>
      <p:sp>
        <p:nvSpPr>
          <p:cNvPr id="197" name="Google Shape;197;p29">
            <a:extLst xmlns:a="http://schemas.openxmlformats.org/drawingml/2006/main">
              <a:ext uri="{FF2B5EF4-FFF2-40B4-BE49-F238E27FC236}">
                <a16:creationId xmlns:a16="http://schemas.microsoft.com/office/drawing/2014/main" id="{6510B6C5-38AC-420C-BE4C-089D184C10A8}"/>
              </a:ext>
            </a:extLst>
          </p:cNvPr>
          <p:cNvSpPr>
            <a:spLocks xmlns:a="http://schemas.openxmlformats.org/drawingml/2006/main" noGrp="1"/>
          </p:cNvSpPr>
          <p:nvPr/>
        </p:nvSpPr>
        <p:spPr>
          <a:xfrm xmlns:a="http://schemas.openxmlformats.org/drawingml/2006/main" rot="0" flipH="0" flipV="0">
            <a:off x="4667250" y="380993"/>
            <a:ext cx="4095900" cy="1059628"/>
          </a:xfrm>
          <a:prstGeom xmlns:a="http://schemas.openxmlformats.org/drawingml/2006/main" prst="roundRect">
            <a:avLst>
              <a:gd name="adj" fmla="val 5925"/>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198" name="Google Shape;198;p29">
            <a:extLst xmlns:a="http://schemas.openxmlformats.org/drawingml/2006/main">
              <a:ext uri="{FF2B5EF4-FFF2-40B4-BE49-F238E27FC236}">
                <a16:creationId xmlns:a16="http://schemas.microsoft.com/office/drawing/2014/main" id="{293C96FA-49C5-4215-9ED1-45C8FEE460FA}"/>
              </a:ext>
            </a:extLst>
          </p:cNvPr>
          <p:cNvSpPr>
            <a:spLocks xmlns:a="http://schemas.openxmlformats.org/drawingml/2006/main" noGrp="1"/>
          </p:cNvSpPr>
          <p:nvPr/>
        </p:nvSpPr>
        <p:spPr>
          <a:xfrm xmlns:a="http://schemas.openxmlformats.org/drawingml/2006/main" rot="0" flipH="0" flipV="0">
            <a:off x="4810125" y="459488"/>
            <a:ext cx="3810000" cy="902636"/>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1. Sensors processing</a:t>
            </a:r>
          </a:p>
          <a:p xmlns:a="http://schemas.openxmlformats.org/drawingml/2006/main">
            <a:pPr marL="457200" indent="-298450" algn="l">
              <a:spcBef>
                <a:spcPts val="450"/>
              </a:spcBef>
              <a:spcAft>
                <a:spcPts val="0"/>
              </a:spcAft>
              <a:buClr>
                <a:srgbClr val="31394D"/>
              </a:buClr>
              <a:buSzPts val="1100"/>
              <a:buFont typeface="Roboto"/>
              <a:buChar char="-"/>
            </a:pPr>
            <a:r>
              <a:rPr sz="1100" b="1">
                <a:solidFill>
                  <a:srgbClr val="475569"/>
                </a:solidFill>
                <a:latin typeface="Roboto"/>
                <a:ea typeface="Roboto"/>
                <a:cs typeface="Roboto"/>
              </a:rPr>
              <a:t>Individual sensor angles</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Sensors angle differences</a:t>
            </a:r>
          </a:p>
        </p:txBody>
      </p:sp>
      <p:sp>
        <p:nvSpPr>
          <p:cNvPr id="200" name="Google Shape;200;p29">
            <a:extLst xmlns:a="http://schemas.openxmlformats.org/drawingml/2006/main">
              <a:ext uri="{FF2B5EF4-FFF2-40B4-BE49-F238E27FC236}">
                <a16:creationId xmlns:a16="http://schemas.microsoft.com/office/drawing/2014/main" id="{B160E436-F07C-4979-9D20-68DD99B0565F}"/>
              </a:ext>
            </a:extLst>
          </p:cNvPr>
          <p:cNvSpPr>
            <a:spLocks xmlns:a="http://schemas.openxmlformats.org/drawingml/2006/main" noGrp="1"/>
          </p:cNvSpPr>
          <p:nvPr/>
        </p:nvSpPr>
        <p:spPr>
          <a:xfrm xmlns:a="http://schemas.openxmlformats.org/drawingml/2006/main" rot="0" flipH="0" flipV="0">
            <a:off x="4667250" y="1857440"/>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1" name="Google Shape;201;p29">
            <a:extLst xmlns:a="http://schemas.openxmlformats.org/drawingml/2006/main">
              <a:ext uri="{FF2B5EF4-FFF2-40B4-BE49-F238E27FC236}">
                <a16:creationId xmlns:a16="http://schemas.microsoft.com/office/drawing/2014/main" id="{CBA84DD4-6C4F-4F46-AFC7-9D6D00C07CCB}"/>
              </a:ext>
            </a:extLst>
          </p:cNvPr>
          <p:cNvSpPr>
            <a:spLocks xmlns:a="http://schemas.openxmlformats.org/drawingml/2006/main" noGrp="1"/>
          </p:cNvSpPr>
          <p:nvPr/>
        </p:nvSpPr>
        <p:spPr>
          <a:xfrm xmlns:a="http://schemas.openxmlformats.org/drawingml/2006/main" rot="0" flipH="0" flipV="0">
            <a:off x="4810125" y="1937497"/>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2. </a:t>
            </a:r>
            <a:r>
              <a:rPr sz="1300" b="1">
                <a:solidFill>
                  <a:srgbClr val="1E293B"/>
                </a:solidFill>
                <a:latin typeface="Roboto"/>
                <a:ea typeface="Roboto"/>
                <a:cs typeface="Roboto"/>
              </a:rPr>
              <a:t>Individual sensor angles</a:t>
            </a:r>
          </a:p>
          <a:p xmlns:a="http://schemas.openxmlformats.org/drawingml/2006/main">
            <a:pPr marL="457200" indent="0" algn="l">
              <a:spcBef>
                <a:spcPts val="450"/>
              </a:spcBef>
              <a:spcAft>
                <a:spcPts val="0"/>
              </a:spcAft>
              <a:buNone/>
            </a:pPr>
            <a:r>
              <a:rPr sz="1100" b="1">
                <a:solidFill>
                  <a:srgbClr val="475569"/>
                </a:solidFill>
                <a:latin typeface="Roboto"/>
                <a:ea typeface="Roboto"/>
                <a:cs typeface="Roboto"/>
              </a:rPr>
              <a:t>           Tilt 				Lateral</a:t>
            </a:r>
          </a:p>
        </p:txBody>
      </p:sp>
      <p:pic>
        <p:nvPicPr>
          <p:cNvPr id="217" name="Google Shape;202;p29"/>
          <p:cNvPicPr>
            <a:picLocks xmlns:a="http://schemas.openxmlformats.org/drawingml/2006/main" noChangeAspect="1"/>
          </p:cNvPicPr>
          <p:nvPr/>
        </p:nvPicPr>
        <p:blipFill>
          <a:blip xmlns:r="http://schemas.openxmlformats.org/officeDocument/2006/relationships" xmlns:a="http://schemas.openxmlformats.org/drawingml/2006/main" r:embed="R0db3c14f03d24ff7">
            <a:alphaModFix/>
          </a:blip>
          <a:stretch xmlns:a="http://schemas.openxmlformats.org/drawingml/2006/main">
            <a:fillRect l="0" t="0" r="0" b="0"/>
          </a:stretch>
        </p:blipFill>
        <p:spPr>
          <a:xfrm xmlns:a="http://schemas.openxmlformats.org/drawingml/2006/main">
            <a:off x="4954826" y="2357399"/>
            <a:ext cx="1635049" cy="660950"/>
          </a:xfrm>
          <a:prstGeom xmlns:a="http://schemas.openxmlformats.org/drawingml/2006/main" prst="rect">
            <a:avLst/>
          </a:prstGeom>
          <a:ln xmlns:a="http://schemas.openxmlformats.org/drawingml/2006/main">
            <a:noFill/>
          </a:ln>
        </p:spPr>
      </p:pic>
      <p:pic>
        <p:nvPicPr>
          <p:cNvPr id="218" name="Google Shape;203;p29"/>
          <p:cNvPicPr>
            <a:picLocks xmlns:a="http://schemas.openxmlformats.org/drawingml/2006/main" noChangeAspect="1"/>
          </p:cNvPicPr>
          <p:nvPr/>
        </p:nvPicPr>
        <p:blipFill>
          <a:blip xmlns:r="http://schemas.openxmlformats.org/officeDocument/2006/relationships" xmlns:a="http://schemas.openxmlformats.org/drawingml/2006/main" r:embed="R1221ed624a9d4b13">
            <a:alphaModFix/>
          </a:blip>
          <a:stretch xmlns:a="http://schemas.openxmlformats.org/drawingml/2006/main">
            <a:fillRect l="0" t="0" r="0" b="0"/>
          </a:stretch>
        </p:blipFill>
        <p:spPr>
          <a:xfrm xmlns:a="http://schemas.openxmlformats.org/drawingml/2006/main">
            <a:off x="6769552" y="2379851"/>
            <a:ext cx="1745301" cy="578800"/>
          </a:xfrm>
          <a:prstGeom xmlns:a="http://schemas.openxmlformats.org/drawingml/2006/main" prst="rect">
            <a:avLst/>
          </a:prstGeom>
          <a:ln xmlns:a="http://schemas.openxmlformats.org/drawingml/2006/main">
            <a:noFill/>
          </a:ln>
        </p:spPr>
      </p:pic>
      <p:sp>
        <p:nvSpPr>
          <p:cNvPr id="205" name="Google Shape;205;p29">
            <a:extLst xmlns:a="http://schemas.openxmlformats.org/drawingml/2006/main">
              <a:ext uri="{FF2B5EF4-FFF2-40B4-BE49-F238E27FC236}">
                <a16:creationId xmlns:a16="http://schemas.microsoft.com/office/drawing/2014/main" id="{0C3AE2DC-5E8C-4104-908F-C6355D3D3817}"/>
              </a:ext>
            </a:extLst>
          </p:cNvPr>
          <p:cNvSpPr>
            <a:spLocks xmlns:a="http://schemas.openxmlformats.org/drawingml/2006/main" noGrp="1"/>
          </p:cNvSpPr>
          <p:nvPr/>
        </p:nvSpPr>
        <p:spPr>
          <a:xfrm xmlns:a="http://schemas.openxmlformats.org/drawingml/2006/main" rot="0" flipH="0" flipV="0">
            <a:off x="4667250" y="3435165"/>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06" name="Google Shape;206;p29">
            <a:extLst xmlns:a="http://schemas.openxmlformats.org/drawingml/2006/main">
              <a:ext uri="{FF2B5EF4-FFF2-40B4-BE49-F238E27FC236}">
                <a16:creationId xmlns:a16="http://schemas.microsoft.com/office/drawing/2014/main" id="{28D341EB-72CA-4145-ACA3-39E4C81D691E}"/>
              </a:ext>
            </a:extLst>
          </p:cNvPr>
          <p:cNvSpPr>
            <a:spLocks xmlns:a="http://schemas.openxmlformats.org/drawingml/2006/main" noGrp="1"/>
          </p:cNvSpPr>
          <p:nvPr/>
        </p:nvSpPr>
        <p:spPr>
          <a:xfrm xmlns:a="http://schemas.openxmlformats.org/drawingml/2006/main" rot="0" flipH="0" flipV="0">
            <a:off x="4810125" y="3515222"/>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3. Dynamic angle </a:t>
            </a:r>
          </a:p>
          <a:p xmlns:a="http://schemas.openxmlformats.org/drawingml/2006/main">
            <a:pPr marL="457200" indent="-298450" algn="l">
              <a:spcBef>
                <a:spcPts val="450"/>
              </a:spcBef>
              <a:spcAft>
                <a:spcPts val="0"/>
              </a:spcAft>
              <a:buClr>
                <a:schemeClr val="dk1"/>
              </a:buClr>
              <a:buSzPts val="1100"/>
              <a:buFont typeface="Roboto"/>
              <a:buChar char="-"/>
            </a:pPr>
            <a:r>
              <a:rPr sz="1100" b="1">
                <a:solidFill>
                  <a:srgbClr val="475569"/>
                </a:solidFill>
                <a:latin typeface="Roboto"/>
                <a:ea typeface="Roboto"/>
                <a:cs typeface="Roboto"/>
              </a:rPr>
              <a:t>Track angle change through time</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Detect cheating and compensation</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Give real-time corrective feedback</a:t>
            </a:r>
          </a:p>
        </p:txBody>
      </p:sp>
    </p:spTree>
    <p:extLst>
      <p:ext uri="{BB962C8B-B14F-4D97-AF65-F5344CB8AC3E}">
        <p14:creationId xmlns:p14="http://schemas.microsoft.com/office/powerpoint/2010/main" val="277136345"/>
      </p:ext>
    </p:extLst>
  </p:cSld>
</p:sld>
</file>

<file path=ppt/slides/slide21.xml><?xml version="1.0" encoding="utf-8"?>
<p:sld xmlns:p="http://schemas.openxmlformats.org/presentationml/2006/main">
  <p:cSld>
    <p:bg>
      <p:bgPr>
        <a:blipFill xmlns:a="http://schemas.openxmlformats.org/drawingml/2006/main">
          <a:blip xmlns:r="http://schemas.openxmlformats.org/officeDocument/2006/relationships" r:embed="Rb632ac371af34ad5">
            <a:alphaModFix/>
          </a:blip>
          <a:stretch>
            <a:fillRect l="0" t="0" r="0" b="0"/>
          </a:stretch>
        </a:blipFill>
      </p:bgPr>
    </p:bg>
    <p:spTree>
      <p:nvGrpSpPr>
        <p:cNvPr id="1" name=""/>
        <p:cNvGrpSpPr/>
        <p:nvPr/>
      </p:nvGrpSpPr>
      <p:grpSpPr>
        <a:xfrm xmlns:a="http://schemas.openxmlformats.org/drawingml/2006/main"/>
      </p:grpSpPr>
      <p:sp>
        <p:nvSpPr>
          <p:cNvPr id="211" name="Google Shape;211;p30">
            <a:extLst xmlns:a="http://schemas.openxmlformats.org/drawingml/2006/main">
              <a:ext uri="{FF2B5EF4-FFF2-40B4-BE49-F238E27FC236}">
                <a16:creationId xmlns:a16="http://schemas.microsoft.com/office/drawing/2014/main" id="{0AEF85FC-AE79-4FCA-AB62-B7C1D7C0CD2F}"/>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2" name="Google Shape;212;p30">
            <a:extLst xmlns:a="http://schemas.openxmlformats.org/drawingml/2006/main">
              <a:ext uri="{FF2B5EF4-FFF2-40B4-BE49-F238E27FC236}">
                <a16:creationId xmlns:a16="http://schemas.microsoft.com/office/drawing/2014/main" id="{BF3C95BB-E7F9-4D59-B69E-616375841DE1}"/>
              </a:ext>
            </a:extLst>
          </p:cNvPr>
          <p:cNvSpPr>
            <a:spLocks xmlns:a="http://schemas.openxmlformats.org/drawingml/2006/main" noGrp="1"/>
          </p:cNvSpPr>
          <p:nvPr/>
        </p:nvSpPr>
        <p:spPr>
          <a:xfrm xmlns:a="http://schemas.openxmlformats.org/drawingml/2006/main">
            <a:off x="0" y="44125"/>
            <a:ext cx="4313625" cy="4399375"/>
          </a:xfrm>
          <a:custGeom xmlns:a="http://schemas.openxmlformats.org/drawingml/2006/main">
            <a:rect l="l" t="t" r="r" b="b"/>
            <a:pathLst>
              <a:path w="172545" h="175975">
                <a:moveTo>
                  <a:pt x="0" y="157"/>
                </a:moveTo>
                <a:lnTo>
                  <a:pt x="172419" y="0"/>
                </a:lnTo>
                <a:lnTo>
                  <a:pt x="172545" y="126541"/>
                </a:lnTo>
                <a:lnTo>
                  <a:pt x="0" y="175975"/>
                </a:lnTo>
                <a:close/>
              </a:path>
            </a:pathLst>
          </a:custGeom>
          <a:solidFill xmlns:a="http://schemas.openxmlformats.org/drawingml/2006/main">
            <a:schemeClr val="accent2"/>
          </a:solidFill>
          <a:ln xmlns:a="http://schemas.openxmlformats.org/drawingml/2006/main">
            <a:noFill/>
          </a:ln>
        </p:spPr>
      </p:sp>
      <p:sp>
        <p:nvSpPr>
          <p:cNvPr id="213" name="Google Shape;213;p30">
            <a:extLst xmlns:a="http://schemas.openxmlformats.org/drawingml/2006/main">
              <a:ext uri="{FF2B5EF4-FFF2-40B4-BE49-F238E27FC236}">
                <a16:creationId xmlns:a16="http://schemas.microsoft.com/office/drawing/2014/main" id="{483660AA-2D0D-4D32-9B52-EE606957A24E}"/>
              </a:ext>
            </a:extLst>
          </p:cNvPr>
          <p:cNvSpPr>
            <a:spLocks xmlns:a="http://schemas.openxmlformats.org/drawingml/2006/main" noGrp="1"/>
          </p:cNvSpPr>
          <p:nvPr/>
        </p:nvSpPr>
        <p:spPr>
          <a:xfrm xmlns:a="http://schemas.openxmlformats.org/drawingml/2006/main">
            <a:off x="-125" y="0"/>
            <a:ext cx="4316900" cy="4395600"/>
          </a:xfrm>
          <a:custGeom xmlns:a="http://schemas.openxmlformats.org/drawingml/2006/main">
            <a:rect l="l" t="t" r="r" b="b"/>
            <a:pathLst>
              <a:path w="172676" h="175824">
                <a:moveTo>
                  <a:pt x="0" y="6"/>
                </a:moveTo>
                <a:lnTo>
                  <a:pt x="172676" y="0"/>
                </a:lnTo>
                <a:lnTo>
                  <a:pt x="172562" y="126442"/>
                </a:lnTo>
                <a:lnTo>
                  <a:pt x="0" y="175824"/>
                </a:lnTo>
                <a:close/>
              </a:path>
            </a:pathLst>
          </a:custGeom>
          <a:solidFill xmlns:a="http://schemas.openxmlformats.org/drawingml/2006/main">
            <a:schemeClr val="dk1"/>
          </a:solidFill>
          <a:ln xmlns:a="http://schemas.openxmlformats.org/drawingml/2006/main">
            <a:noFill/>
          </a:ln>
        </p:spPr>
      </p:sp>
      <p:sp>
        <p:nvSpPr>
          <p:cNvPr id="214" name="Google Shape;214;p30">
            <a:extLst xmlns:a="http://schemas.openxmlformats.org/drawingml/2006/main">
              <a:ext uri="{FF2B5EF4-FFF2-40B4-BE49-F238E27FC236}">
                <a16:creationId xmlns:a16="http://schemas.microsoft.com/office/drawing/2014/main" id="{BB2A4278-9001-40AE-8098-5D9495376D6E}"/>
              </a:ext>
            </a:extLst>
          </p:cNvPr>
          <p:cNvSpPr>
            <a:spLocks xmlns:a="http://schemas.openxmlformats.org/drawingml/2006/main" noGrp="1"/>
          </p:cNvSpPr>
          <p:nvPr>
            <p:ph type="title" idx="0"/>
          </p:nvPr>
        </p:nvSpPr>
        <p:spPr>
          <a:xfrm xmlns:a="http://schemas.openxmlformats.org/drawingml/2006/main">
            <a:off x="381000" y="571500"/>
            <a:ext cx="3524400" cy="2858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indent="0" algn="l">
              <a:spcBef>
                <a:spcPts val="0"/>
              </a:spcBef>
              <a:spcAft>
                <a:spcPts val="0"/>
              </a:spcAft>
              <a:buNone/>
            </a:pPr>
            <a:r>
              <a:rPr sz="3600" b="1">
                <a:solidFill>
                  <a:srgbClr val="FFFFFF"/>
                </a:solidFill>
                <a:latin typeface="Merriweather"/>
                <a:ea typeface="Merriweather"/>
                <a:cs typeface="Merriweather"/>
              </a:rPr>
              <a:t>Trunk Flexion:</a:t>
            </a:r>
            <a:br/>
            <a:r>
              <a:rPr sz="3600" b="1">
                <a:solidFill>
                  <a:srgbClr val="FFFFFF"/>
                </a:solidFill>
                <a:latin typeface="Merriweather"/>
                <a:ea typeface="Merriweather"/>
                <a:cs typeface="Merriweather"/>
              </a:rPr>
              <a:t>Possible Compensation and Cheating </a:t>
            </a:r>
          </a:p>
        </p:txBody>
      </p:sp>
      <p:sp>
        <p:nvSpPr>
          <p:cNvPr id="216" name="Google Shape;216;p30">
            <a:extLst xmlns:a="http://schemas.openxmlformats.org/drawingml/2006/main">
              <a:ext uri="{FF2B5EF4-FFF2-40B4-BE49-F238E27FC236}">
                <a16:creationId xmlns:a16="http://schemas.microsoft.com/office/drawing/2014/main" id="{593D68E2-6D6E-4E4D-BCED-9661B2B73BD2}"/>
              </a:ext>
            </a:extLst>
          </p:cNvPr>
          <p:cNvSpPr>
            <a:spLocks xmlns:a="http://schemas.openxmlformats.org/drawingml/2006/main" noGrp="1"/>
          </p:cNvSpPr>
          <p:nvPr/>
        </p:nvSpPr>
        <p:spPr>
          <a:xfrm xmlns:a="http://schemas.openxmlformats.org/drawingml/2006/main" rot="0" flipH="0" flipV="0">
            <a:off x="4667250" y="380993"/>
            <a:ext cx="4095900" cy="1059628"/>
          </a:xfrm>
          <a:prstGeom xmlns:a="http://schemas.openxmlformats.org/drawingml/2006/main" prst="roundRect">
            <a:avLst>
              <a:gd name="adj" fmla="val 5925"/>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17" name="Google Shape;217;p30">
            <a:extLst xmlns:a="http://schemas.openxmlformats.org/drawingml/2006/main">
              <a:ext uri="{FF2B5EF4-FFF2-40B4-BE49-F238E27FC236}">
                <a16:creationId xmlns:a16="http://schemas.microsoft.com/office/drawing/2014/main" id="{94263A7F-0C4E-4C5F-B8FE-330D62AC295C}"/>
              </a:ext>
            </a:extLst>
          </p:cNvPr>
          <p:cNvSpPr>
            <a:spLocks xmlns:a="http://schemas.openxmlformats.org/drawingml/2006/main" noGrp="1"/>
          </p:cNvSpPr>
          <p:nvPr/>
        </p:nvSpPr>
        <p:spPr>
          <a:xfrm xmlns:a="http://schemas.openxmlformats.org/drawingml/2006/main" rot="0" flipH="0" flipV="0">
            <a:off x="4810125" y="459488"/>
            <a:ext cx="3810000" cy="902636"/>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1. Lateral leaning</a:t>
            </a:r>
          </a:p>
          <a:p xmlns:a="http://schemas.openxmlformats.org/drawingml/2006/main">
            <a:pPr marL="457200" indent="-298450" algn="l">
              <a:spcBef>
                <a:spcPts val="450"/>
              </a:spcBef>
              <a:spcAft>
                <a:spcPts val="0"/>
              </a:spcAft>
              <a:buClr>
                <a:srgbClr val="475569"/>
              </a:buClr>
              <a:buSzPts val="1100"/>
              <a:buFont typeface="Roboto"/>
              <a:buChar char="-"/>
            </a:pPr>
            <a:r>
              <a:rPr sz="1100" b="1">
                <a:solidFill>
                  <a:srgbClr val="475569"/>
                </a:solidFill>
                <a:latin typeface="Roboto"/>
                <a:ea typeface="Roboto"/>
                <a:cs typeface="Roboto"/>
              </a:rPr>
              <a:t>Lateral trunk flexion/rotation</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Compare sensors lateral angle</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Train weaker side with unilateral movement</a:t>
            </a:r>
          </a:p>
        </p:txBody>
      </p:sp>
      <p:sp>
        <p:nvSpPr>
          <p:cNvPr id="219" name="Google Shape;219;p30">
            <a:extLst xmlns:a="http://schemas.openxmlformats.org/drawingml/2006/main">
              <a:ext uri="{FF2B5EF4-FFF2-40B4-BE49-F238E27FC236}">
                <a16:creationId xmlns:a16="http://schemas.microsoft.com/office/drawing/2014/main" id="{B6D35AA6-6522-4754-A579-F14E23BC02D6}"/>
              </a:ext>
            </a:extLst>
          </p:cNvPr>
          <p:cNvSpPr>
            <a:spLocks xmlns:a="http://schemas.openxmlformats.org/drawingml/2006/main" noGrp="1"/>
          </p:cNvSpPr>
          <p:nvPr/>
        </p:nvSpPr>
        <p:spPr>
          <a:xfrm xmlns:a="http://schemas.openxmlformats.org/drawingml/2006/main" rot="0" flipH="0" flipV="0">
            <a:off x="4667250" y="1857440"/>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0" name="Google Shape;220;p30">
            <a:extLst xmlns:a="http://schemas.openxmlformats.org/drawingml/2006/main">
              <a:ext uri="{FF2B5EF4-FFF2-40B4-BE49-F238E27FC236}">
                <a16:creationId xmlns:a16="http://schemas.microsoft.com/office/drawing/2014/main" id="{F547672C-09A0-4705-A883-6E0C7F61840D}"/>
              </a:ext>
            </a:extLst>
          </p:cNvPr>
          <p:cNvSpPr>
            <a:spLocks xmlns:a="http://schemas.openxmlformats.org/drawingml/2006/main" noGrp="1"/>
          </p:cNvSpPr>
          <p:nvPr/>
        </p:nvSpPr>
        <p:spPr>
          <a:xfrm xmlns:a="http://schemas.openxmlformats.org/drawingml/2006/main" rot="0" flipH="0" flipV="0">
            <a:off x="4810125" y="1937497"/>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2. Wall leaning </a:t>
            </a:r>
          </a:p>
          <a:p xmlns:a="http://schemas.openxmlformats.org/drawingml/2006/main">
            <a:pPr marL="457200" indent="-298450" algn="l">
              <a:spcBef>
                <a:spcPts val="450"/>
              </a:spcBef>
              <a:spcAft>
                <a:spcPts val="0"/>
              </a:spcAft>
              <a:buClr>
                <a:schemeClr val="dk1"/>
              </a:buClr>
              <a:buSzPts val="1100"/>
              <a:buFont typeface="Roboto"/>
              <a:buChar char="-"/>
            </a:pPr>
            <a:r>
              <a:rPr sz="1100" b="1">
                <a:solidFill>
                  <a:srgbClr val="475569"/>
                </a:solidFill>
                <a:latin typeface="Roboto"/>
                <a:ea typeface="Roboto"/>
                <a:cs typeface="Roboto"/>
              </a:rPr>
              <a:t>Not standing unsupported</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Pelvis IMU not static</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Safety sofa</a:t>
            </a:r>
          </a:p>
        </p:txBody>
      </p:sp>
      <p:sp>
        <p:nvSpPr>
          <p:cNvPr id="222" name="Google Shape;222;p30">
            <a:extLst xmlns:a="http://schemas.openxmlformats.org/drawingml/2006/main">
              <a:ext uri="{FF2B5EF4-FFF2-40B4-BE49-F238E27FC236}">
                <a16:creationId xmlns:a16="http://schemas.microsoft.com/office/drawing/2014/main" id="{0FD06CF0-C458-4DD9-815A-4E5BB0BE0ADD}"/>
              </a:ext>
            </a:extLst>
          </p:cNvPr>
          <p:cNvSpPr>
            <a:spLocks xmlns:a="http://schemas.openxmlformats.org/drawingml/2006/main" noGrp="1"/>
          </p:cNvSpPr>
          <p:nvPr/>
        </p:nvSpPr>
        <p:spPr>
          <a:xfrm xmlns:a="http://schemas.openxmlformats.org/drawingml/2006/main" rot="0" flipH="0" flipV="0">
            <a:off x="4667250" y="3435165"/>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3" name="Google Shape;223;p30">
            <a:extLst xmlns:a="http://schemas.openxmlformats.org/drawingml/2006/main">
              <a:ext uri="{FF2B5EF4-FFF2-40B4-BE49-F238E27FC236}">
                <a16:creationId xmlns:a16="http://schemas.microsoft.com/office/drawing/2014/main" id="{7E68D667-D688-4CE9-A7B4-E5C5D9B99CEC}"/>
              </a:ext>
            </a:extLst>
          </p:cNvPr>
          <p:cNvSpPr>
            <a:spLocks xmlns:a="http://schemas.openxmlformats.org/drawingml/2006/main" noGrp="1"/>
          </p:cNvSpPr>
          <p:nvPr/>
        </p:nvSpPr>
        <p:spPr>
          <a:xfrm xmlns:a="http://schemas.openxmlformats.org/drawingml/2006/main" rot="0" flipH="0" flipV="0">
            <a:off x="4810125" y="3515222"/>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3. Sensor manipulation</a:t>
            </a:r>
          </a:p>
          <a:p xmlns:a="http://schemas.openxmlformats.org/drawingml/2006/main">
            <a:pPr marL="457200" indent="-298450" algn="l">
              <a:spcBef>
                <a:spcPts val="450"/>
              </a:spcBef>
              <a:spcAft>
                <a:spcPts val="0"/>
              </a:spcAft>
              <a:buClr>
                <a:schemeClr val="dk1"/>
              </a:buClr>
              <a:buSzPts val="1100"/>
              <a:buFont typeface="Roboto"/>
              <a:buChar char="-"/>
            </a:pPr>
            <a:r>
              <a:rPr sz="1100" b="1">
                <a:solidFill>
                  <a:srgbClr val="475569"/>
                </a:solidFill>
                <a:latin typeface="Roboto"/>
                <a:ea typeface="Roboto"/>
                <a:cs typeface="Roboto"/>
              </a:rPr>
              <a:t>More than one sensors</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Unreachable sensor placement</a:t>
            </a:r>
          </a:p>
          <a:p xmlns:a="http://schemas.openxmlformats.org/drawingml/2006/main">
            <a:pPr marL="457200" indent="-298450" algn="l">
              <a:spcBef>
                <a:spcPts val="0"/>
              </a:spcBef>
              <a:spcAft>
                <a:spcPts val="0"/>
              </a:spcAft>
              <a:buClr>
                <a:srgbClr val="475569"/>
              </a:buClr>
              <a:buSzPts val="1100"/>
              <a:buFont typeface="Roboto"/>
              <a:buChar char="-"/>
            </a:pPr>
            <a:r>
              <a:rPr sz="1100" b="1">
                <a:solidFill>
                  <a:srgbClr val="475569"/>
                </a:solidFill>
                <a:latin typeface="Roboto"/>
                <a:ea typeface="Roboto"/>
                <a:cs typeface="Roboto"/>
              </a:rPr>
              <a:t>Dynamic angle tracking</a:t>
            </a:r>
          </a:p>
        </p:txBody>
      </p:sp>
    </p:spTree>
    <p:extLst>
      <p:ext uri="{BB962C8B-B14F-4D97-AF65-F5344CB8AC3E}">
        <p14:creationId xmlns:p14="http://schemas.microsoft.com/office/powerpoint/2010/main" val="1659365846"/>
      </p:ext>
    </p:extLst>
  </p:cSld>
</p:sld>
</file>

<file path=ppt/slides/slide22.xml><?xml version="1.0" encoding="utf-8"?>
<p:sld xmlns:p="http://schemas.openxmlformats.org/presentationml/2006/main">
  <p:cSld>
    <p:bg>
      <p:bgPr>
        <a:blipFill xmlns:a="http://schemas.openxmlformats.org/drawingml/2006/main">
          <a:blip xmlns:r="http://schemas.openxmlformats.org/officeDocument/2006/relationships" r:embed="R2b22e5b3ef0c4bf0">
            <a:alphaModFix/>
          </a:blip>
          <a:stretch>
            <a:fillRect l="0" t="0" r="0" b="0"/>
          </a:stretch>
        </a:blipFill>
      </p:bgPr>
    </p:bg>
    <p:spTree>
      <p:nvGrpSpPr>
        <p:cNvPr id="1" name=""/>
        <p:cNvGrpSpPr/>
        <p:nvPr/>
      </p:nvGrpSpPr>
      <p:grpSpPr>
        <a:xfrm xmlns:a="http://schemas.openxmlformats.org/drawingml/2006/main"/>
      </p:grpSpPr>
      <p:sp>
        <p:nvSpPr>
          <p:cNvPr id="228" name="Google Shape;228;p31">
            <a:extLst xmlns:a="http://schemas.openxmlformats.org/drawingml/2006/main">
              <a:ext uri="{FF2B5EF4-FFF2-40B4-BE49-F238E27FC236}">
                <a16:creationId xmlns:a16="http://schemas.microsoft.com/office/drawing/2014/main" id="{109F04CB-2BC7-4935-8FC9-2E2E78AC05F3}"/>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29" name="Google Shape;229;p31">
            <a:extLst xmlns:a="http://schemas.openxmlformats.org/drawingml/2006/main">
              <a:ext uri="{FF2B5EF4-FFF2-40B4-BE49-F238E27FC236}">
                <a16:creationId xmlns:a16="http://schemas.microsoft.com/office/drawing/2014/main" id="{429864EC-7CEC-43A4-83BA-529712C6BD9B}"/>
              </a:ext>
            </a:extLst>
          </p:cNvPr>
          <p:cNvSpPr>
            <a:spLocks xmlns:a="http://schemas.openxmlformats.org/drawingml/2006/main" noGrp="1"/>
          </p:cNvSpPr>
          <p:nvPr/>
        </p:nvSpPr>
        <p:spPr>
          <a:xfrm xmlns:a="http://schemas.openxmlformats.org/drawingml/2006/main">
            <a:off x="0" y="44125"/>
            <a:ext cx="4313625" cy="4399375"/>
          </a:xfrm>
          <a:custGeom xmlns:a="http://schemas.openxmlformats.org/drawingml/2006/main">
            <a:rect l="l" t="t" r="r" b="b"/>
            <a:pathLst>
              <a:path w="172545" h="175975">
                <a:moveTo>
                  <a:pt x="0" y="157"/>
                </a:moveTo>
                <a:lnTo>
                  <a:pt x="172419" y="0"/>
                </a:lnTo>
                <a:lnTo>
                  <a:pt x="172545" y="126541"/>
                </a:lnTo>
                <a:lnTo>
                  <a:pt x="0" y="175975"/>
                </a:lnTo>
                <a:close/>
              </a:path>
            </a:pathLst>
          </a:custGeom>
          <a:solidFill xmlns:a="http://schemas.openxmlformats.org/drawingml/2006/main">
            <a:schemeClr val="accent2"/>
          </a:solidFill>
          <a:ln xmlns:a="http://schemas.openxmlformats.org/drawingml/2006/main">
            <a:noFill/>
          </a:ln>
        </p:spPr>
      </p:sp>
      <p:sp>
        <p:nvSpPr>
          <p:cNvPr id="230" name="Google Shape;230;p31">
            <a:extLst xmlns:a="http://schemas.openxmlformats.org/drawingml/2006/main">
              <a:ext uri="{FF2B5EF4-FFF2-40B4-BE49-F238E27FC236}">
                <a16:creationId xmlns:a16="http://schemas.microsoft.com/office/drawing/2014/main" id="{F1A0321E-2C1A-490D-8CD8-644985874C54}"/>
              </a:ext>
            </a:extLst>
          </p:cNvPr>
          <p:cNvSpPr>
            <a:spLocks xmlns:a="http://schemas.openxmlformats.org/drawingml/2006/main" noGrp="1"/>
          </p:cNvSpPr>
          <p:nvPr/>
        </p:nvSpPr>
        <p:spPr>
          <a:xfrm xmlns:a="http://schemas.openxmlformats.org/drawingml/2006/main">
            <a:off x="-125" y="0"/>
            <a:ext cx="4316900" cy="4395600"/>
          </a:xfrm>
          <a:custGeom xmlns:a="http://schemas.openxmlformats.org/drawingml/2006/main">
            <a:rect l="l" t="t" r="r" b="b"/>
            <a:pathLst>
              <a:path w="172676" h="175824">
                <a:moveTo>
                  <a:pt x="0" y="6"/>
                </a:moveTo>
                <a:lnTo>
                  <a:pt x="172676" y="0"/>
                </a:lnTo>
                <a:lnTo>
                  <a:pt x="172562" y="126442"/>
                </a:lnTo>
                <a:lnTo>
                  <a:pt x="0" y="175824"/>
                </a:lnTo>
                <a:close/>
              </a:path>
            </a:pathLst>
          </a:custGeom>
          <a:solidFill xmlns:a="http://schemas.openxmlformats.org/drawingml/2006/main">
            <a:schemeClr val="dk1"/>
          </a:solidFill>
          <a:ln xmlns:a="http://schemas.openxmlformats.org/drawingml/2006/main">
            <a:noFill/>
          </a:ln>
        </p:spPr>
      </p:sp>
      <p:sp>
        <p:nvSpPr>
          <p:cNvPr id="231" name="Google Shape;231;p31">
            <a:extLst xmlns:a="http://schemas.openxmlformats.org/drawingml/2006/main">
              <a:ext uri="{FF2B5EF4-FFF2-40B4-BE49-F238E27FC236}">
                <a16:creationId xmlns:a16="http://schemas.microsoft.com/office/drawing/2014/main" id="{19EEE8AC-1949-44F1-BDCE-2DE473C61A4E}"/>
              </a:ext>
            </a:extLst>
          </p:cNvPr>
          <p:cNvSpPr>
            <a:spLocks xmlns:a="http://schemas.openxmlformats.org/drawingml/2006/main" noGrp="1"/>
          </p:cNvSpPr>
          <p:nvPr>
            <p:ph type="title" idx="0"/>
          </p:nvPr>
        </p:nvSpPr>
        <p:spPr>
          <a:xfrm xmlns:a="http://schemas.openxmlformats.org/drawingml/2006/main">
            <a:off x="342900" y="403575"/>
            <a:ext cx="3417000" cy="933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rmAutofit fontScale="90000"/>
          </a:bodyPr>
          <a:lstStyle xmlns:a="http://schemas.openxmlformats.org/drawingml/2006/main"/>
          <a:p xmlns:a="http://schemas.openxmlformats.org/drawingml/2006/main">
            <a:pPr marL="0" indent="0" algn="l">
              <a:spcBef>
                <a:spcPts val="0"/>
              </a:spcBef>
              <a:spcAft>
                <a:spcPts val="0"/>
              </a:spcAft>
              <a:buNone/>
            </a:pPr>
            <a:r>
              <a:rPr sz="3600" b="1">
                <a:solidFill>
                  <a:srgbClr val="FFFFFF"/>
                </a:solidFill>
                <a:latin typeface="Merriweather"/>
                <a:ea typeface="Merriweather"/>
                <a:cs typeface="Merriweather"/>
              </a:rPr>
              <a:t>Trunk Rotation</a:t>
            </a:r>
          </a:p>
        </p:txBody>
      </p:sp>
      <p:sp>
        <p:nvSpPr>
          <p:cNvPr id="233" name="Google Shape;233;p31">
            <a:extLst xmlns:a="http://schemas.openxmlformats.org/drawingml/2006/main">
              <a:ext uri="{FF2B5EF4-FFF2-40B4-BE49-F238E27FC236}">
                <a16:creationId xmlns:a16="http://schemas.microsoft.com/office/drawing/2014/main" id="{E5CD3297-DA7E-42B2-9438-DE1A4EE64D89}"/>
              </a:ext>
            </a:extLst>
          </p:cNvPr>
          <p:cNvSpPr>
            <a:spLocks xmlns:a="http://schemas.openxmlformats.org/drawingml/2006/main" noGrp="1"/>
          </p:cNvSpPr>
          <p:nvPr/>
        </p:nvSpPr>
        <p:spPr>
          <a:xfrm xmlns:a="http://schemas.openxmlformats.org/drawingml/2006/main" rot="0" flipH="0" flipV="0">
            <a:off x="4667250" y="476250"/>
            <a:ext cx="4095900" cy="1047900"/>
          </a:xfrm>
          <a:prstGeom xmlns:a="http://schemas.openxmlformats.org/drawingml/2006/main" prst="roundRect">
            <a:avLst>
              <a:gd name="adj" fmla="val 7272"/>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4" name="Google Shape;234;p31">
            <a:extLst xmlns:a="http://schemas.openxmlformats.org/drawingml/2006/main">
              <a:ext uri="{FF2B5EF4-FFF2-40B4-BE49-F238E27FC236}">
                <a16:creationId xmlns:a16="http://schemas.microsoft.com/office/drawing/2014/main" id="{37FCA408-DD0A-47EC-9D35-6A32542AD127}"/>
              </a:ext>
            </a:extLst>
          </p:cNvPr>
          <p:cNvSpPr>
            <a:spLocks xmlns:a="http://schemas.openxmlformats.org/drawingml/2006/main" noGrp="1"/>
          </p:cNvSpPr>
          <p:nvPr/>
        </p:nvSpPr>
        <p:spPr>
          <a:xfrm xmlns:a="http://schemas.openxmlformats.org/drawingml/2006/main" rot="0" flipH="0" flipV="0">
            <a:off x="4810125" y="571500"/>
            <a:ext cx="38100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1">
                <a:solidFill>
                  <a:srgbClr val="31394D"/>
                </a:solidFill>
                <a:latin typeface="Roboto"/>
                <a:ea typeface="Roboto"/>
                <a:cs typeface="Roboto"/>
              </a:rPr>
              <a:t>Primary Drivers</a:t>
            </a:r>
          </a:p>
          <a:p xmlns:a="http://schemas.openxmlformats.org/drawingml/2006/main">
            <a:pPr marL="0" indent="0" algn="l">
              <a:spcBef>
                <a:spcPts val="400"/>
              </a:spcBef>
              <a:spcAft>
                <a:spcPts val="0"/>
              </a:spcAft>
              <a:buNone/>
            </a:pPr>
            <a:r>
              <a:rPr sz="1100" b="0">
                <a:solidFill>
                  <a:srgbClr val="475569"/>
                </a:solidFill>
                <a:latin typeface="Roboto"/>
                <a:ea typeface="Roboto"/>
                <a:cs typeface="Roboto"/>
              </a:rPr>
              <a:t>Trunk rotation is a composite movement primarily driven by:</a:t>
            </a:r>
          </a:p>
          <a:p xmlns:a="http://schemas.openxmlformats.org/drawingml/2006/main">
            <a:pPr marL="457200" indent="-298450" algn="l">
              <a:spcBef>
                <a:spcPts val="400"/>
              </a:spcBef>
              <a:spcAft>
                <a:spcPts val="0"/>
              </a:spcAft>
              <a:buClr>
                <a:srgbClr val="475569"/>
              </a:buClr>
              <a:buSzPts val="1100"/>
              <a:buFont typeface="Roboto"/>
              <a:buChar char="●"/>
            </a:pPr>
            <a:r>
              <a:rPr sz="1100" b="0">
                <a:solidFill>
                  <a:srgbClr val="475569"/>
                </a:solidFill>
                <a:latin typeface="Roboto"/>
                <a:ea typeface="Roboto"/>
                <a:cs typeface="Roboto"/>
              </a:rPr>
              <a:t>Thoracic spine</a:t>
            </a:r>
          </a:p>
          <a:p xmlns:a="http://schemas.openxmlformats.org/drawingml/2006/main">
            <a:pPr marL="457200" indent="-298450" algn="l">
              <a:spcBef>
                <a:spcPts val="0"/>
              </a:spcBef>
              <a:spcAft>
                <a:spcPts val="0"/>
              </a:spcAft>
              <a:buClr>
                <a:srgbClr val="475569"/>
              </a:buClr>
              <a:buSzPts val="1100"/>
              <a:buFont typeface="Roboto"/>
              <a:buChar char="●"/>
            </a:pPr>
            <a:r>
              <a:rPr sz="1100" b="0">
                <a:solidFill>
                  <a:srgbClr val="475569"/>
                </a:solidFill>
                <a:latin typeface="Roboto"/>
                <a:ea typeface="Roboto"/>
                <a:cs typeface="Roboto"/>
              </a:rPr>
              <a:t>Lumbar spine</a:t>
            </a:r>
          </a:p>
        </p:txBody>
      </p:sp>
      <p:sp>
        <p:nvSpPr>
          <p:cNvPr id="236" name="Google Shape;236;p31">
            <a:extLst xmlns:a="http://schemas.openxmlformats.org/drawingml/2006/main">
              <a:ext uri="{FF2B5EF4-FFF2-40B4-BE49-F238E27FC236}">
                <a16:creationId xmlns:a16="http://schemas.microsoft.com/office/drawing/2014/main" id="{7979F4C5-EEBB-4295-9FC9-81781778C989}"/>
              </a:ext>
            </a:extLst>
          </p:cNvPr>
          <p:cNvSpPr>
            <a:spLocks xmlns:a="http://schemas.openxmlformats.org/drawingml/2006/main" noGrp="1"/>
          </p:cNvSpPr>
          <p:nvPr/>
        </p:nvSpPr>
        <p:spPr>
          <a:xfrm xmlns:a="http://schemas.openxmlformats.org/drawingml/2006/main" rot="0" flipH="0" flipV="0">
            <a:off x="4667250" y="1666875"/>
            <a:ext cx="4095900" cy="2238300"/>
          </a:xfrm>
          <a:prstGeom xmlns:a="http://schemas.openxmlformats.org/drawingml/2006/main" prst="roundRect">
            <a:avLst>
              <a:gd name="adj" fmla="val 3404"/>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37" name="Google Shape;237;p31">
            <a:extLst xmlns:a="http://schemas.openxmlformats.org/drawingml/2006/main">
              <a:ext uri="{FF2B5EF4-FFF2-40B4-BE49-F238E27FC236}">
                <a16:creationId xmlns:a16="http://schemas.microsoft.com/office/drawing/2014/main" id="{CA657B7D-4E21-4A35-9F01-58F69A7B81FC}"/>
              </a:ext>
            </a:extLst>
          </p:cNvPr>
          <p:cNvSpPr>
            <a:spLocks xmlns:a="http://schemas.openxmlformats.org/drawingml/2006/main" noGrp="1"/>
          </p:cNvSpPr>
          <p:nvPr/>
        </p:nvSpPr>
        <p:spPr>
          <a:xfrm xmlns:a="http://schemas.openxmlformats.org/drawingml/2006/main" rot="0" flipH="0" flipV="0">
            <a:off x="4810125" y="1762125"/>
            <a:ext cx="3810000" cy="20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47625" rIns="0" bIns="0" anchor="t">
            <a:noAutofit/>
          </a:bodyPr>
          <a:lstStyle xmlns:a="http://schemas.openxmlformats.org/drawingml/2006/main"/>
          <a:p xmlns:a="http://schemas.openxmlformats.org/drawingml/2006/main">
            <a:pPr marL="0" indent="0" algn="l">
              <a:spcBef>
                <a:spcPts val="0"/>
              </a:spcBef>
              <a:spcAft>
                <a:spcPts val="0"/>
              </a:spcAft>
              <a:buNone/>
            </a:pPr>
            <a:r>
              <a:rPr sz="1200" b="1">
                <a:solidFill>
                  <a:srgbClr val="31394D"/>
                </a:solidFill>
                <a:latin typeface="Roboto"/>
                <a:ea typeface="Roboto"/>
                <a:cs typeface="Roboto"/>
              </a:rPr>
              <a:t>Seated Active Range of Motion (ROM)</a:t>
            </a:r>
          </a:p>
          <a:p xmlns:a="http://schemas.openxmlformats.org/drawingml/2006/main">
            <a:pPr marL="0" indent="0" algn="l">
              <a:spcBef>
                <a:spcPts val="1200"/>
              </a:spcBef>
              <a:spcAft>
                <a:spcPts val="0"/>
              </a:spcAft>
              <a:buNone/>
            </a:pPr>
            <a:r>
              <a:rPr sz="2200" b="1">
                <a:solidFill>
                  <a:srgbClr val="31394D"/>
                </a:solidFill>
                <a:latin typeface="Roboto"/>
                <a:ea typeface="Roboto"/>
                <a:cs typeface="Roboto"/>
              </a:rPr>
              <a:t>40° to 45°</a:t>
            </a:r>
          </a:p>
          <a:p xmlns:a="http://schemas.openxmlformats.org/drawingml/2006/main">
            <a:pPr marL="0" indent="0" algn="l">
              <a:spcBef>
                <a:spcPts val="0"/>
              </a:spcBef>
              <a:spcAft>
                <a:spcPts val="0"/>
              </a:spcAft>
              <a:buNone/>
            </a:pPr>
            <a:r>
              <a:rPr sz="1000" b="0">
                <a:solidFill>
                  <a:srgbClr val="64748B"/>
                </a:solidFill>
                <a:latin typeface="Roboto"/>
                <a:ea typeface="Roboto"/>
                <a:cs typeface="Roboto"/>
              </a:rPr>
              <a:t>Per direction (relative to neutral sagittal plane)</a:t>
            </a:r>
          </a:p>
          <a:p xmlns:a="http://schemas.openxmlformats.org/drawingml/2006/main">
            <a:pPr marL="0" indent="0" algn="l">
              <a:spcBef>
                <a:spcPts val="1125"/>
              </a:spcBef>
              <a:spcAft>
                <a:spcPts val="0"/>
              </a:spcAft>
              <a:buNone/>
            </a:pPr>
            <a:r>
              <a:rPr sz="1100" b="1">
                <a:solidFill>
                  <a:srgbClr val="059669"/>
                </a:solidFill>
                <a:latin typeface="Roboto"/>
                <a:ea typeface="Roboto"/>
                <a:cs typeface="Roboto"/>
              </a:rPr>
              <a:t>Total Transverse Arc:</a:t>
            </a:r>
            <a:br/>
            <a:r>
              <a:rPr sz="1100" b="0">
                <a:solidFill>
                  <a:srgbClr val="475569"/>
                </a:solidFill>
                <a:latin typeface="Roboto"/>
                <a:ea typeface="Roboto"/>
                <a:cs typeface="Roboto"/>
              </a:rPr>
              <a:t>80° to 90° of total rotational capacity.</a:t>
            </a:r>
          </a:p>
          <a:p xmlns:a="http://schemas.openxmlformats.org/drawingml/2006/main">
            <a:pPr marL="0" indent="0" algn="l">
              <a:spcBef>
                <a:spcPts val="1000"/>
              </a:spcBef>
              <a:spcAft>
                <a:spcPts val="0"/>
              </a:spcAft>
              <a:buNone/>
            </a:pPr>
            <a:r>
              <a:rPr sz="1100" b="1">
                <a:solidFill>
                  <a:srgbClr val="DC2626"/>
                </a:solidFill>
                <a:latin typeface="Roboto"/>
                <a:ea typeface="Roboto"/>
                <a:cs typeface="Roboto"/>
              </a:rPr>
              <a:t>Asymmetry Threshold:</a:t>
            </a:r>
            <a:br/>
            <a:r>
              <a:rPr sz="1100" b="0">
                <a:solidFill>
                  <a:srgbClr val="475569"/>
                </a:solidFill>
                <a:latin typeface="Roboto"/>
                <a:ea typeface="Roboto"/>
                <a:cs typeface="Roboto"/>
              </a:rPr>
              <a:t>A difference &gt; 10% to 15% between left and right rotation.</a:t>
            </a:r>
          </a:p>
        </p:txBody>
      </p:sp>
      <p:sp>
        <p:nvSpPr>
          <p:cNvPr id="239" name="Google Shape;239;p31">
            <a:extLst xmlns:a="http://schemas.openxmlformats.org/drawingml/2006/main">
              <a:ext uri="{FF2B5EF4-FFF2-40B4-BE49-F238E27FC236}">
                <a16:creationId xmlns:a16="http://schemas.microsoft.com/office/drawing/2014/main" id="{F4B004AB-4ADC-4AFE-A4AF-EAE932DE974B}"/>
              </a:ext>
            </a:extLst>
          </p:cNvPr>
          <p:cNvSpPr>
            <a:spLocks xmlns:a="http://schemas.openxmlformats.org/drawingml/2006/main" noGrp="1"/>
          </p:cNvSpPr>
          <p:nvPr/>
        </p:nvSpPr>
        <p:spPr>
          <a:xfrm xmlns:a="http://schemas.openxmlformats.org/drawingml/2006/main" rot="0" flipH="0" flipV="0">
            <a:off x="4667250" y="4048125"/>
            <a:ext cx="4095900" cy="857400"/>
          </a:xfrm>
          <a:prstGeom xmlns:a="http://schemas.openxmlformats.org/drawingml/2006/main" prst="roundRect">
            <a:avLst>
              <a:gd name="adj" fmla="val 8888"/>
            </a:avLst>
          </a:prstGeom>
          <a:solidFill xmlns:a="http://schemas.openxmlformats.org/drawingml/2006/main">
            <a:srgbClr val="EFF6FF"/>
          </a:solidFill>
          <a:ln xmlns:a="http://schemas.openxmlformats.org/drawingml/2006/main" w="9525" cmpd="sng">
            <a:solidFill>
              <a:srgbClr val="BFDBFE"/>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0" name="Google Shape;240;p31">
            <a:extLst xmlns:a="http://schemas.openxmlformats.org/drawingml/2006/main">
              <a:ext uri="{FF2B5EF4-FFF2-40B4-BE49-F238E27FC236}">
                <a16:creationId xmlns:a16="http://schemas.microsoft.com/office/drawing/2014/main" id="{66B47B68-4A42-4B42-BB10-F845D72AD816}"/>
              </a:ext>
            </a:extLst>
          </p:cNvPr>
          <p:cNvSpPr>
            <a:spLocks xmlns:a="http://schemas.openxmlformats.org/drawingml/2006/main" noGrp="1"/>
          </p:cNvSpPr>
          <p:nvPr/>
        </p:nvSpPr>
        <p:spPr>
          <a:xfrm xmlns:a="http://schemas.openxmlformats.org/drawingml/2006/main" rot="0" flipH="0" flipV="0">
            <a:off x="4810125" y="4143375"/>
            <a:ext cx="3810000" cy="66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1">
                <a:solidFill>
                  <a:srgbClr val="1E40AF"/>
                </a:solidFill>
                <a:latin typeface="Roboto"/>
                <a:ea typeface="Roboto"/>
                <a:cs typeface="Roboto"/>
              </a:rPr>
              <a:t>Clinical Significance</a:t>
            </a:r>
          </a:p>
          <a:p xmlns:a="http://schemas.openxmlformats.org/drawingml/2006/main">
            <a:pPr marL="0" indent="0" algn="l">
              <a:spcBef>
                <a:spcPts val="200"/>
              </a:spcBef>
              <a:spcAft>
                <a:spcPts val="0"/>
              </a:spcAft>
              <a:buNone/>
            </a:pPr>
            <a:r>
              <a:rPr sz="1100" b="0">
                <a:solidFill>
                  <a:srgbClr val="1E40AF"/>
                </a:solidFill>
                <a:latin typeface="Roboto"/>
                <a:ea typeface="Roboto"/>
                <a:cs typeface="Roboto"/>
              </a:rPr>
              <a:t>Indicates clinically significant mobility deficits or unilateral core muscle weakness when threshold is exceeded.</a:t>
            </a:r>
          </a:p>
        </p:txBody>
      </p:sp>
    </p:spTree>
    <p:extLst>
      <p:ext uri="{BB962C8B-B14F-4D97-AF65-F5344CB8AC3E}">
        <p14:creationId xmlns:p14="http://schemas.microsoft.com/office/powerpoint/2010/main" val="74279954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45" name="Google Shape;245;p32">
            <a:extLst xmlns:a="http://schemas.openxmlformats.org/drawingml/2006/main">
              <a:ext uri="{FF2B5EF4-FFF2-40B4-BE49-F238E27FC236}">
                <a16:creationId xmlns:a16="http://schemas.microsoft.com/office/drawing/2014/main" id="{C1234B56-78F5-4826-941F-F789A6611847}"/>
              </a:ext>
            </a:extLst>
          </p:cNvPr>
          <p:cNvSpPr>
            <a:spLocks xmlns:a="http://schemas.openxmlformats.org/drawingml/2006/main" noGrp="1"/>
          </p:cNvSpPr>
          <p:nvPr/>
        </p:nvSpPr>
        <p:spPr>
          <a:xfrm xmlns:a="http://schemas.openxmlformats.org/drawingml/2006/main">
            <a:off x="0" y="0"/>
            <a:ext cx="9144000" cy="12771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46" name="Google Shape;246;p32">
            <a:extLst xmlns:a="http://schemas.openxmlformats.org/drawingml/2006/main">
              <a:ext uri="{FF2B5EF4-FFF2-40B4-BE49-F238E27FC236}">
                <a16:creationId xmlns:a16="http://schemas.microsoft.com/office/drawing/2014/main" id="{B7F46ECD-2B4F-49D2-B76A-CBE8832DF89C}"/>
              </a:ext>
            </a:extLst>
          </p:cNvPr>
          <p:cNvSpPr>
            <a:spLocks xmlns:a="http://schemas.openxmlformats.org/drawingml/2006/main" noGrp="1"/>
          </p:cNvSpPr>
          <p:nvPr>
            <p:ph type="title" idx="0"/>
          </p:nvPr>
        </p:nvSpPr>
        <p:spPr>
          <a:xfrm xmlns:a="http://schemas.openxmlformats.org/drawingml/2006/main">
            <a:off x="311725" y="500925"/>
            <a:ext cx="8520600" cy="623700"/>
          </a:xfrm>
          <a:prstGeom xmlns:a="http://schemas.openxmlformats.org/drawingml/2006/main" prst="rect">
            <a:avLst/>
          </a:prstGeom>
        </p:spPr>
        <p:txBody>
          <a:bodyPr xmlns:a="http://schemas.openxmlformats.org/drawingml/2006/main" spcFirstLastPara="1" wrap="square" lIns="91425" tIns="91425" rIns="91425" bIns="91425" anchor="t">
            <a:normAutofit fontScale="90000"/>
          </a:bodyPr>
          <a:lstStyle xmlns:a="http://schemas.openxmlformats.org/drawingml/2006/main"/>
          <a:p xmlns:a="http://schemas.openxmlformats.org/drawingml/2006/main">
            <a:pPr marL="0" indent="0" algn="l">
              <a:spcBef>
                <a:spcPts val="0"/>
              </a:spcBef>
              <a:spcAft>
                <a:spcPts val="0"/>
              </a:spcAft>
              <a:buNone/>
            </a:pPr>
            <a:r>
              <a:t>How to Measure Trunk Rotation</a:t>
            </a:r>
          </a:p>
          <a:p xmlns:a="http://schemas.openxmlformats.org/drawingml/2006/main">
            <a:pPr marL="0" indent="0" algn="l">
              <a:spcBef>
                <a:spcPts val="0"/>
              </a:spcBef>
              <a:spcAft>
                <a:spcPts val="0"/>
              </a:spcAft>
              <a:buNone/>
            </a:pPr>
            <a:r>
              <a:t/>
            </a:r>
          </a:p>
        </p:txBody>
      </p:sp>
      <p:pic>
        <p:nvPicPr>
          <p:cNvPr id="253" name="Google Shape;247;p32"/>
          <p:cNvPicPr>
            <a:picLocks xmlns:a="http://schemas.openxmlformats.org/drawingml/2006/main" noChangeAspect="1"/>
          </p:cNvPicPr>
          <p:nvPr/>
        </p:nvPicPr>
        <p:blipFill>
          <a:blip xmlns:r="http://schemas.openxmlformats.org/officeDocument/2006/relationships" xmlns:a="http://schemas.openxmlformats.org/drawingml/2006/main" r:embed="Ra3678a1656814f98">
            <a:alphaModFix/>
          </a:blip>
          <a:stretch xmlns:a="http://schemas.openxmlformats.org/drawingml/2006/main">
            <a:fillRect l="0" t="0" r="0" b="0"/>
          </a:stretch>
        </p:blipFill>
        <p:spPr>
          <a:xfrm xmlns:a="http://schemas.openxmlformats.org/drawingml/2006/main">
            <a:off x="4572001" y="3364798"/>
            <a:ext cx="3040525" cy="623700"/>
          </a:xfrm>
          <a:prstGeom xmlns:a="http://schemas.openxmlformats.org/drawingml/2006/main" prst="rect">
            <a:avLst/>
          </a:prstGeom>
          <a:ln xmlns:a="http://schemas.openxmlformats.org/drawingml/2006/main">
            <a:noFill/>
          </a:ln>
        </p:spPr>
      </p:pic>
      <p:sp>
        <p:nvSpPr>
          <p:cNvPr id="248" name="Google Shape;248;p32">
            <a:extLst xmlns:a="http://schemas.openxmlformats.org/drawingml/2006/main">
              <a:ext uri="{FF2B5EF4-FFF2-40B4-BE49-F238E27FC236}">
                <a16:creationId xmlns:a16="http://schemas.microsoft.com/office/drawing/2014/main" id="{FB8671E6-F88D-426D-8C74-43BDB9BFE8B8}"/>
              </a:ext>
            </a:extLst>
          </p:cNvPr>
          <p:cNvSpPr>
            <a:spLocks xmlns:a="http://schemas.openxmlformats.org/drawingml/2006/main" noGrp="1"/>
          </p:cNvSpPr>
          <p:nvPr>
            <p:ph type="body" idx="1"/>
          </p:nvPr>
        </p:nvSpPr>
        <p:spPr>
          <a:xfrm xmlns:a="http://schemas.openxmlformats.org/drawingml/2006/main">
            <a:off x="311725" y="2077200"/>
            <a:ext cx="3999900" cy="1911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00" tIns="91400" rIns="91400" bIns="91400" anchor="t">
            <a:normAutofit lnSpcReduction="10000"/>
          </a:bodyPr>
          <a:lstStyle xmlns:a="http://schemas.openxmlformats.org/drawingml/2006/main"/>
          <a:p xmlns:a="http://schemas.openxmlformats.org/drawingml/2006/main">
            <a:pPr marL="0" indent="0" algn="l">
              <a:spcBef>
                <a:spcPts val="0"/>
              </a:spcBef>
              <a:spcAft>
                <a:spcPts val="0"/>
              </a:spcAft>
              <a:buNone/>
            </a:pPr>
            <a:r>
              <a:rPr sz="1300" b="1">
                <a:solidFill>
                  <a:srgbClr val="000000"/>
                </a:solidFill>
                <a:latin typeface="Arial"/>
                <a:ea typeface="Arial"/>
                <a:cs typeface="Arial"/>
              </a:rPr>
              <a:t>Test Configuration</a:t>
            </a:r>
          </a:p>
          <a:p xmlns:a="http://schemas.openxmlformats.org/drawingml/2006/main">
            <a:pPr marL="0" indent="0" algn="l">
              <a:spcBef>
                <a:spcPts val="400"/>
              </a:spcBef>
              <a:spcAft>
                <a:spcPts val="0"/>
              </a:spcAft>
              <a:buNone/>
            </a:pPr>
            <a:r>
              <a:rPr sz="1100" b="1">
                <a:solidFill>
                  <a:srgbClr val="000000"/>
                </a:solidFill>
                <a:latin typeface="Arial"/>
                <a:ea typeface="Arial"/>
                <a:cs typeface="Arial"/>
              </a:rPr>
              <a:t>Positioning:</a:t>
            </a:r>
            <a:r>
              <a:rPr sz="1100" b="0">
                <a:solidFill>
                  <a:srgbClr val="000000"/>
                </a:solidFill>
                <a:latin typeface="Arial"/>
                <a:ea typeface="Arial"/>
                <a:cs typeface="Arial"/>
              </a:rPr>
              <a:t> The </a:t>
            </a:r>
            <a:r>
              <a:rPr sz="1100">
                <a:solidFill>
                  <a:srgbClr val="000000"/>
                </a:solidFill>
                <a:latin typeface="Arial"/>
                <a:ea typeface="Arial"/>
                <a:cs typeface="Arial"/>
              </a:rPr>
              <a:t>participant</a:t>
            </a:r>
            <a:r>
              <a:rPr sz="1100" b="0">
                <a:solidFill>
                  <a:srgbClr val="000000"/>
                </a:solidFill>
                <a:latin typeface="Arial"/>
                <a:ea typeface="Arial"/>
                <a:cs typeface="Arial"/>
              </a:rPr>
              <a:t> sits upright on a backless chair or bench, feet flat on the floor, with knees and hips flexed at 90°. </a:t>
            </a:r>
          </a:p>
          <a:p xmlns:a="http://schemas.openxmlformats.org/drawingml/2006/main">
            <a:pPr marL="0" indent="0" algn="l">
              <a:spcBef>
                <a:spcPts val="400"/>
              </a:spcBef>
              <a:spcAft>
                <a:spcPts val="400"/>
              </a:spcAft>
              <a:buNone/>
            </a:pPr>
            <a:r>
              <a:rPr sz="1100" b="1">
                <a:solidFill>
                  <a:srgbClr val="000000"/>
                </a:solidFill>
                <a:latin typeface="Arial"/>
                <a:ea typeface="Arial"/>
                <a:cs typeface="Arial"/>
              </a:rPr>
              <a:t>Math:</a:t>
            </a:r>
            <a:r>
              <a:rPr sz="1100" b="0">
                <a:solidFill>
                  <a:srgbClr val="000000"/>
                </a:solidFill>
                <a:latin typeface="Arial"/>
                <a:ea typeface="Arial"/>
                <a:cs typeface="Arial"/>
              </a:rPr>
              <a:t> If using IMUs, the rotation angle θ_trunk is computed by establishing a vector connecting the two acromion processes (v_shoulder) relative to a fixed pelvic vector (v_pelvis) across the anterior superior iliac spines (ASIS). The angle in the transverse plane is given by:</a:t>
            </a:r>
          </a:p>
        </p:txBody>
      </p:sp>
      <p:sp>
        <p:nvSpPr>
          <p:cNvPr id="249" name="Google Shape;249;p32">
            <a:extLst xmlns:a="http://schemas.openxmlformats.org/drawingml/2006/main">
              <a:ext uri="{FF2B5EF4-FFF2-40B4-BE49-F238E27FC236}">
                <a16:creationId xmlns:a16="http://schemas.microsoft.com/office/drawing/2014/main" id="{5315CE36-93A8-4426-9279-C3E8AF45EB06}"/>
              </a:ext>
            </a:extLst>
          </p:cNvPr>
          <p:cNvSpPr>
            <a:spLocks xmlns:a="http://schemas.openxmlformats.org/drawingml/2006/main" noGrp="1"/>
          </p:cNvSpPr>
          <p:nvPr>
            <p:ph type="body" idx="1"/>
          </p:nvPr>
        </p:nvSpPr>
        <p:spPr>
          <a:xfrm xmlns:a="http://schemas.openxmlformats.org/drawingml/2006/main">
            <a:off x="4572000" y="2080450"/>
            <a:ext cx="3999900" cy="13962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00" tIns="91400" rIns="91400" bIns="91400" anchor="t">
            <a:normAutofit/>
          </a:bodyPr>
          <a:lstStyle xmlns:a="http://schemas.openxmlformats.org/drawingml/2006/main"/>
          <a:p xmlns:a="http://schemas.openxmlformats.org/drawingml/2006/main">
            <a:pPr marL="0" indent="0" algn="l">
              <a:spcBef>
                <a:spcPts val="0"/>
              </a:spcBef>
              <a:spcAft>
                <a:spcPts val="0"/>
              </a:spcAft>
              <a:buNone/>
            </a:pPr>
            <a:r>
              <a:rPr b="1">
                <a:solidFill>
                  <a:srgbClr val="000000"/>
                </a:solidFill>
                <a:latin typeface="Arial"/>
                <a:ea typeface="Arial"/>
                <a:cs typeface="Arial"/>
              </a:rPr>
              <a:t>Setup</a:t>
            </a:r>
          </a:p>
          <a:p xmlns:a="http://schemas.openxmlformats.org/drawingml/2006/main">
            <a:pPr marL="0" indent="0" algn="l">
              <a:spcBef>
                <a:spcPts val="400"/>
              </a:spcBef>
              <a:spcAft>
                <a:spcPts val="0"/>
              </a:spcAft>
              <a:buNone/>
            </a:pPr>
            <a:r>
              <a:rPr sz="1100" b="1">
                <a:solidFill>
                  <a:srgbClr val="000000"/>
                </a:solidFill>
                <a:latin typeface="Arial"/>
                <a:ea typeface="Arial"/>
                <a:cs typeface="Arial"/>
              </a:rPr>
              <a:t>IMUs</a:t>
            </a:r>
            <a:r>
              <a:rPr sz="1100" b="1">
                <a:solidFill>
                  <a:srgbClr val="000000"/>
                </a:solidFill>
                <a:latin typeface="Arial"/>
                <a:ea typeface="Arial"/>
                <a:cs typeface="Arial"/>
              </a:rPr>
              <a:t>:</a:t>
            </a:r>
            <a:r>
              <a:rPr sz="1100" b="0">
                <a:solidFill>
                  <a:srgbClr val="000000"/>
                </a:solidFill>
                <a:latin typeface="Arial"/>
                <a:ea typeface="Arial"/>
                <a:cs typeface="Arial"/>
              </a:rPr>
              <a:t> </a:t>
            </a:r>
          </a:p>
          <a:p xmlns:a="http://schemas.openxmlformats.org/drawingml/2006/main">
            <a:pPr marL="457200" indent="-298450" algn="l">
              <a:spcBef>
                <a:spcPts val="400"/>
              </a:spcBef>
              <a:spcAft>
                <a:spcPts val="0"/>
              </a:spcAft>
              <a:buClr>
                <a:srgbClr val="000000"/>
              </a:buClr>
              <a:buSzPts val="1100"/>
              <a:buFont typeface="Arial"/>
              <a:buAutoNum type="arabicPeriod"/>
            </a:pPr>
            <a:r>
              <a:rPr sz="1100">
                <a:solidFill>
                  <a:srgbClr val="000000"/>
                </a:solidFill>
                <a:latin typeface="Arial"/>
                <a:ea typeface="Arial"/>
                <a:cs typeface="Arial"/>
              </a:rPr>
              <a:t>Two IMUs at the clavicle (left and right)</a:t>
            </a:r>
          </a:p>
          <a:p xmlns:a="http://schemas.openxmlformats.org/drawingml/2006/main">
            <a:pPr marL="457200" indent="-298450" algn="l">
              <a:spcBef>
                <a:spcPts val="0"/>
              </a:spcBef>
              <a:spcAft>
                <a:spcPts val="0"/>
              </a:spcAft>
              <a:buClr>
                <a:srgbClr val="000000"/>
              </a:buClr>
              <a:buSzPts val="1100"/>
              <a:buFont typeface="Arial"/>
              <a:buAutoNum type="arabicPeriod"/>
            </a:pPr>
            <a:r>
              <a:rPr sz="1100">
                <a:solidFill>
                  <a:srgbClr val="000000"/>
                </a:solidFill>
                <a:latin typeface="Arial"/>
                <a:ea typeface="Arial"/>
                <a:cs typeface="Arial"/>
              </a:rPr>
              <a:t>One IMU at the pelvis</a:t>
            </a:r>
          </a:p>
        </p:txBody>
      </p:sp>
    </p:spTree>
    <p:extLst>
      <p:ext uri="{BB962C8B-B14F-4D97-AF65-F5344CB8AC3E}">
        <p14:creationId xmlns:p14="http://schemas.microsoft.com/office/powerpoint/2010/main" val="2127487839"/>
      </p:ext>
    </p:extLst>
  </p:cSld>
</p:sld>
</file>

<file path=ppt/slides/slide24.xml><?xml version="1.0" encoding="utf-8"?>
<p:sld xmlns:p="http://schemas.openxmlformats.org/presentationml/2006/main">
  <p:cSld>
    <p:bg>
      <p:bgPr>
        <a:blipFill xmlns:a="http://schemas.openxmlformats.org/drawingml/2006/main">
          <a:blip xmlns:r="http://schemas.openxmlformats.org/officeDocument/2006/relationships" r:embed="R3f13daeb04e64689">
            <a:alphaModFix/>
          </a:blip>
          <a:stretch>
            <a:fillRect l="0" t="0" r="0" b="0"/>
          </a:stretch>
        </a:blipFill>
      </p:bgPr>
    </p:bg>
    <p:spTree>
      <p:nvGrpSpPr>
        <p:cNvPr id="1" name=""/>
        <p:cNvGrpSpPr/>
        <p:nvPr/>
      </p:nvGrpSpPr>
      <p:grpSpPr>
        <a:xfrm xmlns:a="http://schemas.openxmlformats.org/drawingml/2006/main"/>
      </p:grpSpPr>
      <p:sp>
        <p:nvSpPr>
          <p:cNvPr id="254" name="Google Shape;254;p33">
            <a:extLst xmlns:a="http://schemas.openxmlformats.org/drawingml/2006/main">
              <a:ext uri="{FF2B5EF4-FFF2-40B4-BE49-F238E27FC236}">
                <a16:creationId xmlns:a16="http://schemas.microsoft.com/office/drawing/2014/main" id="{1301493E-10B0-4B36-A028-F6C72D9C15DA}"/>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55" name="Google Shape;255;p33">
            <a:extLst xmlns:a="http://schemas.openxmlformats.org/drawingml/2006/main">
              <a:ext uri="{FF2B5EF4-FFF2-40B4-BE49-F238E27FC236}">
                <a16:creationId xmlns:a16="http://schemas.microsoft.com/office/drawing/2014/main" id="{8497F257-C9C5-4FB6-AF82-B55AE342F42D}"/>
              </a:ext>
            </a:extLst>
          </p:cNvPr>
          <p:cNvSpPr>
            <a:spLocks xmlns:a="http://schemas.openxmlformats.org/drawingml/2006/main" noGrp="1"/>
          </p:cNvSpPr>
          <p:nvPr/>
        </p:nvSpPr>
        <p:spPr>
          <a:xfrm xmlns:a="http://schemas.openxmlformats.org/drawingml/2006/main">
            <a:off x="0" y="44125"/>
            <a:ext cx="4313625" cy="4399375"/>
          </a:xfrm>
          <a:custGeom xmlns:a="http://schemas.openxmlformats.org/drawingml/2006/main">
            <a:rect l="l" t="t" r="r" b="b"/>
            <a:pathLst>
              <a:path w="172545" h="175975">
                <a:moveTo>
                  <a:pt x="0" y="157"/>
                </a:moveTo>
                <a:lnTo>
                  <a:pt x="172419" y="0"/>
                </a:lnTo>
                <a:lnTo>
                  <a:pt x="172545" y="126541"/>
                </a:lnTo>
                <a:lnTo>
                  <a:pt x="0" y="175975"/>
                </a:lnTo>
                <a:close/>
              </a:path>
            </a:pathLst>
          </a:custGeom>
          <a:solidFill xmlns:a="http://schemas.openxmlformats.org/drawingml/2006/main">
            <a:schemeClr val="accent2"/>
          </a:solidFill>
          <a:ln xmlns:a="http://schemas.openxmlformats.org/drawingml/2006/main">
            <a:noFill/>
          </a:ln>
        </p:spPr>
      </p:sp>
      <p:sp>
        <p:nvSpPr>
          <p:cNvPr id="256" name="Google Shape;256;p33">
            <a:extLst xmlns:a="http://schemas.openxmlformats.org/drawingml/2006/main">
              <a:ext uri="{FF2B5EF4-FFF2-40B4-BE49-F238E27FC236}">
                <a16:creationId xmlns:a16="http://schemas.microsoft.com/office/drawing/2014/main" id="{D9C5EE76-987F-4409-B743-4C3E94B80D61}"/>
              </a:ext>
            </a:extLst>
          </p:cNvPr>
          <p:cNvSpPr>
            <a:spLocks xmlns:a="http://schemas.openxmlformats.org/drawingml/2006/main" noGrp="1"/>
          </p:cNvSpPr>
          <p:nvPr/>
        </p:nvSpPr>
        <p:spPr>
          <a:xfrm xmlns:a="http://schemas.openxmlformats.org/drawingml/2006/main">
            <a:off x="-125" y="0"/>
            <a:ext cx="4316900" cy="4395600"/>
          </a:xfrm>
          <a:custGeom xmlns:a="http://schemas.openxmlformats.org/drawingml/2006/main">
            <a:rect l="l" t="t" r="r" b="b"/>
            <a:pathLst>
              <a:path w="172676" h="175824">
                <a:moveTo>
                  <a:pt x="0" y="6"/>
                </a:moveTo>
                <a:lnTo>
                  <a:pt x="172676" y="0"/>
                </a:lnTo>
                <a:lnTo>
                  <a:pt x="172562" y="126442"/>
                </a:lnTo>
                <a:lnTo>
                  <a:pt x="0" y="175824"/>
                </a:lnTo>
                <a:close/>
              </a:path>
            </a:pathLst>
          </a:custGeom>
          <a:solidFill xmlns:a="http://schemas.openxmlformats.org/drawingml/2006/main">
            <a:schemeClr val="dk1"/>
          </a:solidFill>
          <a:ln xmlns:a="http://schemas.openxmlformats.org/drawingml/2006/main">
            <a:noFill/>
          </a:ln>
        </p:spPr>
      </p:sp>
      <p:sp>
        <p:nvSpPr>
          <p:cNvPr id="257" name="Google Shape;257;p33">
            <a:extLst xmlns:a="http://schemas.openxmlformats.org/drawingml/2006/main">
              <a:ext uri="{FF2B5EF4-FFF2-40B4-BE49-F238E27FC236}">
                <a16:creationId xmlns:a16="http://schemas.microsoft.com/office/drawing/2014/main" id="{ED64D608-960A-41A4-90CC-0B83277AED16}"/>
              </a:ext>
            </a:extLst>
          </p:cNvPr>
          <p:cNvSpPr>
            <a:spLocks xmlns:a="http://schemas.openxmlformats.org/drawingml/2006/main" noGrp="1"/>
          </p:cNvSpPr>
          <p:nvPr>
            <p:ph type="title" idx="0"/>
          </p:nvPr>
        </p:nvSpPr>
        <p:spPr>
          <a:xfrm xmlns:a="http://schemas.openxmlformats.org/drawingml/2006/main">
            <a:off x="381000" y="571500"/>
            <a:ext cx="3524400" cy="2858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indent="0" algn="l">
              <a:spcBef>
                <a:spcPts val="0"/>
              </a:spcBef>
              <a:spcAft>
                <a:spcPts val="0"/>
              </a:spcAft>
              <a:buNone/>
            </a:pPr>
            <a:r>
              <a:rPr sz="3600" b="1">
                <a:solidFill>
                  <a:srgbClr val="FFFFFF"/>
                </a:solidFill>
                <a:latin typeface="Merriweather"/>
                <a:ea typeface="Merriweather"/>
                <a:cs typeface="Merriweather"/>
              </a:rPr>
              <a:t>Trunk Rotation:</a:t>
            </a:r>
          </a:p>
          <a:p xmlns:a="http://schemas.openxmlformats.org/drawingml/2006/main">
            <a:pPr marL="0" indent="0" algn="l">
              <a:spcBef>
                <a:spcPts val="750"/>
              </a:spcBef>
              <a:spcAft>
                <a:spcPts val="0"/>
              </a:spcAft>
              <a:buNone/>
            </a:pPr>
            <a:r>
              <a:rPr sz="2300" b="0">
                <a:solidFill>
                  <a:srgbClr val="FFFFFF"/>
                </a:solidFill>
                <a:latin typeface="Merriweather"/>
                <a:ea typeface="Merriweather"/>
                <a:cs typeface="Merriweather"/>
              </a:rPr>
              <a:t>Possible Compensation and Cheating Mechanisms</a:t>
            </a:r>
          </a:p>
        </p:txBody>
      </p:sp>
      <p:sp>
        <p:nvSpPr>
          <p:cNvPr id="259" name="Google Shape;259;p33">
            <a:extLst xmlns:a="http://schemas.openxmlformats.org/drawingml/2006/main">
              <a:ext uri="{FF2B5EF4-FFF2-40B4-BE49-F238E27FC236}">
                <a16:creationId xmlns:a16="http://schemas.microsoft.com/office/drawing/2014/main" id="{08A87A56-AEFE-4CA9-A29C-3F5DE6DAFFEB}"/>
              </a:ext>
            </a:extLst>
          </p:cNvPr>
          <p:cNvSpPr>
            <a:spLocks xmlns:a="http://schemas.openxmlformats.org/drawingml/2006/main" noGrp="1"/>
          </p:cNvSpPr>
          <p:nvPr/>
        </p:nvSpPr>
        <p:spPr>
          <a:xfrm xmlns:a="http://schemas.openxmlformats.org/drawingml/2006/main" rot="0" flipH="0" flipV="0">
            <a:off x="4667250" y="380993"/>
            <a:ext cx="4095900" cy="1059628"/>
          </a:xfrm>
          <a:prstGeom xmlns:a="http://schemas.openxmlformats.org/drawingml/2006/main" prst="roundRect">
            <a:avLst>
              <a:gd name="adj" fmla="val 5925"/>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0" name="Google Shape;260;p33">
            <a:extLst xmlns:a="http://schemas.openxmlformats.org/drawingml/2006/main">
              <a:ext uri="{FF2B5EF4-FFF2-40B4-BE49-F238E27FC236}">
                <a16:creationId xmlns:a16="http://schemas.microsoft.com/office/drawing/2014/main" id="{48FCA296-E784-4E64-A67A-B999DE207FF3}"/>
              </a:ext>
            </a:extLst>
          </p:cNvPr>
          <p:cNvSpPr>
            <a:spLocks xmlns:a="http://schemas.openxmlformats.org/drawingml/2006/main" noGrp="1"/>
          </p:cNvSpPr>
          <p:nvPr/>
        </p:nvSpPr>
        <p:spPr>
          <a:xfrm xmlns:a="http://schemas.openxmlformats.org/drawingml/2006/main" rot="0" flipH="0" flipV="0">
            <a:off x="4810125" y="459488"/>
            <a:ext cx="3810000" cy="902636"/>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1. Pelvic and Hip Shifting</a:t>
            </a:r>
          </a:p>
          <a:p xmlns:a="http://schemas.openxmlformats.org/drawingml/2006/main">
            <a:pPr marL="0" indent="0" algn="l">
              <a:spcBef>
                <a:spcPts val="450"/>
              </a:spcBef>
              <a:spcAft>
                <a:spcPts val="0"/>
              </a:spcAft>
              <a:buNone/>
            </a:pPr>
            <a:r>
              <a:rPr sz="1100" b="1">
                <a:solidFill>
                  <a:srgbClr val="475569"/>
                </a:solidFill>
                <a:latin typeface="Roboto"/>
                <a:ea typeface="Roboto"/>
                <a:cs typeface="Roboto"/>
              </a:rPr>
              <a:t>Mechanism:</a:t>
            </a:r>
            <a:r>
              <a:rPr sz="1100" b="0">
                <a:solidFill>
                  <a:srgbClr val="64748B"/>
                </a:solidFill>
                <a:latin typeface="Roboto"/>
                <a:ea typeface="Roboto"/>
                <a:cs typeface="Roboto"/>
              </a:rPr>
              <a:t> Subject slides knee forward or lifts hip, rotating pelvis in transverse plane.</a:t>
            </a:r>
          </a:p>
          <a:p xmlns:a="http://schemas.openxmlformats.org/drawingml/2006/main">
            <a:pPr marL="0" indent="0" algn="l">
              <a:spcBef>
                <a:spcPts val="300"/>
              </a:spcBef>
              <a:spcAft>
                <a:spcPts val="0"/>
              </a:spcAft>
              <a:buNone/>
            </a:pPr>
            <a:r>
              <a:rPr sz="1100" b="1">
                <a:solidFill>
                  <a:srgbClr val="059669"/>
                </a:solidFill>
                <a:latin typeface="Roboto"/>
                <a:ea typeface="Roboto"/>
                <a:cs typeface="Roboto"/>
              </a:rPr>
              <a:t>Detection:</a:t>
            </a:r>
            <a:r>
              <a:rPr sz="1100" b="0">
                <a:solidFill>
                  <a:srgbClr val="64748B"/>
                </a:solidFill>
                <a:latin typeface="Roboto"/>
                <a:ea typeface="Roboto"/>
                <a:cs typeface="Roboto"/>
              </a:rPr>
              <a:t> </a:t>
            </a:r>
            <a:r>
              <a:rPr sz="1100">
                <a:solidFill>
                  <a:srgbClr val="64748B"/>
                </a:solidFill>
                <a:latin typeface="Roboto"/>
                <a:ea typeface="Roboto"/>
                <a:cs typeface="Roboto"/>
              </a:rPr>
              <a:t>Detection over Thigh IMUs</a:t>
            </a:r>
          </a:p>
        </p:txBody>
      </p:sp>
      <p:sp>
        <p:nvSpPr>
          <p:cNvPr id="262" name="Google Shape;262;p33">
            <a:extLst xmlns:a="http://schemas.openxmlformats.org/drawingml/2006/main">
              <a:ext uri="{FF2B5EF4-FFF2-40B4-BE49-F238E27FC236}">
                <a16:creationId xmlns:a16="http://schemas.microsoft.com/office/drawing/2014/main" id="{4767099E-7442-419C-A904-57091A61730A}"/>
              </a:ext>
            </a:extLst>
          </p:cNvPr>
          <p:cNvSpPr>
            <a:spLocks xmlns:a="http://schemas.openxmlformats.org/drawingml/2006/main" noGrp="1"/>
          </p:cNvSpPr>
          <p:nvPr/>
        </p:nvSpPr>
        <p:spPr>
          <a:xfrm xmlns:a="http://schemas.openxmlformats.org/drawingml/2006/main" rot="0" flipH="0" flipV="0">
            <a:off x="4667250" y="1857440"/>
            <a:ext cx="4095900" cy="1160899"/>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3" name="Google Shape;263;p33">
            <a:extLst xmlns:a="http://schemas.openxmlformats.org/drawingml/2006/main">
              <a:ext uri="{FF2B5EF4-FFF2-40B4-BE49-F238E27FC236}">
                <a16:creationId xmlns:a16="http://schemas.microsoft.com/office/drawing/2014/main" id="{3EBD43AB-7B51-4268-90C8-EA37E6E8B1CB}"/>
              </a:ext>
            </a:extLst>
          </p:cNvPr>
          <p:cNvSpPr>
            <a:spLocks xmlns:a="http://schemas.openxmlformats.org/drawingml/2006/main" noGrp="1"/>
          </p:cNvSpPr>
          <p:nvPr/>
        </p:nvSpPr>
        <p:spPr>
          <a:xfrm xmlns:a="http://schemas.openxmlformats.org/drawingml/2006/main" rot="0" flipH="0" flipV="0">
            <a:off x="4810125" y="1937497"/>
            <a:ext cx="3810000" cy="930685"/>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293B"/>
                </a:solidFill>
                <a:latin typeface="Roboto"/>
                <a:ea typeface="Roboto"/>
                <a:cs typeface="Roboto"/>
              </a:rPr>
              <a:t>2. Shoulder Cheating</a:t>
            </a:r>
          </a:p>
          <a:p xmlns:a="http://schemas.openxmlformats.org/drawingml/2006/main">
            <a:pPr marL="0" indent="0" algn="l">
              <a:spcBef>
                <a:spcPts val="450"/>
              </a:spcBef>
              <a:spcAft>
                <a:spcPts val="0"/>
              </a:spcAft>
              <a:buNone/>
            </a:pPr>
            <a:r>
              <a:rPr sz="1100" b="1">
                <a:solidFill>
                  <a:srgbClr val="475569"/>
                </a:solidFill>
                <a:latin typeface="Roboto"/>
                <a:ea typeface="Roboto"/>
                <a:cs typeface="Roboto"/>
              </a:rPr>
              <a:t>Mechanism:</a:t>
            </a:r>
            <a:r>
              <a:rPr sz="1100" b="0">
                <a:solidFill>
                  <a:srgbClr val="64748B"/>
                </a:solidFill>
                <a:latin typeface="Roboto"/>
                <a:ea typeface="Roboto"/>
                <a:cs typeface="Roboto"/>
              </a:rPr>
              <a:t> Independent shoulder movement (protraction/retraction) when arms/shoulders aren't locked.</a:t>
            </a:r>
          </a:p>
          <a:p xmlns:a="http://schemas.openxmlformats.org/drawingml/2006/main">
            <a:pPr marL="0" indent="0" algn="l">
              <a:spcBef>
                <a:spcPts val="300"/>
              </a:spcBef>
              <a:spcAft>
                <a:spcPts val="0"/>
              </a:spcAft>
              <a:buNone/>
            </a:pPr>
            <a:r>
              <a:rPr sz="1100" b="1">
                <a:solidFill>
                  <a:srgbClr val="059669"/>
                </a:solidFill>
                <a:latin typeface="Roboto"/>
                <a:ea typeface="Roboto"/>
                <a:cs typeface="Roboto"/>
              </a:rPr>
              <a:t>Detection:</a:t>
            </a:r>
            <a:r>
              <a:rPr sz="1100" b="0">
                <a:solidFill>
                  <a:srgbClr val="64748B"/>
                </a:solidFill>
                <a:latin typeface="Roboto"/>
                <a:ea typeface="Roboto"/>
                <a:cs typeface="Roboto"/>
              </a:rPr>
              <a:t> Thoracic spine is static; track T1 sensor relative to acromion markers.</a:t>
            </a:r>
          </a:p>
        </p:txBody>
      </p:sp>
      <p:sp>
        <p:nvSpPr>
          <p:cNvPr id="265" name="Google Shape;265;p33">
            <a:extLst xmlns:a="http://schemas.openxmlformats.org/drawingml/2006/main">
              <a:ext uri="{FF2B5EF4-FFF2-40B4-BE49-F238E27FC236}">
                <a16:creationId xmlns:a16="http://schemas.microsoft.com/office/drawing/2014/main" id="{E73BA17F-94CE-4D5D-AF69-42C99EB34284}"/>
              </a:ext>
            </a:extLst>
          </p:cNvPr>
          <p:cNvSpPr>
            <a:spLocks xmlns:a="http://schemas.openxmlformats.org/drawingml/2006/main" noGrp="1"/>
          </p:cNvSpPr>
          <p:nvPr/>
        </p:nvSpPr>
        <p:spPr>
          <a:xfrm xmlns:a="http://schemas.openxmlformats.org/drawingml/2006/main" rot="0" flipH="0" flipV="0">
            <a:off x="4667250" y="3429000"/>
            <a:ext cx="4095900" cy="1333500"/>
          </a:xfrm>
          <a:prstGeom xmlns:a="http://schemas.openxmlformats.org/drawingml/2006/main" prst="roundRect">
            <a:avLst>
              <a:gd name="adj" fmla="val 5714"/>
            </a:avLst>
          </a:prstGeom>
          <a:solidFill xmlns:a="http://schemas.openxmlformats.org/drawingml/2006/main">
            <a:srgbClr val="EFF6FF"/>
          </a:solidFill>
          <a:ln xmlns:a="http://schemas.openxmlformats.org/drawingml/2006/main" w="9525" cmpd="sng">
            <a:solidFill>
              <a:srgbClr val="BFDBFE"/>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66" name="Google Shape;266;p33">
            <a:extLst xmlns:a="http://schemas.openxmlformats.org/drawingml/2006/main">
              <a:ext uri="{FF2B5EF4-FFF2-40B4-BE49-F238E27FC236}">
                <a16:creationId xmlns:a16="http://schemas.microsoft.com/office/drawing/2014/main" id="{A0B2D101-53B4-4E5F-9AA3-DF1283D6DC24}"/>
              </a:ext>
            </a:extLst>
          </p:cNvPr>
          <p:cNvSpPr>
            <a:spLocks xmlns:a="http://schemas.openxmlformats.org/drawingml/2006/main" noGrp="1"/>
          </p:cNvSpPr>
          <p:nvPr/>
        </p:nvSpPr>
        <p:spPr>
          <a:xfrm xmlns:a="http://schemas.openxmlformats.org/drawingml/2006/main" rot="0" flipH="0" flipV="0">
            <a:off x="4810125" y="3524250"/>
            <a:ext cx="3810000" cy="11430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300" b="1">
                <a:solidFill>
                  <a:srgbClr val="1E3A8A"/>
                </a:solidFill>
                <a:latin typeface="Roboto"/>
                <a:ea typeface="Roboto"/>
                <a:cs typeface="Roboto"/>
              </a:rPr>
              <a:t>3. Lateral Spine Flexion</a:t>
            </a:r>
          </a:p>
          <a:p xmlns:a="http://schemas.openxmlformats.org/drawingml/2006/main">
            <a:pPr marL="0" indent="0" algn="l">
              <a:spcBef>
                <a:spcPts val="450"/>
              </a:spcBef>
              <a:spcAft>
                <a:spcPts val="0"/>
              </a:spcAft>
              <a:buNone/>
            </a:pPr>
            <a:r>
              <a:rPr sz="1100" b="1">
                <a:solidFill>
                  <a:srgbClr val="1E40AF"/>
                </a:solidFill>
                <a:latin typeface="Roboto"/>
                <a:ea typeface="Roboto"/>
                <a:cs typeface="Roboto"/>
              </a:rPr>
              <a:t>Mechanism:</a:t>
            </a:r>
            <a:r>
              <a:rPr sz="1100" b="0">
                <a:solidFill>
                  <a:srgbClr val="1E40AF"/>
                </a:solidFill>
                <a:latin typeface="Roboto"/>
                <a:ea typeface="Roboto"/>
                <a:cs typeface="Roboto"/>
              </a:rPr>
              <a:t> Combines rotation with lateral tilt (side-bend) via lumbar coupling.</a:t>
            </a:r>
          </a:p>
          <a:p xmlns:a="http://schemas.openxmlformats.org/drawingml/2006/main">
            <a:pPr marL="0" indent="0" algn="l">
              <a:spcBef>
                <a:spcPts val="300"/>
              </a:spcBef>
              <a:spcAft>
                <a:spcPts val="0"/>
              </a:spcAft>
              <a:buNone/>
            </a:pPr>
            <a:r>
              <a:rPr sz="1100" b="1">
                <a:solidFill>
                  <a:srgbClr val="B91C1C"/>
                </a:solidFill>
                <a:latin typeface="Roboto"/>
                <a:ea typeface="Roboto"/>
                <a:cs typeface="Roboto"/>
              </a:rPr>
              <a:t>Detection:</a:t>
            </a:r>
            <a:r>
              <a:rPr sz="1100" b="0">
                <a:solidFill>
                  <a:srgbClr val="1E40AF"/>
                </a:solidFill>
                <a:latin typeface="Roboto"/>
                <a:ea typeface="Roboto"/>
                <a:cs typeface="Roboto"/>
              </a:rPr>
              <a:t> Look for sudden deviation in coronal plane (Y-axis roll/velocity).</a:t>
            </a:r>
          </a:p>
        </p:txBody>
      </p:sp>
    </p:spTree>
    <p:extLst>
      <p:ext uri="{BB962C8B-B14F-4D97-AF65-F5344CB8AC3E}">
        <p14:creationId xmlns:p14="http://schemas.microsoft.com/office/powerpoint/2010/main" val="694342135"/>
      </p:ext>
    </p:extLst>
  </p:cSld>
</p:sld>
</file>

<file path=ppt/slides/slide2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1" name="Google Shape;271;p34">
            <a:extLst xmlns:a="http://schemas.openxmlformats.org/drawingml/2006/main">
              <a:ext uri="{FF2B5EF4-FFF2-40B4-BE49-F238E27FC236}">
                <a16:creationId xmlns:a16="http://schemas.microsoft.com/office/drawing/2014/main" id="{4A784EED-3906-42C1-B6E1-A4F7FC8E524D}"/>
              </a:ext>
            </a:extLst>
          </p:cNvPr>
          <p:cNvSpPr>
            <a:spLocks xmlns:a="http://schemas.openxmlformats.org/drawingml/2006/main" noGrp="1"/>
          </p:cNvSpPr>
          <p:nvPr/>
        </p:nvSpPr>
        <p:spPr>
          <a:xfrm xmlns:a="http://schemas.openxmlformats.org/drawingml/2006/main">
            <a:off x="0" y="0"/>
            <a:ext cx="4314000" cy="5143500"/>
          </a:xfrm>
          <a:prstGeom xmlns:a="http://schemas.openxmlformats.org/drawingml/2006/main" prst="rect">
            <a:avLst/>
          </a:prstGeom>
          <a:solidFill xmlns:a="http://schemas.openxmlformats.org/drawingml/2006/main">
            <a:srgbClr val="31394D"/>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2" name="Google Shape;272;p34">
            <a:extLst xmlns:a="http://schemas.openxmlformats.org/drawingml/2006/main">
              <a:ext uri="{FF2B5EF4-FFF2-40B4-BE49-F238E27FC236}">
                <a16:creationId xmlns:a16="http://schemas.microsoft.com/office/drawing/2014/main" id="{85CFE74E-1EBD-4EA0-9EAA-0DCB2867C1EA}"/>
              </a:ext>
            </a:extLst>
          </p:cNvPr>
          <p:cNvSpPr>
            <a:spLocks xmlns:a="http://schemas.openxmlformats.org/drawingml/2006/main" noGrp="1"/>
          </p:cNvSpPr>
          <p:nvPr/>
        </p:nvSpPr>
        <p:spPr>
          <a:xfrm xmlns:a="http://schemas.openxmlformats.org/drawingml/2006/main">
            <a:off x="381000" y="571500"/>
            <a:ext cx="3524400" cy="2857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2800" b="1">
                <a:solidFill>
                  <a:srgbClr val="FFFFFF"/>
                </a:solidFill>
                <a:latin typeface="Merriweather"/>
                <a:ea typeface="Merriweather"/>
                <a:cs typeface="Merriweather"/>
              </a:rPr>
              <a:t>Hip Flexion</a:t>
            </a:r>
          </a:p>
          <a:p xmlns:a="http://schemas.openxmlformats.org/drawingml/2006/main">
            <a:pPr marL="0" indent="0" algn="l">
              <a:spcBef>
                <a:spcPts val="0"/>
              </a:spcBef>
              <a:spcAft>
                <a:spcPts val="0"/>
              </a:spcAft>
              <a:buNone/>
            </a:pPr>
            <a:r>
              <a:rPr sz="2300" b="1">
                <a:solidFill>
                  <a:srgbClr val="FFFFFF"/>
                </a:solidFill>
                <a:latin typeface="Merriweather"/>
                <a:ea typeface="Merriweather"/>
                <a:cs typeface="Merriweather"/>
              </a:rPr>
              <a:t>Possible Compensation and Cheating Mechanisms</a:t>
            </a:r>
          </a:p>
        </p:txBody>
      </p:sp>
      <p:sp>
        <p:nvSpPr>
          <p:cNvPr id="274" name="Google Shape;274;p34">
            <a:extLst xmlns:a="http://schemas.openxmlformats.org/drawingml/2006/main">
              <a:ext uri="{FF2B5EF4-FFF2-40B4-BE49-F238E27FC236}">
                <a16:creationId xmlns:a16="http://schemas.microsoft.com/office/drawing/2014/main" id="{C9336F44-3D66-4D84-887D-91CC1431E02E}"/>
              </a:ext>
            </a:extLst>
          </p:cNvPr>
          <p:cNvSpPr>
            <a:spLocks xmlns:a="http://schemas.openxmlformats.org/drawingml/2006/main" noGrp="1"/>
          </p:cNvSpPr>
          <p:nvPr/>
        </p:nvSpPr>
        <p:spPr>
          <a:xfrm xmlns:a="http://schemas.openxmlformats.org/drawingml/2006/main" rot="0" flipH="0" flipV="0">
            <a:off x="4667250" y="476250"/>
            <a:ext cx="4095900" cy="1047900"/>
          </a:xfrm>
          <a:prstGeom xmlns:a="http://schemas.openxmlformats.org/drawingml/2006/main" prst="roundRect">
            <a:avLst>
              <a:gd name="adj" fmla="val 7272"/>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5" name="Google Shape;275;p34">
            <a:extLst xmlns:a="http://schemas.openxmlformats.org/drawingml/2006/main">
              <a:ext uri="{FF2B5EF4-FFF2-40B4-BE49-F238E27FC236}">
                <a16:creationId xmlns:a16="http://schemas.microsoft.com/office/drawing/2014/main" id="{D3304B7C-B6FA-4569-AC17-2EC072EFF171}"/>
              </a:ext>
            </a:extLst>
          </p:cNvPr>
          <p:cNvSpPr>
            <a:spLocks xmlns:a="http://schemas.openxmlformats.org/drawingml/2006/main" noGrp="1"/>
          </p:cNvSpPr>
          <p:nvPr/>
        </p:nvSpPr>
        <p:spPr>
          <a:xfrm xmlns:a="http://schemas.openxmlformats.org/drawingml/2006/main" rot="0" flipH="0" flipV="0">
            <a:off x="4810125" y="571500"/>
            <a:ext cx="3810000" cy="8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300" b="1">
                <a:solidFill>
                  <a:srgbClr val="31394D"/>
                </a:solidFill>
                <a:latin typeface="Roboto"/>
                <a:ea typeface="Roboto"/>
                <a:cs typeface="Roboto"/>
              </a:rPr>
              <a:t>Beginner Cheating Proof</a:t>
            </a:r>
          </a:p>
          <a:p xmlns:a="http://schemas.openxmlformats.org/drawingml/2006/main">
            <a:pPr marL="0" indent="0" algn="l">
              <a:spcBef>
                <a:spcPts val="600"/>
              </a:spcBef>
              <a:spcAft>
                <a:spcPts val="0"/>
              </a:spcAft>
              <a:buNone/>
            </a:pPr>
            <a:r>
              <a:rPr sz="1300">
                <a:solidFill>
                  <a:srgbClr val="1E293B"/>
                </a:solidFill>
                <a:latin typeface="Roboto"/>
                <a:ea typeface="Roboto"/>
                <a:cs typeface="Roboto"/>
              </a:rPr>
              <a:t>Ask patient to lift knees as high as possible to measure hip flexion and torso engagement.</a:t>
            </a:r>
          </a:p>
        </p:txBody>
      </p:sp>
      <p:sp>
        <p:nvSpPr>
          <p:cNvPr id="277" name="Google Shape;277;p34">
            <a:extLst xmlns:a="http://schemas.openxmlformats.org/drawingml/2006/main">
              <a:ext uri="{FF2B5EF4-FFF2-40B4-BE49-F238E27FC236}">
                <a16:creationId xmlns:a16="http://schemas.microsoft.com/office/drawing/2014/main" id="{EB902093-1812-4988-B3A8-EDBB130298F7}"/>
              </a:ext>
            </a:extLst>
          </p:cNvPr>
          <p:cNvSpPr>
            <a:spLocks xmlns:a="http://schemas.openxmlformats.org/drawingml/2006/main" noGrp="1"/>
          </p:cNvSpPr>
          <p:nvPr/>
        </p:nvSpPr>
        <p:spPr>
          <a:xfrm xmlns:a="http://schemas.openxmlformats.org/drawingml/2006/main" rot="0" flipH="0" flipV="0">
            <a:off x="4667250" y="1666875"/>
            <a:ext cx="4095900" cy="2238300"/>
          </a:xfrm>
          <a:prstGeom xmlns:a="http://schemas.openxmlformats.org/drawingml/2006/main" prst="roundRect">
            <a:avLst>
              <a:gd name="adj" fmla="val 3404"/>
            </a:avLst>
          </a:prstGeom>
          <a:solidFill xmlns:a="http://schemas.openxmlformats.org/drawingml/2006/main">
            <a:srgbClr val="FFFFFF"/>
          </a:solidFill>
          <a:ln xmlns:a="http://schemas.openxmlformats.org/drawingml/2006/main" w="9525" cmpd="sng">
            <a:solidFill>
              <a:srgbClr val="E2E8F0"/>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78" name="Google Shape;278;p34">
            <a:extLst xmlns:a="http://schemas.openxmlformats.org/drawingml/2006/main">
              <a:ext uri="{FF2B5EF4-FFF2-40B4-BE49-F238E27FC236}">
                <a16:creationId xmlns:a16="http://schemas.microsoft.com/office/drawing/2014/main" id="{50A51FDC-9894-4D61-88F7-897ABF052129}"/>
              </a:ext>
            </a:extLst>
          </p:cNvPr>
          <p:cNvSpPr>
            <a:spLocks xmlns:a="http://schemas.openxmlformats.org/drawingml/2006/main" noGrp="1"/>
          </p:cNvSpPr>
          <p:nvPr/>
        </p:nvSpPr>
        <p:spPr>
          <a:xfrm xmlns:a="http://schemas.openxmlformats.org/drawingml/2006/main" rot="0" flipH="0" flipV="0">
            <a:off x="4810125" y="1762125"/>
            <a:ext cx="3810000" cy="20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lgn="l">
              <a:spcBef>
                <a:spcPts val="0"/>
              </a:spcBef>
              <a:spcAft>
                <a:spcPts val="0"/>
              </a:spcAft>
              <a:buNone/>
            </a:pPr>
            <a:r>
              <a:rPr sz="1200" b="1">
                <a:solidFill>
                  <a:srgbClr val="31394D"/>
                </a:solidFill>
                <a:latin typeface="Roboto"/>
                <a:ea typeface="Roboto"/>
                <a:cs typeface="Roboto"/>
              </a:rPr>
              <a:t>Difficulty Levels (Example: 45° Max Engagement)</a:t>
            </a:r>
          </a:p>
          <a:p xmlns:a="http://schemas.openxmlformats.org/drawingml/2006/main">
            <a:pPr marL="457200" indent="-298450" algn="l">
              <a:spcBef>
                <a:spcPts val="900"/>
              </a:spcBef>
              <a:spcAft>
                <a:spcPts val="0"/>
              </a:spcAft>
              <a:buClr>
                <a:srgbClr val="475569"/>
              </a:buClr>
              <a:buSzPts val="1100"/>
              <a:buFont typeface="Roboto"/>
              <a:buChar char="●"/>
            </a:pPr>
            <a:r>
              <a:rPr sz="1100" b="1">
                <a:solidFill>
                  <a:srgbClr val="059669"/>
                </a:solidFill>
                <a:latin typeface="Roboto"/>
                <a:ea typeface="Roboto"/>
                <a:cs typeface="Roboto"/>
              </a:rPr>
              <a:t>Easy (30 - 43°):</a:t>
            </a:r>
            <a:r>
              <a:rPr sz="1100">
                <a:solidFill>
                  <a:srgbClr val="475569"/>
                </a:solidFill>
                <a:latin typeface="Roboto"/>
                <a:ea typeface="Roboto"/>
                <a:cs typeface="Roboto"/>
              </a:rPr>
              <a:t> Practice the movement rather than achieving max engagement.</a:t>
            </a:r>
          </a:p>
          <a:p xmlns:a="http://schemas.openxmlformats.org/drawingml/2006/main">
            <a:pPr marL="457200" indent="-298450" algn="l">
              <a:spcBef>
                <a:spcPts val="750"/>
              </a:spcBef>
              <a:spcAft>
                <a:spcPts val="0"/>
              </a:spcAft>
              <a:buClr>
                <a:srgbClr val="475569"/>
              </a:buClr>
              <a:buSzPts val="1100"/>
              <a:buFont typeface="Roboto"/>
              <a:buChar char="●"/>
            </a:pPr>
            <a:r>
              <a:rPr sz="1100" b="1">
                <a:solidFill>
                  <a:srgbClr val="D97706"/>
                </a:solidFill>
                <a:latin typeface="Roboto"/>
                <a:ea typeface="Roboto"/>
                <a:cs typeface="Roboto"/>
              </a:rPr>
              <a:t>Medium (44 - 59°):</a:t>
            </a:r>
            <a:r>
              <a:rPr sz="1100">
                <a:solidFill>
                  <a:srgbClr val="475569"/>
                </a:solidFill>
                <a:latin typeface="Roboto"/>
                <a:ea typeface="Roboto"/>
                <a:cs typeface="Roboto"/>
              </a:rPr>
              <a:t> Working on gaining more hip mobility and engagement.</a:t>
            </a:r>
          </a:p>
          <a:p xmlns:a="http://schemas.openxmlformats.org/drawingml/2006/main">
            <a:pPr marL="457200" indent="-298450" algn="l">
              <a:spcBef>
                <a:spcPts val="750"/>
              </a:spcBef>
              <a:spcAft>
                <a:spcPts val="0"/>
              </a:spcAft>
              <a:buClr>
                <a:srgbClr val="475569"/>
              </a:buClr>
              <a:buSzPts val="1100"/>
              <a:buFont typeface="Roboto"/>
              <a:buChar char="●"/>
            </a:pPr>
            <a:r>
              <a:rPr sz="1100" b="1">
                <a:solidFill>
                  <a:srgbClr val="DC2626"/>
                </a:solidFill>
                <a:latin typeface="Roboto"/>
                <a:ea typeface="Roboto"/>
                <a:cs typeface="Roboto"/>
              </a:rPr>
              <a:t>Hard (60 - 65°):</a:t>
            </a:r>
            <a:r>
              <a:rPr sz="1100">
                <a:solidFill>
                  <a:srgbClr val="475569"/>
                </a:solidFill>
                <a:latin typeface="Roboto"/>
                <a:ea typeface="Roboto"/>
                <a:cs typeface="Roboto"/>
              </a:rPr>
              <a:t> Solely focused on engaging torso and hips after proper practice.</a:t>
            </a:r>
          </a:p>
        </p:txBody>
      </p:sp>
      <p:sp>
        <p:nvSpPr>
          <p:cNvPr id="280" name="Google Shape;280;p34">
            <a:extLst xmlns:a="http://schemas.openxmlformats.org/drawingml/2006/main">
              <a:ext uri="{FF2B5EF4-FFF2-40B4-BE49-F238E27FC236}">
                <a16:creationId xmlns:a16="http://schemas.microsoft.com/office/drawing/2014/main" id="{AA5E976A-52E0-4D73-8E5E-BC1F8DB3D47A}"/>
              </a:ext>
            </a:extLst>
          </p:cNvPr>
          <p:cNvSpPr>
            <a:spLocks xmlns:a="http://schemas.openxmlformats.org/drawingml/2006/main" noGrp="1"/>
          </p:cNvSpPr>
          <p:nvPr/>
        </p:nvSpPr>
        <p:spPr>
          <a:xfrm xmlns:a="http://schemas.openxmlformats.org/drawingml/2006/main" rot="0" flipH="0" flipV="0">
            <a:off x="4667250" y="4048125"/>
            <a:ext cx="4095900" cy="857400"/>
          </a:xfrm>
          <a:prstGeom xmlns:a="http://schemas.openxmlformats.org/drawingml/2006/main" prst="roundRect">
            <a:avLst>
              <a:gd name="adj" fmla="val 8888"/>
            </a:avLst>
          </a:prstGeom>
          <a:solidFill xmlns:a="http://schemas.openxmlformats.org/drawingml/2006/main">
            <a:srgbClr val="EFF6FF"/>
          </a:solidFill>
          <a:ln xmlns:a="http://schemas.openxmlformats.org/drawingml/2006/main" w="9525" cmpd="sng">
            <a:solidFill>
              <a:srgbClr val="BFDBFE"/>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t/>
            </a:r>
          </a:p>
        </p:txBody>
      </p:sp>
      <p:sp>
        <p:nvSpPr>
          <p:cNvPr id="281" name="Google Shape;281;p34">
            <a:extLst xmlns:a="http://schemas.openxmlformats.org/drawingml/2006/main">
              <a:ext uri="{FF2B5EF4-FFF2-40B4-BE49-F238E27FC236}">
                <a16:creationId xmlns:a16="http://schemas.microsoft.com/office/drawing/2014/main" id="{A89082CC-44A8-40CB-B88E-69763D0103B0}"/>
              </a:ext>
            </a:extLst>
          </p:cNvPr>
          <p:cNvSpPr>
            <a:spLocks xmlns:a="http://schemas.openxmlformats.org/drawingml/2006/main" noGrp="1"/>
          </p:cNvSpPr>
          <p:nvPr/>
        </p:nvSpPr>
        <p:spPr>
          <a:xfrm xmlns:a="http://schemas.openxmlformats.org/drawingml/2006/main" rot="0" flipH="0" flipV="0">
            <a:off x="4810125" y="4143375"/>
            <a:ext cx="3810000" cy="66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indent="0" algn="l">
              <a:spcBef>
                <a:spcPts val="0"/>
              </a:spcBef>
              <a:spcAft>
                <a:spcPts val="0"/>
              </a:spcAft>
              <a:buNone/>
            </a:pPr>
            <a:r>
              <a:rPr sz="1100" b="1">
                <a:solidFill>
                  <a:srgbClr val="1E40AF"/>
                </a:solidFill>
                <a:latin typeface="Roboto"/>
                <a:ea typeface="Roboto"/>
                <a:cs typeface="Roboto"/>
              </a:rPr>
              <a:t>Compensation &amp; Feedback</a:t>
            </a:r>
          </a:p>
          <a:p xmlns:a="http://schemas.openxmlformats.org/drawingml/2006/main">
            <a:pPr marL="0" indent="0" algn="l">
              <a:spcBef>
                <a:spcPts val="300"/>
              </a:spcBef>
              <a:spcAft>
                <a:spcPts val="0"/>
              </a:spcAft>
              <a:buNone/>
            </a:pPr>
            <a:r>
              <a:rPr sz="1100">
                <a:solidFill>
                  <a:srgbClr val="1E40AF"/>
                </a:solidFill>
                <a:latin typeface="Roboto"/>
                <a:ea typeface="Roboto"/>
                <a:cs typeface="Roboto"/>
              </a:rPr>
              <a:t>Measure thorax/pelvic concavity. Reduce via negative feedback if limits are exceeded.</a:t>
            </a:r>
          </a:p>
        </p:txBody>
      </p:sp>
    </p:spTree>
    <p:extLst>
      <p:ext uri="{BB962C8B-B14F-4D97-AF65-F5344CB8AC3E}">
        <p14:creationId xmlns:p14="http://schemas.microsoft.com/office/powerpoint/2010/main" val="161917319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11" name="Google Shape;311;p39">
            <a:extLst xmlns:a="http://schemas.openxmlformats.org/drawingml/2006/main">
              <a:ext uri="{FF2B5EF4-FFF2-40B4-BE49-F238E27FC236}">
                <a16:creationId xmlns:a16="http://schemas.microsoft.com/office/drawing/2014/main" id="{DA5E71F0-0268-465F-AD17-8EECA34447C2}"/>
              </a:ext>
            </a:extLst>
          </p:cNvPr>
          <p:cNvSpPr>
            <a:spLocks xmlns:a="http://schemas.openxmlformats.org/drawingml/2006/main" noGrp="1"/>
          </p:cNvSpPr>
          <p:nvPr>
            <p:ph type="body" idx="1"/>
          </p:nvPr>
        </p:nvSpPr>
        <p:spPr>
          <a:xfrm xmlns:a="http://schemas.openxmlformats.org/drawingml/2006/main">
            <a:off x="311700" y="4521400"/>
            <a:ext cx="7979400" cy="4605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indent="0" algn="l">
              <a:spcBef>
                <a:spcPts val="0"/>
              </a:spcBef>
              <a:spcAft>
                <a:spcPts val="0"/>
              </a:spcAft>
              <a:buNone/>
            </a:pPr>
            <a:r>
              <a:t>References</a:t>
            </a:r>
          </a:p>
        </p:txBody>
      </p:sp>
      <p:sp>
        <p:nvSpPr>
          <p:cNvPr id="312" name="Google Shape;312;p39">
            <a:extLst xmlns:a="http://schemas.openxmlformats.org/drawingml/2006/main">
              <a:ext uri="{FF2B5EF4-FFF2-40B4-BE49-F238E27FC236}">
                <a16:creationId xmlns:a16="http://schemas.microsoft.com/office/drawing/2014/main" id="{1A75D1AC-47A2-4E95-B130-374A700C6303}"/>
              </a:ext>
            </a:extLst>
          </p:cNvPr>
          <p:cNvSpPr>
            <a:spLocks xmlns:a="http://schemas.openxmlformats.org/drawingml/2006/main" noGrp="1"/>
          </p:cNvSpPr>
          <p:nvPr/>
        </p:nvSpPr>
        <p:spPr>
          <a:xfrm xmlns:a="http://schemas.openxmlformats.org/drawingml/2006/main">
            <a:off x="0" y="0"/>
            <a:ext cx="9144000" cy="452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76200" indent="0" algn="r">
              <a:lnSpc>
                <a:spcPct val="135000"/>
              </a:lnSpc>
              <a:spcBef>
                <a:spcPts val="0"/>
              </a:spcBef>
              <a:spcAft>
                <a:spcPts val="0"/>
              </a:spcAft>
              <a:buNone/>
            </a:pPr>
            <a:r>
              <a:rPr sz="1000"/>
              <a:t>[1]</a:t>
            </a:r>
          </a:p>
          <a:p xmlns:a="http://schemas.openxmlformats.org/drawingml/2006/main">
            <a:pPr marL="215900" marR="50800" indent="0" algn="l">
              <a:lnSpc>
                <a:spcPct val="135000"/>
              </a:lnSpc>
              <a:spcBef>
                <a:spcPts val="0"/>
              </a:spcBef>
              <a:spcAft>
                <a:spcPts val="0"/>
              </a:spcAft>
              <a:buNone/>
            </a:pPr>
            <a:r>
              <a:rPr sz="1000"/>
              <a:t>Y. Castillo-Escario, H. Kumru, J. Valls-Solé, L. García-Alen, J. Vidal, and R. Jané, ‘Assessment of trunk flexion in arm reaching tasks with electromyography and smartphone accelerometry in healthy human subjects’, </a:t>
            </a:r>
            <a:r>
              <a:rPr sz="1000" i="1"/>
              <a:t>Sci Rep</a:t>
            </a:r>
            <a:r>
              <a:rPr sz="1000"/>
              <a:t>, vol. 11, no. 1, p. 5363, Mar. 2021, doi:</a:t>
            </a:r>
            <a:r>
              <a:rPr sz="1000">
                <a:hlinkClick xmlns:r="http://schemas.openxmlformats.org/officeDocument/2006/relationships" r:id="R9c95350ae90849fa"/>
              </a:rPr>
              <a:t> </a:t>
            </a:r>
            <a:r>
              <a:rPr sz="1000" u="sng">
                <a:solidFill>
                  <a:schemeClr val="hlink"/>
                </a:solidFill>
                <a:hlinkClick xmlns:r="http://schemas.openxmlformats.org/officeDocument/2006/relationships" r:id="R759d4ff73b5c44d5"/>
              </a:rPr>
              <a:t>10.1038/s41598-021-84789-3</a:t>
            </a:r>
            <a:r>
              <a:rPr sz="1000"/>
              <a:t>.</a:t>
            </a:r>
          </a:p>
          <a:p xmlns:a="http://schemas.openxmlformats.org/drawingml/2006/main">
            <a:pPr marL="0" marR="76200" indent="0" algn="r">
              <a:lnSpc>
                <a:spcPct val="135000"/>
              </a:lnSpc>
              <a:spcBef>
                <a:spcPts val="0"/>
              </a:spcBef>
              <a:spcAft>
                <a:spcPts val="0"/>
              </a:spcAft>
              <a:buNone/>
            </a:pPr>
            <a:r>
              <a:rPr sz="1000"/>
              <a:t>[2]</a:t>
            </a:r>
          </a:p>
          <a:p xmlns:a="http://schemas.openxmlformats.org/drawingml/2006/main">
            <a:pPr marL="215900" marR="50800" indent="0" algn="l">
              <a:lnSpc>
                <a:spcPct val="135000"/>
              </a:lnSpc>
              <a:spcBef>
                <a:spcPts val="0"/>
              </a:spcBef>
              <a:spcAft>
                <a:spcPts val="0"/>
              </a:spcAft>
              <a:buNone/>
            </a:pPr>
            <a:r>
              <a:rPr sz="1000"/>
              <a:t>S. Liu </a:t>
            </a:r>
            <a:r>
              <a:rPr sz="1000" i="1"/>
              <a:t>et al.</a:t>
            </a:r>
            <a:r>
              <a:rPr sz="1000"/>
              <a:t>, ‘Effectiveness, Feasibility, Acceptability, and Safety of Digital Interventions in Post-Stroke Rehabilitation: A Systematic Review and Meta-analysis of Randomized Controlled Trials’, </a:t>
            </a:r>
            <a:r>
              <a:rPr sz="1000" i="1"/>
              <a:t>Archives of Physical Medicine and Rehabilitation</a:t>
            </a:r>
            <a:r>
              <a:rPr sz="1000"/>
              <a:t>, vol. 106, no. 12, pp. 1912–1932, Dec. 2025, doi:</a:t>
            </a:r>
            <a:r>
              <a:rPr sz="1000">
                <a:hlinkClick xmlns:r="http://schemas.openxmlformats.org/officeDocument/2006/relationships" r:id="R4af68ca42ee34855"/>
              </a:rPr>
              <a:t> </a:t>
            </a:r>
            <a:r>
              <a:rPr sz="1000" u="sng">
                <a:solidFill>
                  <a:schemeClr val="hlink"/>
                </a:solidFill>
                <a:hlinkClick xmlns:r="http://schemas.openxmlformats.org/officeDocument/2006/relationships" r:id="R4d71c8e2667642ef"/>
              </a:rPr>
              <a:t>10.1016/j.apmr.2025.07.004</a:t>
            </a:r>
            <a:r>
              <a:rPr sz="1000"/>
              <a:t>.</a:t>
            </a:r>
          </a:p>
          <a:p xmlns:a="http://schemas.openxmlformats.org/drawingml/2006/main">
            <a:pPr marL="0" marR="76200" indent="0" algn="r">
              <a:lnSpc>
                <a:spcPct val="135000"/>
              </a:lnSpc>
              <a:spcBef>
                <a:spcPts val="0"/>
              </a:spcBef>
              <a:spcAft>
                <a:spcPts val="0"/>
              </a:spcAft>
              <a:buNone/>
            </a:pPr>
            <a:r>
              <a:rPr sz="1000"/>
              <a:t>[3]</a:t>
            </a:r>
          </a:p>
          <a:p xmlns:a="http://schemas.openxmlformats.org/drawingml/2006/main">
            <a:pPr marL="215900" marR="50800" indent="0" algn="l">
              <a:lnSpc>
                <a:spcPct val="135000"/>
              </a:lnSpc>
              <a:spcBef>
                <a:spcPts val="0"/>
              </a:spcBef>
              <a:spcAft>
                <a:spcPts val="0"/>
              </a:spcAft>
              <a:buNone/>
            </a:pPr>
            <a:r>
              <a:rPr sz="1000"/>
              <a:t>GBD 2016 Neurology Collaborators, ‘Global, regional, and national burden of neurological disorders, 1990-2016: a systematic analysis for the Global Burden of Disease Study 2016’, </a:t>
            </a:r>
            <a:r>
              <a:rPr sz="1000" i="1"/>
              <a:t>Lancet Neurol</a:t>
            </a:r>
            <a:r>
              <a:rPr sz="1000"/>
              <a:t>, vol. 18, no. 5, pp. 459–480, May 2019, doi:</a:t>
            </a:r>
            <a:r>
              <a:rPr sz="1000">
                <a:hlinkClick xmlns:r="http://schemas.openxmlformats.org/officeDocument/2006/relationships" r:id="R8533a898713441b2"/>
              </a:rPr>
              <a:t> </a:t>
            </a:r>
            <a:r>
              <a:rPr sz="1000" u="sng">
                <a:solidFill>
                  <a:schemeClr val="hlink"/>
                </a:solidFill>
                <a:hlinkClick xmlns:r="http://schemas.openxmlformats.org/officeDocument/2006/relationships" r:id="R1c6beeeb33b546fc"/>
              </a:rPr>
              <a:t>10.1016/S1474-4422(18)30499-X</a:t>
            </a:r>
            <a:r>
              <a:rPr sz="1000"/>
              <a:t>.</a:t>
            </a:r>
          </a:p>
          <a:p xmlns:a="http://schemas.openxmlformats.org/drawingml/2006/main">
            <a:pPr marL="0" marR="76200" indent="0" algn="r">
              <a:lnSpc>
                <a:spcPct val="135000"/>
              </a:lnSpc>
              <a:spcBef>
                <a:spcPts val="0"/>
              </a:spcBef>
              <a:spcAft>
                <a:spcPts val="0"/>
              </a:spcAft>
              <a:buNone/>
            </a:pPr>
            <a:r>
              <a:rPr sz="1000"/>
              <a:t>[4]</a:t>
            </a:r>
          </a:p>
          <a:p xmlns:a="http://schemas.openxmlformats.org/drawingml/2006/main">
            <a:pPr marL="215900" marR="50800" indent="0" algn="l">
              <a:lnSpc>
                <a:spcPct val="135000"/>
              </a:lnSpc>
              <a:spcBef>
                <a:spcPts val="0"/>
              </a:spcBef>
              <a:spcAft>
                <a:spcPts val="0"/>
              </a:spcAft>
              <a:buNone/>
            </a:pPr>
            <a:r>
              <a:rPr sz="1000"/>
              <a:t>J. F. Shaw, S. Pilon, M. Vierula, and D. I. McIsaac, ‘Predictors of adherence to prescribed exercise programs for older adults with medical or surgical indications for exercise: a systematic review’, </a:t>
            </a:r>
            <a:r>
              <a:rPr sz="1000" i="1"/>
              <a:t>Syst Rev</a:t>
            </a:r>
            <a:r>
              <a:rPr sz="1000"/>
              <a:t>, vol. 11, no. 1, p. 80, Apr. 2022, doi:</a:t>
            </a:r>
            <a:r>
              <a:rPr sz="1000">
                <a:hlinkClick xmlns:r="http://schemas.openxmlformats.org/officeDocument/2006/relationships" r:id="R791c2b3781de4014"/>
              </a:rPr>
              <a:t> </a:t>
            </a:r>
            <a:r>
              <a:rPr sz="1000" u="sng">
                <a:solidFill>
                  <a:schemeClr val="hlink"/>
                </a:solidFill>
                <a:hlinkClick xmlns:r="http://schemas.openxmlformats.org/officeDocument/2006/relationships" r:id="R10d645a02e974283"/>
              </a:rPr>
              <a:t>10.1186/s13643-022-01966-9</a:t>
            </a:r>
            <a:r>
              <a:rPr sz="1000"/>
              <a:t>.</a:t>
            </a:r>
          </a:p>
          <a:p xmlns:a="http://schemas.openxmlformats.org/drawingml/2006/main">
            <a:pPr marL="0" marR="76200" indent="0" algn="r">
              <a:lnSpc>
                <a:spcPct val="135000"/>
              </a:lnSpc>
              <a:spcBef>
                <a:spcPts val="0"/>
              </a:spcBef>
              <a:spcAft>
                <a:spcPts val="0"/>
              </a:spcAft>
              <a:buNone/>
            </a:pPr>
            <a:r>
              <a:rPr sz="1000"/>
              <a:t>[5]</a:t>
            </a:r>
          </a:p>
          <a:p xmlns:a="http://schemas.openxmlformats.org/drawingml/2006/main">
            <a:pPr marL="215900" marR="50800" indent="0" algn="l">
              <a:lnSpc>
                <a:spcPct val="135000"/>
              </a:lnSpc>
              <a:spcBef>
                <a:spcPts val="0"/>
              </a:spcBef>
              <a:spcAft>
                <a:spcPts val="0"/>
              </a:spcAft>
              <a:buNone/>
            </a:pPr>
            <a:r>
              <a:rPr sz="1000"/>
              <a:t>J. A. Kleim and T. A. Jones, ‘Principles of experience-dependent neural plasticity: implications for rehabilitation after brain damage’, </a:t>
            </a:r>
            <a:r>
              <a:rPr sz="1000" i="1"/>
              <a:t>J Speech Lang Hear Res</a:t>
            </a:r>
            <a:r>
              <a:rPr sz="1000"/>
              <a:t>, vol. 51, no. 1, pp. S225-239, Feb. 2008, doi:</a:t>
            </a:r>
            <a:r>
              <a:rPr sz="1000">
                <a:hlinkClick xmlns:r="http://schemas.openxmlformats.org/officeDocument/2006/relationships" r:id="Rc1bfd55b45b140ee"/>
              </a:rPr>
              <a:t> </a:t>
            </a:r>
            <a:r>
              <a:rPr sz="1000" u="sng">
                <a:solidFill>
                  <a:schemeClr val="hlink"/>
                </a:solidFill>
                <a:hlinkClick xmlns:r="http://schemas.openxmlformats.org/officeDocument/2006/relationships" r:id="Rd14d3e984ff14b5d"/>
              </a:rPr>
              <a:t>10.1044/1092-4388(2008/018)</a:t>
            </a:r>
            <a:r>
              <a:rPr sz="1000"/>
              <a:t>.</a:t>
            </a:r>
          </a:p>
          <a:p xmlns:a="http://schemas.openxmlformats.org/drawingml/2006/main">
            <a:pPr marL="0" marR="76200" indent="0" algn="r">
              <a:lnSpc>
                <a:spcPct val="135000"/>
              </a:lnSpc>
              <a:spcBef>
                <a:spcPts val="0"/>
              </a:spcBef>
              <a:spcAft>
                <a:spcPts val="0"/>
              </a:spcAft>
              <a:buNone/>
            </a:pPr>
            <a:r>
              <a:rPr sz="1000"/>
              <a:t>[6]</a:t>
            </a:r>
          </a:p>
          <a:p xmlns:a="http://schemas.openxmlformats.org/drawingml/2006/main">
            <a:pPr marL="215900" marR="50800" indent="0" algn="l">
              <a:lnSpc>
                <a:spcPct val="135000"/>
              </a:lnSpc>
              <a:spcBef>
                <a:spcPts val="0"/>
              </a:spcBef>
              <a:spcAft>
                <a:spcPts val="0"/>
              </a:spcAft>
              <a:buNone/>
            </a:pPr>
            <a:r>
              <a:rPr sz="1000"/>
              <a:t>J. Iruthayarajah, A. McIntyre, A. Cotoi, S. Macaluso, and R. Teasell, ‘The use of virtual reality for balance among individuals with chronic stroke: a systematic review and meta-analysis’, </a:t>
            </a:r>
            <a:r>
              <a:rPr sz="1000" i="1"/>
              <a:t>Topics in Stroke Rehabilitation</a:t>
            </a:r>
            <a:r>
              <a:rPr sz="1000"/>
              <a:t>, vol. 24, no. 1, pp. 68–79, Jan. 2017, doi:</a:t>
            </a:r>
            <a:r>
              <a:rPr sz="1000">
                <a:hlinkClick xmlns:r="http://schemas.openxmlformats.org/officeDocument/2006/relationships" r:id="Rc606f54b7a0748f5"/>
              </a:rPr>
              <a:t> </a:t>
            </a:r>
            <a:r>
              <a:rPr sz="1000" u="sng">
                <a:solidFill>
                  <a:schemeClr val="hlink"/>
                </a:solidFill>
                <a:hlinkClick xmlns:r="http://schemas.openxmlformats.org/officeDocument/2006/relationships" r:id="R001d2dba83ac4a58"/>
              </a:rPr>
              <a:t>10.1080/10749357.2016.1192361</a:t>
            </a:r>
            <a:r>
              <a:rPr sz="1000"/>
              <a:t>.</a:t>
            </a:r>
          </a:p>
          <a:p xmlns:a="http://schemas.openxmlformats.org/drawingml/2006/main">
            <a:pPr marL="0" indent="0" algn="l">
              <a:spcBef>
                <a:spcPts val="0"/>
              </a:spcBef>
              <a:spcAft>
                <a:spcPts val="0"/>
              </a:spcAft>
              <a:buNone/>
            </a:pPr>
            <a:r>
              <a:t/>
            </a:r>
          </a:p>
        </p:txBody>
      </p:sp>
    </p:spTree>
    <p:extLst>
      <p:ext uri="{BB962C8B-B14F-4D97-AF65-F5344CB8AC3E}">
        <p14:creationId xmlns:p14="http://schemas.microsoft.com/office/powerpoint/2010/main" val="1438145423"/>
      </p:ext>
    </p:extLst>
  </p:cSld>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dig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2026-07-16T14:07:08.8470000Z</dcterms:created>
  <dcterms:modified xsi:type="dcterms:W3CDTF">2026-07-16T14:07:08.8470000Z</dcterms:modified>
</coreProperties>
</file>